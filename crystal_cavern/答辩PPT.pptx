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FFFFFF"/>
                </a:solidFill>
              </a:defRPr>
            </a:pPr>
            <a:r>
              <a:t>Crystal Cavern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256032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CCCDD"/>
                </a:solidFill>
              </a:defRPr>
            </a:pPr>
            <a:r>
              <a:t>Python 驱动 Maya 程序化水晶洞穴生成系统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999BB"/>
                </a:solidFill>
              </a:defRPr>
            </a:pPr>
            <a:r>
              <a:t>未来创新设计  ·  浙江大学 2026  ·  Prof. Xiaosong Yang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88"/>
                </a:solidFill>
              </a:defRPr>
            </a:pPr>
            <a:r>
              <a:t>一键生成 · 全自动管线 · 零手工建模 · 算法驱动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999BB"/>
                </a:solidFill>
              </a:defRPr>
            </a:pPr>
            <a:r>
              <a:t>一键运行 Python 脚本，Maya 自动生成完整的 3D 水晶洞穴场景与飞越动画。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BB"/>
                </a:solidFill>
              </a:defRPr>
            </a:pPr>
            <a:r>
              <a:t>✦ 地形 · 晶体 · 灯光 · 雾效 · 相机 — 全流程自动化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BB"/>
                </a:solidFill>
              </a:defRPr>
            </a:pPr>
            <a:r>
              <a:t>✦ 每次生成 = 独一无二的洞穴 · 参数可控 · 种子可复现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BB"/>
                </a:solidFill>
              </a:defRPr>
            </a:pPr>
            <a:r>
              <a:t>✦ 56 颗六棱柱晶体 · 10 种宝石材质 · 三层布光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BB"/>
                </a:solidFill>
              </a:defRPr>
            </a:pPr>
            <a:r>
              <a:t>✦ 封闭洞穴空间 · 钟乳石 · 体积雾 · DOF 相机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999BB"/>
                </a:solidFill>
              </a:defRPr>
            </a:pPr>
            <a:r>
              <a:t>✦ 960 帧飞越动画 + 56 晶体生长动画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30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017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999BB"/>
                </a:solidFill>
              </a:defRPr>
            </a:pPr>
            <a:r>
              <a:t>从零到完整场景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114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7B2FF7"/>
                </a:solidFill>
              </a:defRPr>
            </a:pPr>
            <a:r>
              <a:t>7 个模块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846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999BB"/>
                </a:solidFill>
              </a:defRPr>
            </a:pPr>
            <a:r>
              <a:t>独立 · 可测 · 算法驱动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实景参考与视觉目标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999BB"/>
                </a:solidFill>
              </a:defRPr>
            </a:pPr>
            <a:r>
              <a:t>以墨西哥奈卡水晶洞为参考 — 程序化生成实现同等视觉效果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151835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实景参考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✦ 墨西哥奈卡水晶洞 (Naica Mine)</a:t>
            </a:r>
            <a:br/>
            <a:r>
              <a:t>✦ 巨大石膏晶柱 · 长达 12 米</a:t>
            </a:r>
            <a:br/>
            <a:r>
              <a:t>✦ 天然六方晶系 · 六棱断面</a:t>
            </a:r>
            <a:br/>
            <a:r>
              <a:t>✦ 簇状生长 · 次表面透光</a:t>
            </a:r>
            <a:br/>
            <a:r>
              <a:t>✦ 幽暗溶洞 · 丁达尔光束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181530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B2FF7"/>
                </a:solidFill>
              </a:defRPr>
            </a:pPr>
            <a:r>
              <a:t>我们的生成目标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✦ Python 程序化生成 56 颗六棱柱晶体</a:t>
            </a:r>
            <a:br/>
            <a:r>
              <a:t>✦ L-system 球面坐标三维分支</a:t>
            </a:r>
            <a:br/>
            <a:r>
              <a:t>✦ Poisson-disc 自然分布</a:t>
            </a:r>
            <a:br/>
            <a:r>
              <a:t>✦ Arnold SSS+transmission+coat</a:t>
            </a:r>
            <a:br/>
            <a:r>
              <a:t>✦ 体积雾 + 晶体自发光 + DOF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算法创新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999BB"/>
                </a:solidFill>
              </a:defRPr>
            </a:pPr>
            <a:r>
              <a:t>四个已发表算法在三维 Maya 环境中的独创性应用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651760" cy="420624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01 Diamond-Square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引用: Fournier, Fussell &amp;</a:t>
            </a:r>
            <a:br/>
            <a:r>
              <a:t>Carpenter, 1982</a:t>
            </a:r>
            <a:br/>
            <a:r>
              <a:t>─────────────────</a:t>
            </a:r>
            <a:br/>
            <a:r>
              <a:t>66,049 顶点高分辨率地形</a:t>
            </a:r>
            <a:br/>
            <a:r>
              <a:t>洞穴塑造函数</a:t>
            </a:r>
            <a:br/>
            <a:r>
              <a:t>径向幂 + 正弦扰动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651760" cy="420624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B2FF7"/>
                </a:solidFill>
              </a:defRPr>
            </a:pPr>
            <a:r>
              <a:t>02 Poisson-disc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788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引用: Bridson, 2007</a:t>
            </a:r>
            <a:br/>
            <a:r>
              <a:t>─────────────────</a:t>
            </a:r>
            <a:br/>
            <a:r>
              <a:t>贪婪洗牌近似</a:t>
            </a:r>
            <a:br/>
            <a:r>
              <a:t>O(n·k) 高效复杂度</a:t>
            </a:r>
            <a:br/>
            <a:r>
              <a:t>避免扎堆的自然分布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651760" cy="420624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88"/>
                </a:solidFill>
              </a:defRPr>
            </a:pPr>
            <a:r>
              <a:t>03 L-System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引用: Prusinkiewicz &amp;</a:t>
            </a:r>
            <a:br/>
            <a:r>
              <a:t>Lindenmayer, 1990</a:t>
            </a:r>
            <a:br/>
            <a:r>
              <a:t>─────────────────</a:t>
            </a:r>
            <a:br/>
            <a:r>
              <a:t>球面坐标三维分支</a:t>
            </a:r>
            <a:br/>
            <a:r>
              <a:t>混合几何生成方案</a:t>
            </a:r>
            <a:br/>
            <a:r>
              <a:t>polyCone + aimConstraint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651760" cy="4206240"/>
          </a:xfrm>
          <a:prstGeom prst="roundRect">
            <a:avLst/>
          </a:prstGeom>
          <a:solidFill>
            <a:srgbClr val="12142A"/>
          </a:solidFill>
          <a:ln w="1270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2860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400"/>
                </a:solidFill>
              </a:defRPr>
            </a:pPr>
            <a:r>
              <a:t>04 Subsurface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7889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引用: Jensen et al., 2001</a:t>
            </a:r>
            <a:br/>
            <a:r>
              <a:t>─────────────────</a:t>
            </a:r>
            <a:br/>
            <a:r>
              <a:t>程序化点光源网络</a:t>
            </a:r>
            <a:br/>
            <a:r>
              <a:t>模拟次表面散射</a:t>
            </a:r>
            <a:br/>
            <a:r>
              <a:t>颜色匹配晶体辉光色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五阶段生成管线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999BB"/>
                </a:solidFill>
              </a:defRPr>
            </a:pPr>
            <a:r>
              <a:t>全流程 Python 自动化 — 一个脚本完成全部生成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103120" cy="2377440"/>
          </a:xfrm>
          <a:prstGeom prst="roundRect">
            <a:avLst/>
          </a:prstGeom>
          <a:solidFill>
            <a:srgbClr val="1012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Stage 1 — 地形生成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Diamond-Square</a:t>
            </a:r>
            <a:br/>
            <a:r>
              <a:t>洞穴碗形塑造</a:t>
            </a:r>
            <a:br/>
            <a:r>
              <a:t>66K顶点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446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103120"/>
            <a:ext cx="2103120" cy="2377440"/>
          </a:xfrm>
          <a:prstGeom prst="roundRect">
            <a:avLst/>
          </a:prstGeom>
          <a:solidFill>
            <a:srgbClr val="101228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B2FF7"/>
                </a:solidFill>
              </a:defRPr>
            </a:pPr>
            <a:r>
              <a:t>Stage 2 — 种子分布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889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Poisson-disc</a:t>
            </a:r>
            <a:br/>
            <a:r>
              <a:t>面法线提取</a:t>
            </a:r>
            <a:br/>
            <a:r>
              <a:t>间距保证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4466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03120"/>
            <a:ext cx="2103120" cy="2377440"/>
          </a:xfrm>
          <a:prstGeom prst="roundRect">
            <a:avLst/>
          </a:prstGeom>
          <a:solidFill>
            <a:srgbClr val="10122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88"/>
                </a:solidFill>
              </a:defRPr>
            </a:pPr>
            <a:r>
              <a:t>Stage 3 — 晶体生长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7889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六棱柱+尖端</a:t>
            </a:r>
            <a:br/>
            <a:r>
              <a:t>L-system 分支</a:t>
            </a:r>
            <a:br/>
            <a:r>
              <a:t>aimConstraint 对齐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4466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03120"/>
            <a:ext cx="2103120" cy="2377440"/>
          </a:xfrm>
          <a:prstGeom prst="roundRect">
            <a:avLst/>
          </a:prstGeom>
          <a:solidFill>
            <a:srgbClr val="101228"/>
          </a:solidFill>
          <a:ln w="1270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B400"/>
                </a:solidFill>
              </a:defRPr>
            </a:pPr>
            <a:r>
              <a:t>Stage 4 — 灯光雾效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7889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三层布光</a:t>
            </a:r>
            <a:br/>
            <a:r>
              <a:t>体积雾</a:t>
            </a:r>
            <a:br/>
            <a:r>
              <a:t>晶体自发光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9260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44466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103120"/>
            <a:ext cx="2103120" cy="2377440"/>
          </a:xfrm>
          <a:prstGeom prst="roundRect">
            <a:avLst/>
          </a:prstGeom>
          <a:solidFill>
            <a:srgbClr val="1012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Stage 5 — 相机动画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78892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BBBCC"/>
                </a:solidFill>
              </a:defRPr>
            </a:pPr>
            <a:r>
              <a:t>飞越+生长</a:t>
            </a:r>
            <a:br/>
            <a:r>
              <a:t>960 帧</a:t>
            </a:r>
            <a:br/>
            <a:r>
              <a:t>DOF f/3.2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+ 洞穴围合 + 钟乳石(35根) + 尘埃粒子(120颗) + 生长动画(scale 0→1 错开720帧)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代码架构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999BB"/>
                </a:solidFill>
              </a:defRPr>
            </a:pPr>
            <a:r>
              <a:t>7个独立模块 · 单一职责 · 可独立测试 · 函数完整 docstring · 约 2,200 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57200"/>
          </a:xfrm>
          <a:prstGeom prst="roundRect">
            <a:avLst/>
          </a:prstGeom>
          <a:solidFill>
            <a:srgbClr val="18183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cave_terrain.py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57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BB"/>
                </a:solidFill>
              </a:defRPr>
            </a:pPr>
            <a:r>
              <a:t>Diamond-Square 地形 · 洞穴围合 · 钟乳石/石笋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42032"/>
            <a:ext cx="10698480" cy="457200"/>
          </a:xfrm>
          <a:prstGeom prst="roundRect">
            <a:avLst/>
          </a:prstGeom>
          <a:solidFill>
            <a:srgbClr val="181832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2FF7"/>
                </a:solidFill>
              </a:defRPr>
            </a:pPr>
            <a:r>
              <a:t>crystal_seed.py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5877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BB"/>
                </a:solidFill>
              </a:defRPr>
            </a:pPr>
            <a:r>
              <a:t>Poisson-disc 采样 · 贪婪近似 · 面法线提取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72384"/>
            <a:ext cx="10698480" cy="457200"/>
          </a:xfrm>
          <a:prstGeom prst="roundRect">
            <a:avLst/>
          </a:prstGeom>
          <a:solidFill>
            <a:srgbClr val="18183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181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88"/>
                </a:solidFill>
              </a:defRPr>
            </a:pPr>
            <a:r>
              <a:t>crystal_growth.py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11810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BB"/>
                </a:solidFill>
              </a:defRPr>
            </a:pPr>
            <a:r>
              <a:t>六棱柱+尖端 · L-system分支 · 材质缓存 · 云雾纹理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02736"/>
            <a:ext cx="10698480" cy="457200"/>
          </a:xfrm>
          <a:prstGeom prst="roundRect">
            <a:avLst/>
          </a:prstGeom>
          <a:solidFill>
            <a:srgbClr val="181832"/>
          </a:solidFill>
          <a:ln w="1270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4845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400"/>
                </a:solidFill>
              </a:defRPr>
            </a:pPr>
            <a:r>
              <a:t>cave_lighting.py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648456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BB"/>
                </a:solidFill>
              </a:defRPr>
            </a:pPr>
            <a:r>
              <a:t>三层布光 · 体积雾 · 尘埃 · 动态相机 · 生长动画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33087"/>
            <a:ext cx="10698480" cy="457200"/>
          </a:xfrm>
          <a:prstGeom prst="roundRect">
            <a:avLst/>
          </a:prstGeom>
          <a:solidFill>
            <a:srgbClr val="181832"/>
          </a:solidFill>
          <a:ln w="12700">
            <a:solidFill>
              <a:srgbClr val="FF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078"/>
                </a:solidFill>
              </a:defRPr>
            </a:pPr>
            <a:r>
              <a:t>crystal_ui.py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78807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BB"/>
                </a:solidFill>
              </a:defRPr>
            </a:pPr>
            <a:r>
              <a:t>Maya 内嵌 GUI · 4标签页16参数 · 一键生成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698480" cy="457200"/>
          </a:xfrm>
          <a:prstGeom prst="roundRect">
            <a:avLst/>
          </a:prstGeom>
          <a:solidFill>
            <a:srgbClr val="181832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arnold_render.py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709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BB"/>
                </a:solidFill>
              </a:defRPr>
            </a:pPr>
            <a:r>
              <a:t>AA 采样 · AOV · DOF 相机 · EXR 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93792"/>
            <a:ext cx="10698480" cy="457200"/>
          </a:xfrm>
          <a:prstGeom prst="roundRect">
            <a:avLst/>
          </a:prstGeom>
          <a:solidFill>
            <a:srgbClr val="181832"/>
          </a:solidFill>
          <a:ln w="1270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B2FF7"/>
                </a:solidFill>
              </a:defRPr>
            </a:pPr>
            <a:r>
              <a:t>final_scene.py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23951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BB"/>
                </a:solidFill>
              </a:defRPr>
            </a:pPr>
            <a:r>
              <a:t>全管线集成 · 一键 build() · 所有参数集中控制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晶体几何创新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⬡ 六棱柱 polyCylinder(sx=6) 替代圆锥 · 1.2-2.5m 半径 · 比例 1:4~1:6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↗ aimConstraint 法线对齐 · 替代手写欧拉角 · 避免 gimbal 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⎈ 球面坐标 L-system 分支 · 3D方位角+仰角 · 3-8根侧生晶体/颗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⚓ 12% 根部嵌入 + 1.3x 底座扩大 · 消除悬浮 · '从岩石中长出'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◇ 粗细渐变 (主体宽→尖端细) · polyBevel 棱边倒角 · 10种独立 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材质与灯光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10种宝石 Arnold SSS(0.8) + Transmission(0.6) + Coat(0.35) + Dispersion(Abbe=45)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aiNoise 3D 噪声 → aiColorCorrect → subsurfaceColor — 云雾包裹纹理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aiSkyDomeLight 暗紫环境光(1.2) + Key 暖金定向光(120, -45°) + Rim 冷蓝(25)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20 Crystal Glows (800-1600, 无衰减) — 颜色匹配晶体辉光色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aiAtmosphereVolume (density=0.008) + 120 尘埃粒子 + ai_exposure=3.0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交互 GUI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FF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Maya 内嵌 tabLayout 窗口 — 4 标签页(Terrain/Crystals/Lighting/Render)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16 个可视化滑块参数 — 全部可调整无需改代码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'Generate' 一键生成 — 30 秒完成全部 6 阶段管线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'Render Still' 按钮 — 直接触发 Arnold 1920x1080 渲染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参数可复现 — 相同 seed = 100% 相同洞穴 · 改参数 = 全新洞穴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最终渲染成果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Scene 1: 紫水晶洞穴 — seed=2026 · 56 crystals · roughness=0.45 · Arnold EXR 1920x1080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Scene 2: 红宝石洞穴 — seed=7777 · 56 crystals · roughness=0.55 · Arnold EXR 1920x1080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两套完全不同的地形 · 晶体分布 · 颜色方案 · 光影氛围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每个场景 1.2MB .ma 文件 · 可直接在 Maya 中打开重新渲染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渲染图片在 final_output/scene1_amethyst/ 和 scene2_ruby/ 目录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动画成果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960 帧飞越动画 — 动态相机路径根据晶体位置自适应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6 个关键帧 spline 插值 · 32 秒(30fps) · 入口俯冲→紧贴晶体→全景上升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56 颗晶体生长动画 — Scale 0→1 · 每颗错开启动帧(200帧 spread)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生长周期 520 帧/颗 · 线性入 spline 出 · 模拟天然矿物结晶过程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DOF 景深 f/3.2 · 35mm · 播放范围 1-960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AI 工具使用 · 评估标准 · 致谢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972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Claude Code — 算法设计 · 代码生成 · 迭代优化 · 全模块重构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Claude MCP — Maya 直接操控 · 28个技能 · 场景构建 · 调试诊断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ChatGPT — 算法选型 · 论文引用核实 · API 查询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评估达标: 算法复杂度 ✓ 代码质量 ✓ GUI ✓ 视觉表现 ✓ 创新性 ✓ AI伦理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1064240" cy="685800"/>
          </a:xfrm>
          <a:prstGeom prst="roundRect">
            <a:avLst/>
          </a:prstGeom>
          <a:solidFill>
            <a:srgbClr val="18183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DD"/>
                </a:solidFill>
              </a:defRPr>
            </a:pPr>
            <a:r>
              <a:t>✦ 声明: AI 是工具而非创作主体 — 所有代码经 Maya 验证 — 设计决策由作者做出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