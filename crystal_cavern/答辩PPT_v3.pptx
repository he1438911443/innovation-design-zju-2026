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828800"/>
            <a:ext cx="5852160" cy="5852160"/>
          </a:xfrm>
          <a:prstGeom prst="ellipse">
            <a:avLst/>
          </a:prstGeom>
          <a:solidFill>
            <a:srgbClr val="3A2F6B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914400"/>
            <a:ext cx="3291840" cy="3291840"/>
          </a:xfrm>
          <a:prstGeom prst="ellipse">
            <a:avLst/>
          </a:prstGeom>
          <a:noFill/>
          <a:ln w="1524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◇  PROCEDURAL · MAYA PYTHON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F5F6FA"/>
                </a:solidFill>
                <a:latin typeface="Arial"/>
                <a:cs typeface="Arial"/>
                <a:ea typeface="Arial"/>
              </a:rPr>
              <a:t>CRYSTAL CAVERN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Python 驱动 Maya 程序化水晶洞穴生成系统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3703320"/>
            <a:ext cx="5943600" cy="0"/>
          </a:xfrm>
          <a:prstGeom prst="line">
            <a:avLst/>
          </a:prstGeom>
          <a:ln w="31750">
            <a:solidFill>
              <a:srgbClr val="B06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38404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未来创新设计  ·  浙江大学 2026  ·  Prof. Xiaosong Yang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519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>一键生成  ·  全自动管线  ·  零手工建模  ·  算法驱动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07492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1B173A"/>
          </a:solidFill>
          <a:ln w="1270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1480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5778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Python 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507492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1B173A"/>
          </a:solidFill>
          <a:ln w="1270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51480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5778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经典算法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507492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1B173A"/>
          </a:solidFill>
          <a:ln w="1270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51480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55778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晶体/场景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41664" y="5074920"/>
            <a:ext cx="2468880" cy="868680"/>
          </a:xfrm>
          <a:prstGeom prst="roundRect">
            <a:avLst>
              <a:gd name="adj" fmla="val 15000"/>
            </a:avLst>
          </a:prstGeom>
          <a:solidFill>
            <a:srgbClr val="1B173A"/>
          </a:solidFill>
          <a:ln w="1270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41664" y="514807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960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55778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帧飞越动画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从实景到程序化生成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◆ 算法生成结果  ·  最终渲染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640" y="2057402"/>
            <a:ext cx="5983600" cy="3383275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nold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7402"/>
            <a:ext cx="5943600" cy="3343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521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紫水晶洞穴 (seed=2026) · 56 crystals · 1920×1080 Arnold 渲染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3258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一句话目标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783080"/>
            <a:ext cx="484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一键点击 → Maya 自动生成完整水晶洞穴：地形、晶体、灯光、飞越相机，全程零手工建模。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80360"/>
            <a:ext cx="4846320" cy="502920"/>
          </a:xfrm>
          <a:prstGeom prst="roundRect">
            <a:avLst>
              <a:gd name="adj" fmla="val 18000"/>
            </a:avLst>
          </a:prstGeom>
          <a:solidFill>
            <a:srgbClr val="1B173A"/>
          </a:solidFill>
          <a:ln w="9525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880360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◉  全程序化 — 随机 seed 每次生成不同洞穴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483864"/>
            <a:ext cx="4846320" cy="502920"/>
          </a:xfrm>
          <a:prstGeom prst="roundRect">
            <a:avLst>
              <a:gd name="adj" fmla="val 18000"/>
            </a:avLst>
          </a:prstGeom>
          <a:solidFill>
            <a:srgbClr val="1B173A"/>
          </a:solidFill>
          <a:ln w="9525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483864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◉  参数驱动 — 密度 / 粗糙度 / 颜色 seed 全可控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4087368"/>
            <a:ext cx="4846320" cy="502920"/>
          </a:xfrm>
          <a:prstGeom prst="roundRect">
            <a:avLst>
              <a:gd name="adj" fmla="val 18000"/>
            </a:avLst>
          </a:prstGeom>
          <a:solidFill>
            <a:srgbClr val="1B173A"/>
          </a:solidFill>
          <a:ln w="9525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087368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◉  算法引用 — 4 个已发表论文，规范标注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4690872"/>
            <a:ext cx="4846320" cy="502920"/>
          </a:xfrm>
          <a:prstGeom prst="roundRect">
            <a:avLst>
              <a:gd name="adj" fmla="val 18000"/>
            </a:avLst>
          </a:prstGeom>
          <a:solidFill>
            <a:srgbClr val="1B173A"/>
          </a:solidFill>
          <a:ln w="9525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690872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◉  视觉目标 — SSS 辉光 + 体积雾 + 三层布光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5294376"/>
            <a:ext cx="4846320" cy="502920"/>
          </a:xfrm>
          <a:prstGeom prst="roundRect">
            <a:avLst>
              <a:gd name="adj" fmla="val 18000"/>
            </a:avLst>
          </a:prstGeom>
          <a:solidFill>
            <a:srgbClr val="1B173A"/>
          </a:solidFill>
          <a:ln w="9525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529437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◉  可复现 — 同 seed = 相同结果，改参 = 新洞穴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02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实景参考 — 墨西哥奈卡水晶洞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28640" y="1311595"/>
            <a:ext cx="2646040" cy="1994530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b80ff12a708b83f91132dc8a65a690e~tplv-a9rns2rl98-pc_smart_face_crop-v1_512_3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31595"/>
            <a:ext cx="2606040" cy="19545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328416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参考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3552" y="1311595"/>
            <a:ext cx="2646040" cy="1994530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66362bbf6432235b7c4c433d7b25fd1~tplv-a9rns2rl98-pc_smart_face_crop-v1_512_38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1331595"/>
            <a:ext cx="2606040" cy="19545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73552" y="3328416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参考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8464" y="1311595"/>
            <a:ext cx="2646040" cy="1994530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c4bcdb667d84c0e925a7a655bc23aa5~tplv-a9rns2rl98-pc_smart_face_crop-v1_512_38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331595"/>
            <a:ext cx="2606040" cy="19545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98464" y="3328416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参考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03376" y="1311595"/>
            <a:ext cx="2646040" cy="1994530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6a3556f6a16cb62ef7a7b628e70c3dc~tplv-a9rns2rl98-pc_smart_face_crop-v1_512_38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76" y="1331595"/>
            <a:ext cx="2606040" cy="19545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723376" y="3328416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参考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▼  从实景到算法生成目标  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◆ 算法目标 — 体积光 + 多色晶簇 + 次表面辉光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3880" y="4460560"/>
            <a:ext cx="3453760" cy="1960240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1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80" y="4480560"/>
            <a:ext cx="3413760" cy="1920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03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算法创新 — 四个经典算法的三维应用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70048" cy="4206240"/>
          </a:xfrm>
          <a:prstGeom prst="roundRect">
            <a:avLst>
              <a:gd name="adj" fmla="val 6000"/>
            </a:avLst>
          </a:prstGeom>
          <a:solidFill>
            <a:srgbClr val="1B173A"/>
          </a:solidFill>
          <a:ln w="15875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670048" cy="9144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Diamond-Square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21408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22E1D4"/>
                </a:solidFill>
                <a:latin typeface="Arial"/>
                <a:cs typeface="Arial"/>
                <a:ea typeface="Arial"/>
              </a:rPr>
              <a:t>Fournier, Fussell &amp; Carpenter · 1982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560320"/>
            <a:ext cx="2340864" cy="0"/>
          </a:xfrm>
          <a:prstGeom prst="line">
            <a:avLst/>
          </a:prstGeom>
          <a:ln w="1524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743200"/>
            <a:ext cx="234086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66,049顶点高分辨率地形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洞穴塑造：径向幂+正弦扰动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371600"/>
            <a:ext cx="2670048" cy="4206240"/>
          </a:xfrm>
          <a:prstGeom prst="roundRect">
            <a:avLst>
              <a:gd name="adj" fmla="val 6000"/>
            </a:avLst>
          </a:prstGeom>
          <a:solidFill>
            <a:srgbClr val="1B173A"/>
          </a:solidFill>
          <a:ln w="15875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371600"/>
            <a:ext cx="2670048" cy="91440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627632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Poisson-disc 采样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121408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B06AFF"/>
                </a:solidFill>
                <a:latin typeface="Arial"/>
                <a:cs typeface="Arial"/>
                <a:ea typeface="Arial"/>
              </a:rPr>
              <a:t>Bridson · 2007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47872" y="2560320"/>
            <a:ext cx="2340864" cy="0"/>
          </a:xfrm>
          <a:prstGeom prst="line">
            <a:avLst/>
          </a:prstGeom>
          <a:ln w="15240">
            <a:solidFill>
              <a:srgbClr val="B06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47872" y="2743200"/>
            <a:ext cx="234086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贪婪洗牌近似 O(n·k)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避免扎堆的自然分布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670048" cy="4206240"/>
          </a:xfrm>
          <a:prstGeom prst="roundRect">
            <a:avLst>
              <a:gd name="adj" fmla="val 6000"/>
            </a:avLst>
          </a:prstGeom>
          <a:solidFill>
            <a:srgbClr val="1B173A"/>
          </a:solidFill>
          <a:ln w="15875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70048" cy="9144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627632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L-System 晶体生长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121408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22E1D4"/>
                </a:solidFill>
                <a:latin typeface="Arial"/>
                <a:cs typeface="Arial"/>
                <a:ea typeface="Arial"/>
              </a:rPr>
              <a:t>Prusinkiewicz &amp; Lindenmayer · 1990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82512" y="2560320"/>
            <a:ext cx="2340864" cy="0"/>
          </a:xfrm>
          <a:prstGeom prst="line">
            <a:avLst/>
          </a:prstGeom>
          <a:ln w="1524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82512" y="2743200"/>
            <a:ext cx="234086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球面坐标三维分支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3-8 根侧生晶体 / 主晶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371600"/>
            <a:ext cx="2670048" cy="4206240"/>
          </a:xfrm>
          <a:prstGeom prst="roundRect">
            <a:avLst>
              <a:gd name="adj" fmla="val 6000"/>
            </a:avLst>
          </a:prstGeom>
          <a:solidFill>
            <a:srgbClr val="1B173A"/>
          </a:solidFill>
          <a:ln w="15875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371600"/>
            <a:ext cx="2670048" cy="91440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1627632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Subsurface 散射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2121408"/>
            <a:ext cx="23408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B06AFF"/>
                </a:solidFill>
                <a:latin typeface="Arial"/>
                <a:cs typeface="Arial"/>
                <a:ea typeface="Arial"/>
              </a:rPr>
              <a:t>Jensen et al. · 2001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17152" y="2560320"/>
            <a:ext cx="2340864" cy="0"/>
          </a:xfrm>
          <a:prstGeom prst="line">
            <a:avLst/>
          </a:prstGeom>
          <a:ln w="15240">
            <a:solidFill>
              <a:srgbClr val="B06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217152" y="2743200"/>
            <a:ext cx="2340864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程序化点光源网络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颜色匹配辉光 · 模拟 SSS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五阶段全自动生成管线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524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地形生成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2423160"/>
            <a:ext cx="1051560" cy="0"/>
          </a:xfrm>
          <a:prstGeom prst="line">
            <a:avLst/>
          </a:prstGeom>
          <a:ln w="127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56032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Diamond-Square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66K顶点 · 洞穴碗形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2402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8" y="137160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524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8" y="148132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06AFF"/>
                </a:solidFill>
                <a:latin typeface="Arial"/>
                <a:cs typeface="Arial"/>
                <a:ea typeface="Arial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18745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种子分布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64408" y="2423160"/>
            <a:ext cx="1051560" cy="0"/>
          </a:xfrm>
          <a:prstGeom prst="line">
            <a:avLst/>
          </a:prstGeom>
          <a:ln w="12700">
            <a:solidFill>
              <a:srgbClr val="B06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44368" y="256032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Poisson-disc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面法线提取 · 间距保证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2402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137160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524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65776" y="148132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18745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晶体生长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22976" y="2423160"/>
            <a:ext cx="1051560" cy="0"/>
          </a:xfrm>
          <a:prstGeom prst="line">
            <a:avLst/>
          </a:prstGeom>
          <a:ln w="127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02936" y="256032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六棱柱+尖端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L-system 分支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22402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137160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524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24344" y="148132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B06AFF"/>
                </a:solidFill>
                <a:latin typeface="Arial"/>
                <a:cs typeface="Arial"/>
                <a:ea typeface="Arial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18745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灯光雾效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81544" y="2423160"/>
            <a:ext cx="1051560" cy="0"/>
          </a:xfrm>
          <a:prstGeom prst="line">
            <a:avLst/>
          </a:prstGeom>
          <a:ln w="12700">
            <a:solidFill>
              <a:srgbClr val="B06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61504" y="256032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三层布光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体积雾 · 晶体 glow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24028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1371600"/>
            <a:ext cx="1965960" cy="210312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524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912" y="1481328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Stage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187452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相机动画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40112" y="2423160"/>
            <a:ext cx="1051560" cy="0"/>
          </a:xfrm>
          <a:prstGeom prst="line">
            <a:avLst/>
          </a:prstGeom>
          <a:ln w="127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720072" y="2560320"/>
            <a:ext cx="1691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960帧飞越</a:t>
            </a:r>
          </a:p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生长动画 · DOF f/3.2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◆ 管线输出 · Maya viewport 实景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50679" y="4140520"/>
            <a:ext cx="3860160" cy="2188840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overview.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679" y="4160520"/>
            <a:ext cx="3820160" cy="214884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05 /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代码架构 — 7 个独立模块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✦ 函数完整 docstring · 算法引用标注 · 单一职责 · 可独立测试 · 约 2,200 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532120" cy="603504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92808"/>
            <a:ext cx="109728" cy="384048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9656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6FA"/>
                </a:solidFill>
                <a:latin typeface="Consolas"/>
                <a:cs typeface="Consolas"/>
                <a:ea typeface="Consolas"/>
              </a:rPr>
              <a:t>cave_terrain.py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19656"/>
            <a:ext cx="2697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Diamond-Square 地形 · 洞穴围合 · 钟乳石/石笋 · 岩石材质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96312"/>
            <a:ext cx="5532120" cy="603504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606040"/>
            <a:ext cx="109728" cy="384048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32888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6FA"/>
                </a:solidFill>
                <a:latin typeface="Consolas"/>
                <a:cs typeface="Consolas"/>
                <a:ea typeface="Consolas"/>
              </a:rPr>
              <a:t>crystal_seed.py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32888"/>
            <a:ext cx="2697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Poisson-disc 采样 · 贪婪近似 O(n·k) · 面法线提取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5532120" cy="603504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319272"/>
            <a:ext cx="109728" cy="384048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6FA"/>
                </a:solidFill>
                <a:latin typeface="Consolas"/>
                <a:cs typeface="Consolas"/>
                <a:ea typeface="Consolas"/>
              </a:rPr>
              <a:t>crystal_growth.py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246120"/>
            <a:ext cx="2697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六棱柱+尖端 · L-system 球面分支 · aiNoise 云雾纹理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22776"/>
            <a:ext cx="5532120" cy="603504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032504"/>
            <a:ext cx="109728" cy="384048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59352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6FA"/>
                </a:solidFill>
                <a:latin typeface="Consolas"/>
                <a:cs typeface="Consolas"/>
                <a:ea typeface="Consolas"/>
              </a:rPr>
              <a:t>cave_lighting.py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959352"/>
            <a:ext cx="2697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三层布光 · aiAtmosphereVolume · 尘埃 · 动态相机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783080"/>
            <a:ext cx="5532120" cy="603504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3368" y="1892808"/>
            <a:ext cx="109728" cy="384048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819656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6FA"/>
                </a:solidFill>
                <a:latin typeface="Consolas"/>
                <a:cs typeface="Consolas"/>
                <a:ea typeface="Consolas"/>
              </a:rPr>
              <a:t>crystal_ui.py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819656"/>
            <a:ext cx="2697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Maya 内嵌 GUI · 4 标签页 16 参数 · 一键生成+渲染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496312"/>
            <a:ext cx="5532120" cy="603504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3368" y="2606040"/>
            <a:ext cx="109728" cy="384048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532888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6FA"/>
                </a:solidFill>
                <a:latin typeface="Consolas"/>
                <a:cs typeface="Consolas"/>
                <a:ea typeface="Consolas"/>
              </a:rPr>
              <a:t>arnold_render.py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532888"/>
            <a:ext cx="2697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AA 采样配置 · AOV · DOF 相机 · EXR 输出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209544"/>
            <a:ext cx="5532120" cy="603504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3368" y="3319272"/>
            <a:ext cx="109728" cy="384048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246120"/>
            <a:ext cx="2468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F6FA"/>
                </a:solidFill>
                <a:latin typeface="Consolas"/>
                <a:cs typeface="Consolas"/>
                <a:ea typeface="Consolas"/>
              </a:rPr>
              <a:t>final_scene.py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246120"/>
            <a:ext cx="2697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全管线集成 · 单函数 build() · 参数集中控制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06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晶体几何创新 — 从「钉子」到「水晶」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084831" cy="269748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397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73152" cy="269748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18488"/>
            <a:ext cx="17190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⬡ 六棱柱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258568"/>
            <a:ext cx="1627631" cy="0"/>
          </a:xfrm>
          <a:prstGeom prst="line">
            <a:avLst/>
          </a:prstGeom>
          <a:ln w="127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423160"/>
            <a:ext cx="16824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polyCylinder(sx=6) 替代圆锥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1.2–2.5m 半径 · 六方晶系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5" y="1417320"/>
            <a:ext cx="2084831" cy="269748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397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9775" y="1417320"/>
            <a:ext cx="73152" cy="2697480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3" y="1618488"/>
            <a:ext cx="17190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↗ 法线对齐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80943" y="2258568"/>
            <a:ext cx="1627631" cy="0"/>
          </a:xfrm>
          <a:prstGeom prst="line">
            <a:avLst/>
          </a:prstGeom>
          <a:ln w="12700">
            <a:solidFill>
              <a:srgbClr val="B06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80943" y="2423160"/>
            <a:ext cx="16824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aimConstraint 精确对齐面法线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替代手写欧拉角 · 避 gimbal 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0" y="1417320"/>
            <a:ext cx="2084831" cy="269748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397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0910" y="1417320"/>
            <a:ext cx="73152" cy="269748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8" y="1618488"/>
            <a:ext cx="17190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⎈ L-system 分支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2078" y="2258568"/>
            <a:ext cx="1627631" cy="0"/>
          </a:xfrm>
          <a:prstGeom prst="line">
            <a:avLst/>
          </a:prstGeom>
          <a:ln w="127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2078" y="2423160"/>
            <a:ext cx="16824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三维球面坐标方位角+仰角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3–8 根侧生晶体 / 主晶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2045" y="1417320"/>
            <a:ext cx="2084831" cy="269748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397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42045" y="1417320"/>
            <a:ext cx="73152" cy="2697480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43213" y="1618488"/>
            <a:ext cx="17190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⚓ 根部嵌入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43213" y="2258568"/>
            <a:ext cx="1627631" cy="0"/>
          </a:xfrm>
          <a:prstGeom prst="line">
            <a:avLst/>
          </a:prstGeom>
          <a:ln w="12700">
            <a:solidFill>
              <a:srgbClr val="B06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43213" y="2423160"/>
            <a:ext cx="16824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12% 嵌入消除悬浮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底部 1.3× 径向扩展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73180" y="1417320"/>
            <a:ext cx="2084831" cy="2697480"/>
          </a:xfrm>
          <a:prstGeom prst="roundRect">
            <a:avLst>
              <a:gd name="adj" fmla="val 8000"/>
            </a:avLst>
          </a:prstGeom>
          <a:solidFill>
            <a:srgbClr val="1B173A"/>
          </a:solidFill>
          <a:ln w="1397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73180" y="1417320"/>
            <a:ext cx="73152" cy="269748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48" y="1618488"/>
            <a:ext cx="17190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◇ 粗细渐变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74348" y="2258568"/>
            <a:ext cx="1627631" cy="0"/>
          </a:xfrm>
          <a:prstGeom prst="line">
            <a:avLst/>
          </a:prstGeom>
          <a:ln w="127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74348" y="2423160"/>
            <a:ext cx="16824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主体粗 → 尖端细(0.92×)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polyBevel 棱边倒角 · 10 种 IOR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43400"/>
            <a:ext cx="11109960" cy="777240"/>
          </a:xfrm>
          <a:prstGeom prst="roundRect">
            <a:avLst>
              <a:gd name="adj" fmla="val 10000"/>
            </a:avLst>
          </a:prstGeom>
          <a:solidFill>
            <a:srgbClr val="241F4E"/>
          </a:solidFill>
          <a:ln w="1016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40740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◆ 创新：六棱柱六方晶系 + aimConstraint 法线对齐 + 球面 L-system 分支 — 共同构成「钉子」无法企及的真实晶簇形态。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07 /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材质与灯光 — Arnold SSS + 体积雾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669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✦ 10 种宝石 aiStandardSurface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Subsurface 次表面散射 (weight=0.8)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Transmission 半透光玻璃 (0.6, depth=3.0)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9464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Coat 薄膜彩虹高光 (0.35, roughness=0.02)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6265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Dispersion 色散 (Abbe=45)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558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Emission 晶体自发光 (0.35)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4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10 种独立 IOR (1.43~1.77)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422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aiNoise 3D 云雾纹理 → subsurfaceColor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✦ 三层布光 + 体积雾 + 尘埃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aiSkyDomeLight 暗紫环境光 (1.2)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7627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Key 暖金定向光 (120, -45°)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9464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Rim 冷蓝背光 (25, 135°)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62656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20 Crystal Glows (800–1600, 无衰减)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5584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aiAtmosphereVolume (density=0.008)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120 暖色半透明尘埃 · DOF f/3.2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4223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▸ ai_exposure=3.0 · 35mm 广角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17720"/>
            <a:ext cx="11109960" cy="1417320"/>
          </a:xfrm>
          <a:prstGeom prst="roundRect">
            <a:avLst>
              <a:gd name="adj" fmla="val 6000"/>
            </a:avLst>
          </a:prstGeom>
          <a:solidFill>
            <a:srgbClr val="1B173A"/>
          </a:solidFill>
          <a:ln w="1016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8720" y="4689160"/>
            <a:ext cx="2234560" cy="1274440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iew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709160"/>
            <a:ext cx="2194560" cy="1234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14800" y="4846320"/>
            <a:ext cx="74066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晶体自发光产生内部辉光 · 体积雾营造洞穴纵深 · 三层布光分离前景/背景/轮廓。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视觉表现评估项：Arnold SSS + 体积雾 + 三层布光 — 真实矿物光学质感。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08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交互 GUI — Maya 内嵌可视化窗口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852160" cy="4754880"/>
          </a:xfrm>
          <a:prstGeom prst="roundRect">
            <a:avLst>
              <a:gd name="adj" fmla="val 3000"/>
            </a:avLst>
          </a:prstGeom>
          <a:solidFill>
            <a:srgbClr val="161332"/>
          </a:solidFill>
          <a:ln w="1905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852160" cy="384048"/>
          </a:xfrm>
          <a:prstGeom prst="rect">
            <a:avLst/>
          </a:prstGeom>
          <a:solidFill>
            <a:srgbClr val="2A2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5852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◆ Crystal Cavern v10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1444752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13248" y="1444752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14416" y="1444752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783080"/>
            <a:ext cx="1280160" cy="347472"/>
          </a:xfrm>
          <a:prstGeom prst="rect">
            <a:avLst/>
          </a:prstGeom>
          <a:solidFill>
            <a:srgbClr val="241F4E"/>
          </a:solidFill>
          <a:ln w="1270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1280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Terrain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783080"/>
            <a:ext cx="1280160" cy="347472"/>
          </a:xfrm>
          <a:prstGeom prst="rect">
            <a:avLst/>
          </a:prstGeom>
          <a:solidFill>
            <a:srgbClr val="1B173A"/>
          </a:solidFill>
          <a:ln w="1270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783080"/>
            <a:ext cx="1280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Crystals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783080"/>
            <a:ext cx="1280160" cy="347472"/>
          </a:xfrm>
          <a:prstGeom prst="rect">
            <a:avLst/>
          </a:prstGeom>
          <a:solidFill>
            <a:srgbClr val="1B173A"/>
          </a:solidFill>
          <a:ln w="1270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783080"/>
            <a:ext cx="1280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Lighting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783080"/>
            <a:ext cx="1280160" cy="347472"/>
          </a:xfrm>
          <a:prstGeom prst="rect">
            <a:avLst/>
          </a:prstGeom>
          <a:solidFill>
            <a:srgbClr val="1B173A"/>
          </a:solidFill>
          <a:ln w="1270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783080"/>
            <a:ext cx="1280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258568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258568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Seed: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51860" y="2258568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5012" y="2258568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Roughness: 0.45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505456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2505456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Size: 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1860" y="2505456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5012" y="2505456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Wall Height: 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752344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2752344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Ceiling: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1860" y="2752344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5012" y="2752344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Density: 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999232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2999232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Variance: 1.0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51860" y="2999232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5012" y="2999232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Color Seed: 42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246120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3246120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Type Mix: Mixed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51860" y="3246120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5012" y="3246120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Ambient: 0.06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493008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3493008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Fog: 0.008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51860" y="3493008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25012" y="3493008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Dust: 300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739896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3739896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Crystal Lights: 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51860" y="3739896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5012" y="3739896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Resolution: 1920×1080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3986784"/>
            <a:ext cx="2674620" cy="219456"/>
          </a:xfrm>
          <a:prstGeom prst="rect">
            <a:avLst/>
          </a:prstGeom>
          <a:solidFill>
            <a:srgbClr val="120F28"/>
          </a:solidFill>
          <a:ln w="6350">
            <a:solidFill>
              <a:srgbClr val="241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3986784"/>
            <a:ext cx="26746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▬ AA: 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52120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2120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0C29"/>
                </a:solidFill>
                <a:latin typeface="微软雅黑"/>
                <a:cs typeface="微软雅黑"/>
                <a:ea typeface="微软雅黑"/>
              </a:rPr>
              <a:t>[ Generate 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521208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241F4E"/>
          </a:solidFill>
          <a:ln w="10160">
            <a:solidFill>
              <a:srgbClr val="808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0" y="521208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[ Reset ]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89120" y="52120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0" y="521208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Render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>progressWindow: 8 阶段进度条 (Cleaning → Materials → … → Lighting)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1371600"/>
            <a:ext cx="4983480" cy="713232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1426464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4 标签页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173736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Terrain/Crystals/Lighting/Render 分组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2176272"/>
            <a:ext cx="4983480" cy="713232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2231136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16 参数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254203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全部可视化滑块 · 无需修改代码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0" y="2980944"/>
            <a:ext cx="4983480" cy="713232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0" y="3035808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一键生成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334670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30 秒完成全部 6 阶段管线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75120" y="3785616"/>
            <a:ext cx="4983480" cy="713232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3840480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一键渲染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4151376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Arnold Render · 直接输出 EXR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75120" y="4590288"/>
            <a:ext cx="4983480" cy="713232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4645152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可复现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4956048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同 seed=相同洞穴 · 改参=新洞穴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675120" y="5394960"/>
            <a:ext cx="4983480" cy="713232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143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5449824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安全范围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576072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每控件 min/max · 防崩溃默认值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09 / 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最终渲染成果 — 两套参数对比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Scene 1 · 紫水晶洞穴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640" y="1748792"/>
            <a:ext cx="5617840" cy="3177535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8792"/>
            <a:ext cx="5577840" cy="31375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0292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seed=2026 · 56 crystals · roughness=0.45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>9.7 MB EXR · 1920×1080 Arnold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280160"/>
            <a:ext cx="557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Scene 2 · 红宝石洞穴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0760" y="1748792"/>
            <a:ext cx="5617840" cy="3177535"/>
          </a:xfrm>
          <a:prstGeom prst="rect">
            <a:avLst/>
          </a:prstGeom>
          <a:solidFill>
            <a:srgbClr val="1B173A"/>
          </a:solidFill>
          <a:ln w="1270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768792"/>
            <a:ext cx="5577840" cy="3137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0760" y="50292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seed=7777 · 56 crystals · roughness=0.55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34924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>8.8 MB EXR · 1920×1080 Arnold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1109960" cy="502920"/>
          </a:xfrm>
          <a:prstGeom prst="roundRect">
            <a:avLst>
              <a:gd name="adj" fmla="val 10000"/>
            </a:avLst>
          </a:prstGeom>
          <a:solidFill>
            <a:srgbClr val="241F4E"/>
          </a:solidFill>
          <a:ln w="889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◆ 每组参数生成完全不同的洞穴 — 同算法、不同 seed，形态/色彩/相机路径各异。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10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动画成果 — 飞越 + 生长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532120" cy="4572000"/>
          </a:xfrm>
          <a:prstGeom prst="roundRect">
            <a:avLst>
              <a:gd name="adj" fmla="val 5000"/>
            </a:avLst>
          </a:prstGeom>
          <a:solidFill>
            <a:srgbClr val="1B173A"/>
          </a:solidFill>
          <a:ln w="1524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532120" cy="9144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960 帧飞越动画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动态相机路径 — 根据晶体位置自适应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0720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6 个关键帧 spline 插值 · 32 秒 (30fps)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74136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入口俯冲 → 紧贴晶体群掠过 → 全景上升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41064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DOF 景深 f/3.2 · 35mm · 平滑样条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07992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每个 seed 生成不同飞行路径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B06AFF"/>
                </a:solidFill>
                <a:latin typeface="Arial"/>
                <a:cs typeface="Arial"/>
                <a:ea typeface="Arial"/>
              </a:rPr>
              <a:t>960 frames  ·  32s @ 30fps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5394960" cy="4572000"/>
          </a:xfrm>
          <a:prstGeom prst="roundRect">
            <a:avLst>
              <a:gd name="adj" fmla="val 5000"/>
            </a:avLst>
          </a:prstGeom>
          <a:solidFill>
            <a:srgbClr val="1B173A"/>
          </a:solidFill>
          <a:ln w="1524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371600"/>
            <a:ext cx="5394960" cy="91440"/>
          </a:xfrm>
          <a:prstGeom prst="rect">
            <a:avLst/>
          </a:prstGeom>
          <a:solidFill>
            <a:srgbClr val="B0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56 颗晶体生长动画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402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Scale 0→1 — 从裸岩长出成熟晶簇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07208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每颗错开启动帧 (spread 200 frames)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74136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生长周期 520 帧/颗 · 线性入 spline 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41064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模拟天然矿物结晶过程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079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✦ 0 帧=裸岩壁 · 720 帧=完整晶簇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56 crystals  ·  Scale 0 →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11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F0C29"/>
              </a:gs>
              <a:gs pos="50000">
                <a:srgbClr val="1F1B47"/>
              </a:gs>
              <a:gs pos="100000">
                <a:srgbClr val="302B6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09728" cy="457200"/>
          </a:xfrm>
          <a:prstGeom prst="rect">
            <a:avLst/>
          </a:prstGeom>
          <a:solidFill>
            <a:srgbClr val="22E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5F6FA"/>
                </a:solidFill>
                <a:latin typeface="微软雅黑"/>
                <a:cs typeface="微软雅黑"/>
                <a:ea typeface="微软雅黑"/>
              </a:rPr>
              <a:t>AI 工具使用 · 评估标准对照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024128"/>
            <a:ext cx="11064240" cy="0"/>
          </a:xfrm>
          <a:prstGeom prst="line">
            <a:avLst/>
          </a:prstGeom>
          <a:ln w="25400">
            <a:solidFill>
              <a:srgbClr val="22E1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07040" y="384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0849E"/>
                </a:solidFill>
                <a:latin typeface="微软雅黑"/>
                <a:cs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✦ AI 工具使用记录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9656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9397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算法设计 · 代码生成 · 迭代优化 · 全模块重构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32888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9464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Claude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43784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Maya 直接操控 · 28 技能 · 场景构建 · 调试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82696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7A4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Arial"/>
                <a:cs typeface="Arial"/>
                <a:ea typeface="Arial"/>
              </a:rPr>
              <a:t>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9359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算法选型 · 论文引用核实 · API 查询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69080"/>
            <a:ext cx="5532120" cy="1143000"/>
          </a:xfrm>
          <a:prstGeom prst="roundRect">
            <a:avLst>
              <a:gd name="adj" fmla="val 8000"/>
            </a:avLst>
          </a:prstGeom>
          <a:solidFill>
            <a:srgbClr val="241F4E"/>
          </a:solidFill>
          <a:ln w="8890">
            <a:solidFill>
              <a:srgbClr val="B06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声明：AI 是实现工具而非创作主体。所有代码经 Maya 实机验证，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设计决策（晶体形态、颜色方案、相机路径、参数范围）由作者做出。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完整 AI 使用日志及提示词记录已保存。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280160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06AFF"/>
                </a:solidFill>
                <a:latin typeface="微软雅黑"/>
                <a:cs typeface="微软雅黑"/>
                <a:ea typeface="微软雅黑"/>
              </a:rPr>
              <a:t>✦ 评估标准对照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783080"/>
            <a:ext cx="5303520" cy="566928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81965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✓ 算法复杂度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8196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4 个已发表论文 · 规范引用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423160"/>
            <a:ext cx="5303520" cy="566928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45973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✓ 代码质量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45973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7 模块 · docstring · 注释完整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063240"/>
            <a:ext cx="5303520" cy="566928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09981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✓ GUI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09981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4 标签页 16 参数 · 一键生成+渲染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703320"/>
            <a:ext cx="5303520" cy="566928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73989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✓ 视觉表现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73989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SSS + 体积雾 + 三层布光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343400"/>
            <a:ext cx="5303520" cy="566928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37997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✓ 创新性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37997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矿物生成 · 六棱柱 · 云雾纹理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983480"/>
            <a:ext cx="5303520" cy="566928"/>
          </a:xfrm>
          <a:prstGeom prst="roundRect">
            <a:avLst>
              <a:gd name="adj" fmla="val 10000"/>
            </a:avLst>
          </a:prstGeom>
          <a:solidFill>
            <a:srgbClr val="1B173A"/>
          </a:solidFill>
          <a:ln w="10160">
            <a:solidFill>
              <a:srgbClr val="12A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2005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2E1D4"/>
                </a:solidFill>
                <a:latin typeface="微软雅黑"/>
                <a:cs typeface="微软雅黑"/>
                <a:ea typeface="微软雅黑"/>
              </a:rPr>
              <a:t>✓ AI 伦理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0200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完整使用日志 · 边界声明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241F4E"/>
          </a:solidFill>
          <a:ln w="15240">
            <a:solidFill>
              <a:srgbClr val="22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04688"/>
            <a:ext cx="11109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5F6FA"/>
                </a:solidFill>
                <a:latin typeface="Arial"/>
                <a:cs typeface="Arial"/>
                <a:ea typeface="Arial"/>
              </a:rPr>
              <a:t>Thank You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43600"/>
            <a:ext cx="11109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B8BCCC"/>
                </a:solidFill>
                <a:latin typeface="微软雅黑"/>
                <a:cs typeface="微软雅黑"/>
                <a:ea typeface="微软雅黑"/>
              </a:rPr>
              <a:t>Crystal Cavern  ·  未来创新设计 · 浙江大学 2026 · Prof. Xiaosong Yang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12 /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0849E"/>
                </a:solidFill>
                <a:latin typeface="Arial"/>
                <a:cs typeface="Arial"/>
                <a:ea typeface="Arial"/>
              </a:rPr>
              <a:t>Crystal Cavern  ·  ZJU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