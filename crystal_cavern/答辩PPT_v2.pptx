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2743200"/>
            <a:ext cx="9144000" cy="11887200"/>
          </a:xfrm>
          <a:prstGeom prst="ellipse">
            <a:avLst/>
          </a:prstGeom>
          <a:solidFill>
            <a:srgbClr val="12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FFFFFF"/>
                </a:solidFill>
              </a:defRPr>
            </a:pPr>
            <a:r>
              <a:t>CRYSTAL CAVERN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CBBEE"/>
                </a:solidFill>
              </a:defRPr>
            </a:pPr>
            <a:r>
              <a:t>Python 驱动 Maya 程序化水晶洞穴生成系统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</a:defRPr>
            </a:pPr>
            <a:r>
              <a:t>未来创新设计  ·  浙江大学 2026  ·  Prof. Xiaosong Yang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77799"/>
                </a:solidFill>
              </a:defRPr>
            </a:pPr>
            <a:r>
              <a:t>一键生成 · 全自动管线 · 零手工建模 · 算法驱动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从实景到程序化生成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参考实景 — 墨西哥奈卡水晶洞</a:t>
            </a:r>
          </a:p>
        </p:txBody>
      </p:sp>
      <p:pic>
        <p:nvPicPr>
          <p:cNvPr id="5" name="Picture 4" descr="3eae194164c7e91848e3a1b6212602a7~tplv-a9rns2rl98-pc_smart_face_crop-v1_417_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2651760" cy="2011680"/>
          </a:xfrm>
          <a:prstGeom prst="rect">
            <a:avLst/>
          </a:prstGeom>
        </p:spPr>
      </p:pic>
      <p:pic>
        <p:nvPicPr>
          <p:cNvPr id="6" name="Picture 5" descr="a6a3556f6a16cb62ef7a7b628e70c3dc~tplv-a9rns2rl98-pc_smart_face_crop-v1_512_38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828800"/>
            <a:ext cx="2651760" cy="2011680"/>
          </a:xfrm>
          <a:prstGeom prst="rect">
            <a:avLst/>
          </a:prstGeom>
        </p:spPr>
      </p:pic>
      <p:pic>
        <p:nvPicPr>
          <p:cNvPr id="7" name="Picture 6" descr="e7f7e3f28dd900f8c8df099b8e633290~tplv-a9rns2rl98-pc_smart_face_crop-v1_512_38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23360"/>
            <a:ext cx="2651760" cy="2011680"/>
          </a:xfrm>
          <a:prstGeom prst="rect">
            <a:avLst/>
          </a:prstGeom>
        </p:spPr>
      </p:pic>
      <p:pic>
        <p:nvPicPr>
          <p:cNvPr id="8" name="Picture 7" descr="bade05e1ec4bc28e6c465d342786f1cd~tplv-a9rns2rl98-pc_smart_face_crop-v1_446_335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023360"/>
            <a:ext cx="2651760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B59B6"/>
                </a:solidFill>
              </a:defRPr>
            </a:pPr>
            <a:r>
              <a:t>我们的生成结果</a:t>
            </a:r>
          </a:p>
        </p:txBody>
      </p:sp>
      <p:pic>
        <p:nvPicPr>
          <p:cNvPr id="11" name="Picture 10" descr="ren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828800"/>
            <a:ext cx="548640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7799"/>
                </a:solidFill>
              </a:defRPr>
            </a:pPr>
            <a:r>
              <a:t>紫水晶洞穴 (seed=2026)  1920×1080 Arnold 渲染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算法创新 — 四个经典算法的三维应用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2743200" cy="41148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Diamond-Square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</a:defRPr>
            </a:pPr>
            <a:r>
              <a:t>Fournier, Fussell &amp;</a:t>
            </a:r>
            <a:br/>
            <a:r>
              <a:t>Carpenter, 1982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66,049顶点高分辨率地形</a:t>
            </a:r>
            <a:br/>
            <a:r>
              <a:t>洞穴塑造函数 · 径向幂+正弦扰动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743200" cy="41148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B59B6"/>
                </a:solidFill>
              </a:defRPr>
            </a:pPr>
            <a:r>
              <a:t>Poisson-disc 采样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</a:defRPr>
            </a:pPr>
            <a:r>
              <a:t>Bridson, 2007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贪婪洗牌近似 O(n·k)</a:t>
            </a:r>
            <a:br/>
            <a:r>
              <a:t>避免扎堆的自然分布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743200" cy="41148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L-System 晶体生长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</a:defRPr>
            </a:pPr>
            <a:r>
              <a:t>Prusinkiewicz &amp;</a:t>
            </a:r>
            <a:br/>
            <a:r>
              <a:t>Lindenmayer, 1990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球面坐标三维分支</a:t>
            </a:r>
            <a:br/>
            <a:r>
              <a:t>polyCone + aimConstraint 混合方案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743200" cy="41148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</a:defRPr>
            </a:pPr>
            <a:r>
              <a:t>Subsurface 散射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</a:defRPr>
            </a:pPr>
            <a:r>
              <a:t>Jensen et al., 2001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程序化点光源网络</a:t>
            </a:r>
            <a:br/>
            <a:r>
              <a:t>模拟次表面散射 · 颜色匹配辉光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五阶段全自动生成管线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11680" cy="27432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地形生成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Diamond-Square</a:t>
            </a:r>
            <a:br/>
            <a:r>
              <a:t>66K顶点</a:t>
            </a:r>
            <a:br/>
            <a:r>
              <a:t>洞穴碗形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55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828800"/>
            <a:ext cx="2011680" cy="27432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种子分布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Poisson-disc</a:t>
            </a:r>
            <a:br/>
            <a:r>
              <a:t>面法线提取</a:t>
            </a:r>
            <a:br/>
            <a:r>
              <a:t>间距保证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55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828800"/>
            <a:ext cx="2011680" cy="27432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晶体生长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六棱柱+尖端</a:t>
            </a:r>
            <a:br/>
            <a:r>
              <a:t>L-system分支</a:t>
            </a:r>
            <a:br/>
            <a:r>
              <a:t>aimConstraint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55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828800"/>
            <a:ext cx="2011680" cy="27432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Stage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灯光雾效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三层布光</a:t>
            </a:r>
            <a:br/>
            <a:r>
              <a:t>体积雾</a:t>
            </a:r>
            <a:br/>
            <a:r>
              <a:t>晶体glow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55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828800"/>
            <a:ext cx="2011680" cy="27432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Stage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相机动画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8346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</a:defRPr>
            </a:pPr>
            <a:r>
              <a:t>960帧飞越</a:t>
            </a:r>
            <a:br/>
            <a:r>
              <a:t>生长动画</a:t>
            </a:r>
            <a:br/>
            <a:r>
              <a:t>DOF f/3.2</a:t>
            </a:r>
          </a:p>
        </p:txBody>
      </p:sp>
      <p:pic>
        <p:nvPicPr>
          <p:cNvPr id="28" name="Picture 27" descr="viewport.0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846320"/>
            <a:ext cx="5486400" cy="1737360"/>
          </a:xfrm>
          <a:prstGeom prst="rect">
            <a:avLst/>
          </a:prstGeom>
        </p:spPr>
      </p:pic>
      <p:pic>
        <p:nvPicPr>
          <p:cNvPr id="29" name="Picture 28" descr="viewport.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846320"/>
            <a:ext cx="5486400" cy="1737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617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99"/>
                </a:solidFill>
              </a:defRPr>
            </a:pPr>
            <a:r>
              <a:t>紫水晶洞穴 (seed=2026)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617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99"/>
                </a:solidFill>
              </a:defRPr>
            </a:pPr>
            <a:r>
              <a:t>红宝石洞穴 (seed=7777)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代码架构 — 7个独立模块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函数完整 docstring · 算法引用标注 · 单一职责 · 可独立测试 · 约 2,200 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1064240" cy="475488"/>
          </a:xfrm>
          <a:prstGeom prst="roundRect">
            <a:avLst/>
          </a:prstGeom>
          <a:solidFill>
            <a:srgbClr val="1212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66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</a:defRPr>
            </a:pPr>
            <a:r>
              <a:t>cave_terrain.py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665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Diamond-Square 地形 · 洞穴围合 · 钟乳石/石笋 · 岩石材质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78608"/>
            <a:ext cx="11064240" cy="475488"/>
          </a:xfrm>
          <a:prstGeom prst="roundRect">
            <a:avLst/>
          </a:prstGeom>
          <a:solidFill>
            <a:srgbClr val="12122E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33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B59B6"/>
                </a:solidFill>
              </a:defRPr>
            </a:pPr>
            <a:r>
              <a:t>crystal_seed.py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33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Poisson-disc 采样 · 贪婪近似 O(n·k) · 面法线提取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45536"/>
            <a:ext cx="11064240" cy="475488"/>
          </a:xfrm>
          <a:prstGeom prst="roundRect">
            <a:avLst/>
          </a:prstGeom>
          <a:solidFill>
            <a:srgbClr val="12122E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7AE60"/>
                </a:solidFill>
              </a:defRPr>
            </a:pPr>
            <a:r>
              <a:t>crystal_growth.py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六棱柱+尖端 · L-system 球面分支 · aiNoise 云雾纹理 · 材质缓存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12464"/>
            <a:ext cx="11064240" cy="475488"/>
          </a:xfrm>
          <a:prstGeom prst="roundRect">
            <a:avLst/>
          </a:prstGeom>
          <a:solidFill>
            <a:srgbClr val="12122E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67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</a:defRPr>
            </a:pPr>
            <a:r>
              <a:t>cave_lighting.py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673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三层布光 · aiAtmosphereVolume · 尘埃 · 动态相机 · 生长动画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11064240" cy="475488"/>
          </a:xfrm>
          <a:prstGeom prst="roundRect">
            <a:avLst/>
          </a:prstGeom>
          <a:solidFill>
            <a:srgbClr val="12122E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34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</a:defRPr>
            </a:pPr>
            <a:r>
              <a:t>crystal_ui.py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3425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Maya 内嵌 GUI · 4标签页16参数 · 一键生成+渲染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46320"/>
            <a:ext cx="11064240" cy="475488"/>
          </a:xfrm>
          <a:prstGeom prst="roundRect">
            <a:avLst/>
          </a:prstGeom>
          <a:solidFill>
            <a:srgbClr val="12122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011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</a:defRPr>
            </a:pPr>
            <a:r>
              <a:t>arnold_render.py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9011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AA采样配置 · AOV · DOF相机 · EXR输出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13248"/>
            <a:ext cx="11064240" cy="475488"/>
          </a:xfrm>
          <a:prstGeom prst="roundRect">
            <a:avLst/>
          </a:prstGeom>
          <a:solidFill>
            <a:srgbClr val="12122E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681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E44AD"/>
                </a:solidFill>
              </a:defRPr>
            </a:pPr>
            <a:r>
              <a:t>final_scene.py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4681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全管线集成 · 单函数 build() · 所有参数集中控制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晶体几何创新 — 从「钉子」到「水晶」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566160" cy="21488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</a:defRPr>
            </a:pPr>
            <a:r>
              <a:t>⬡ 六棱柱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polyCylinder(sx=6) 替代圆锥</a:t>
            </a:r>
            <a:br/>
            <a:r>
              <a:t>1.2-2.5m 半径 · 六方晶系结构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21488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B59B6"/>
                </a:solidFill>
              </a:defRPr>
            </a:pPr>
            <a:r>
              <a:t>↗ 法线对齐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aimConstraint 精确对齐面法线</a:t>
            </a:r>
            <a:br/>
            <a:r>
              <a:t>替代手写欧拉角 · 避免 gimbal 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566160" cy="21488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7AE60"/>
                </a:solidFill>
              </a:defRPr>
            </a:pPr>
            <a:r>
              <a:t>⎈ L-system 分支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三维球面坐标方位角+仰角</a:t>
            </a:r>
            <a:br/>
            <a:r>
              <a:t>3-8根侧生晶体/主晶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69080"/>
            <a:ext cx="3566160" cy="21488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9C12"/>
                </a:solidFill>
              </a:defRPr>
            </a:pPr>
            <a:r>
              <a:t>⚓ 根部嵌入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12% 嵌入消除悬浮</a:t>
            </a:r>
            <a:br/>
            <a:r>
              <a:t>底部 1.3x 径向扩展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069080"/>
            <a:ext cx="3566160" cy="21488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251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74C3C"/>
                </a:solidFill>
              </a:defRPr>
            </a:pPr>
            <a:r>
              <a:t>◇ 粗细渐变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8920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主体粗(1.2-2.5m)→尖端细(0.92x)</a:t>
            </a:r>
            <a:br/>
            <a:r>
              <a:t>polyBevel 棱边倒角 · 10种独立IOR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材质与灯光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10种宝石 Arnold aiStandardSurface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Subsurface 次表面散射 (weight=0.8)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140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Transmission 半透光玻璃 (0.6, depth=3.0)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95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Coat 薄膜彩虹高光 (0.35, roughness=0.02)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649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Dispersion 色散 (Abbe=45)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Emission 晶体自发光 (0.35)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15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10种独立 IOR (1.43~1.77)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914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aiNoise 3D云雾包裹纹理 → subsurfaceColor</a:t>
            </a:r>
          </a:p>
        </p:txBody>
      </p:sp>
      <p:pic>
        <p:nvPicPr>
          <p:cNvPr id="12" name="Picture 11" descr="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760720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4389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aiSkyDomeLight 暗紫环境光 (1.2)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Key 暖金定向光 (120, -45°)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Rim 冷蓝背光 (25, 135°)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20 Crystal Glows (800-1600, 无衰减)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aiAtmosphereVolume (density=0.008)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120 暖色半透明尘埃 · DOF f/3.2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94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✦ ai_exposure=3.0 · 35mm 广角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交互 GUI — Maya 内嵌可视化窗口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029200" cy="4754880"/>
          </a:xfrm>
          <a:prstGeom prst="roundRect">
            <a:avLst/>
          </a:prstGeom>
          <a:solidFill>
            <a:srgbClr val="0A0A20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</a:defRPr>
            </a:pPr>
            <a:r>
              <a:t>Crystal Cavern v10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</a:defRPr>
            </a:pPr>
            <a:r>
              <a:t>━ Terrain ━ Crystals ━ Lighting ━ Render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Seed: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Roughness: 0.45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Size: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Wall Height: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Ceiling: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Density: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Variance: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Color Seed: 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Type Mix: Mixed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Ambient: 0.06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Fog: 0.008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Dust: 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Crystal Lights: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Resolution: 1920×1080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▬ AA: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35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[ Generate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77799"/>
                </a:solidFill>
              </a:defRPr>
            </a:pPr>
            <a:r>
              <a:t>[ Reset ]  [ Render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554480"/>
            <a:ext cx="2834640" cy="14630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</a:defRPr>
            </a:pPr>
            <a:r>
              <a:t>4 标签页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148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Terrain/Crystals/</a:t>
            </a:r>
            <a:br/>
            <a:r>
              <a:t>Lighting/Render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1554480"/>
            <a:ext cx="2834640" cy="14630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59B6"/>
                </a:solidFill>
              </a:defRPr>
            </a:pPr>
            <a:r>
              <a:t>16 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148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全部可视化滑块</a:t>
            </a:r>
            <a:br/>
            <a:r>
              <a:t>无需修改代码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246120"/>
            <a:ext cx="2834640" cy="14630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</a:defRPr>
            </a:pPr>
            <a:r>
              <a:t>一键生成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30秒完成全部</a:t>
            </a:r>
            <a:br/>
            <a:r>
              <a:t>6个阶段管线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3246120"/>
            <a:ext cx="2834640" cy="14630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3383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</a:defRPr>
            </a:pPr>
            <a:r>
              <a:t>一键渲染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8404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Arnold Render</a:t>
            </a:r>
            <a:br/>
            <a:r>
              <a:t>直接输出 EXR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4937760"/>
            <a:ext cx="2834640" cy="146304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074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可复现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5321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同 seed = 相同洞穴</a:t>
            </a:r>
            <a:br/>
            <a:r>
              <a:t>改参数 = 新洞穴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最终渲染成果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6692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754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</a:defRPr>
            </a:pPr>
            <a:r>
              <a:t>Scene 1: 紫水晶洞穴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99"/>
                </a:solidFill>
              </a:defRPr>
            </a:pPr>
            <a:r>
              <a:t>seed=2026 · 56 crystals · roughness=0.45</a:t>
            </a:r>
          </a:p>
        </p:txBody>
      </p:sp>
      <p:pic>
        <p:nvPicPr>
          <p:cNvPr id="7" name="Picture 6" descr="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7548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</a:defRPr>
            </a:pPr>
            <a:r>
              <a:t>Scene 2: 红宝石洞穴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029200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7799"/>
                </a:solidFill>
              </a:defRPr>
            </a:pPr>
            <a:r>
              <a:t>seed=7777 · 56 crystals · roughness=0.55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486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</a:defRPr>
            </a:pPr>
            <a:r>
              <a:t>1920×1080 Arnold EXR  |  每组参数生成完全不同的洞穴  |  9.7MB / 8.8MB 渲染图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动画成果 — 飞越 + 生长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5486400" cy="45720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</a:defRPr>
            </a:pPr>
            <a:r>
              <a:t>960 帧飞越动画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动态相机路径 — 根据晶体位置自适应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6 个关键帧 spline 插值 · 32 秒 (30fps)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入口俯冲 → 紧贴晶体群掠过 → 全景上升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DOF 景深 f/3.2 · 35mm · 平滑样条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每个 seed 生成不同的飞行路径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1010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7AE60"/>
                </a:solidFill>
              </a:defRPr>
            </a:pPr>
            <a:r>
              <a:t>56 颗晶体生长动画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Scale 0→1 — 从裸岩长出成熟晶簇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每颗错开启动帧 (spread 200 frames)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生长周期 520 帧/颗 · 线性入 spline 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模拟天然矿物结晶过程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80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✦ 0 帧 = 裸岩壁 · 720 帧 = 完整晶簇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工具使用 · 评估标准对照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FF"/>
                </a:solidFill>
              </a:defRPr>
            </a:pPr>
            <a:r>
              <a:t>AI 工具使用记录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算法设计 · 代码生成 · 迭代优化 · 全模块重构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Claude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697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Maya 直接操控 · 28技能 · 场景构建 · 调试诊断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2918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算法选型 · 论文引用核实 · API 查询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77799"/>
                </a:solidFill>
              </a:defRPr>
            </a:pPr>
            <a:r>
              <a:t>声明：AI 是实现工具而非创作主体。所有代码经 Maya 实机验证，设计决策（晶体形态、颜色方案、</a:t>
            </a:r>
            <a:br/>
            <a:r>
              <a:t>相机路径、参数范围）由作者做出。完整 AI 使用日志及提示词记录已保存。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9B59B6"/>
                </a:solidFill>
              </a:defRPr>
            </a:pPr>
            <a:r>
              <a:t>评估标准对照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✓ 算法复杂度 — 4个已发表算法，规范引用文献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✓ 代码质量 — 7模块 docstring · 函数注释完整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✓ GUI — 4标签页16参数 · 一键生成+渲染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✓ 视觉表现 — Arnold SSS+体积雾+三层布光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✓ 创新性 — 矿物生成 · 六棱柱创新 · 云雾纹理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✓ AI伦理 — 完整使用日志 · 边界声明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2743200"/>
            <a:ext cx="9144000" cy="11887200"/>
          </a:xfrm>
          <a:prstGeom prst="ellipse">
            <a:avLst/>
          </a:prstGeom>
          <a:solidFill>
            <a:srgbClr val="12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BBEE"/>
                </a:solidFill>
              </a:defRPr>
            </a:pPr>
            <a:r>
              <a:t>Crystal Cavern — Python 驱动 Maya 程序化水晶洞穴生成系统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</a:defRPr>
            </a:pPr>
            <a:r>
              <a:t>未来创新设计 · 浙江大学 2026 · Prof. Xiaosong Yang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