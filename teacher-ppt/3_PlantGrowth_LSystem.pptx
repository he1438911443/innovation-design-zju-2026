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tmp" ContentType="image/p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6"/>
  </p:notesMasterIdLst>
  <p:sldIdLst>
    <p:sldId id="256" r:id="rId2"/>
    <p:sldId id="419" r:id="rId3"/>
    <p:sldId id="450" r:id="rId4"/>
    <p:sldId id="454" r:id="rId5"/>
    <p:sldId id="429" r:id="rId6"/>
    <p:sldId id="430" r:id="rId7"/>
    <p:sldId id="431" r:id="rId8"/>
    <p:sldId id="432" r:id="rId9"/>
    <p:sldId id="435" r:id="rId10"/>
    <p:sldId id="455" r:id="rId11"/>
    <p:sldId id="433" r:id="rId12"/>
    <p:sldId id="456" r:id="rId13"/>
    <p:sldId id="434" r:id="rId14"/>
    <p:sldId id="436" r:id="rId15"/>
    <p:sldId id="437" r:id="rId16"/>
    <p:sldId id="438" r:id="rId17"/>
    <p:sldId id="428" r:id="rId18"/>
    <p:sldId id="439" r:id="rId19"/>
    <p:sldId id="440" r:id="rId20"/>
    <p:sldId id="441" r:id="rId21"/>
    <p:sldId id="442" r:id="rId22"/>
    <p:sldId id="443" r:id="rId23"/>
    <p:sldId id="444" r:id="rId24"/>
    <p:sldId id="445" r:id="rId25"/>
    <p:sldId id="446" r:id="rId26"/>
    <p:sldId id="447" r:id="rId27"/>
    <p:sldId id="448" r:id="rId28"/>
    <p:sldId id="457" r:id="rId29"/>
    <p:sldId id="458" r:id="rId30"/>
    <p:sldId id="459" r:id="rId31"/>
    <p:sldId id="460" r:id="rId32"/>
    <p:sldId id="451" r:id="rId33"/>
    <p:sldId id="453" r:id="rId34"/>
    <p:sldId id="452" r:id="rId3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5664" autoAdjust="0"/>
  </p:normalViewPr>
  <p:slideViewPr>
    <p:cSldViewPr>
      <p:cViewPr varScale="1">
        <p:scale>
          <a:sx n="94" d="100"/>
          <a:sy n="94" d="100"/>
        </p:scale>
        <p:origin x="2016" y="8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5631FE1-05A6-475E-BD1E-FE173D0BEAA4}" type="datetimeFigureOut">
              <a:rPr lang="en-GB" smtClean="0"/>
              <a:t>24/02/2024</a:t>
            </a:fld>
            <a:endParaRPr lang="en-GB"/>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4824D8B-85A7-4112-A38D-0AAAF68BB87B}" type="slidenum">
              <a:rPr lang="en-GB" smtClean="0"/>
              <a:t>‹#›</a:t>
            </a:fld>
            <a:endParaRPr lang="en-GB"/>
          </a:p>
        </p:txBody>
      </p:sp>
    </p:spTree>
    <p:extLst>
      <p:ext uri="{BB962C8B-B14F-4D97-AF65-F5344CB8AC3E}">
        <p14:creationId xmlns:p14="http://schemas.microsoft.com/office/powerpoint/2010/main" val="378546307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l-GR" dirty="0"/>
              <a:t>δ</a:t>
            </a:r>
            <a:r>
              <a:rPr lang="en-GB" dirty="0"/>
              <a:t>delta</a:t>
            </a:r>
          </a:p>
        </p:txBody>
      </p:sp>
      <p:sp>
        <p:nvSpPr>
          <p:cNvPr id="4" name="Slide Number Placeholder 3"/>
          <p:cNvSpPr>
            <a:spLocks noGrp="1"/>
          </p:cNvSpPr>
          <p:nvPr>
            <p:ph type="sldNum" sz="quarter" idx="5"/>
          </p:nvPr>
        </p:nvSpPr>
        <p:spPr/>
        <p:txBody>
          <a:bodyPr/>
          <a:lstStyle/>
          <a:p>
            <a:fld id="{74824D8B-85A7-4112-A38D-0AAAF68BB87B}" type="slidenum">
              <a:rPr lang="en-GB" smtClean="0"/>
              <a:t>3</a:t>
            </a:fld>
            <a:endParaRPr lang="en-GB"/>
          </a:p>
        </p:txBody>
      </p:sp>
    </p:spTree>
    <p:extLst>
      <p:ext uri="{BB962C8B-B14F-4D97-AF65-F5344CB8AC3E}">
        <p14:creationId xmlns:p14="http://schemas.microsoft.com/office/powerpoint/2010/main" val="413814698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14" name="Title 13"/>
          <p:cNvSpPr>
            <a:spLocks noGrp="1"/>
          </p:cNvSpPr>
          <p:nvPr>
            <p:ph type="ctrTitle"/>
          </p:nvPr>
        </p:nvSpPr>
        <p:spPr>
          <a:xfrm>
            <a:off x="1432560" y="359898"/>
            <a:ext cx="7406640" cy="1472184"/>
          </a:xfrm>
        </p:spPr>
        <p:txBody>
          <a:bodyPr anchor="b"/>
          <a:lstStyle>
            <a:lvl1pPr algn="l">
              <a:defRPr/>
            </a:lvl1pPr>
            <a:extLst/>
          </a:lstStyle>
          <a:p>
            <a:r>
              <a:rPr kumimoji="0" lang="en-US"/>
              <a:t>Click to edit Master title style</a:t>
            </a:r>
          </a:p>
        </p:txBody>
      </p:sp>
      <p:sp>
        <p:nvSpPr>
          <p:cNvPr id="22" name="Subtitle 21"/>
          <p:cNvSpPr>
            <a:spLocks noGrp="1"/>
          </p:cNvSpPr>
          <p:nvPr>
            <p:ph type="subTitle" idx="1"/>
          </p:nvPr>
        </p:nvSpPr>
        <p:spPr>
          <a:xfrm>
            <a:off x="1432560" y="1850064"/>
            <a:ext cx="7406640" cy="1752600"/>
          </a:xfrm>
        </p:spPr>
        <p:txBody>
          <a:bodyPr tIns="0"/>
          <a:lstStyle>
            <a:lvl1pPr marL="27432" indent="0" algn="l">
              <a:buNone/>
              <a:defRPr sz="2600">
                <a:solidFill>
                  <a:schemeClr val="tx2">
                    <a:shade val="30000"/>
                    <a:satMod val="150000"/>
                  </a:schemeClr>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en-US"/>
              <a:t>Click to edit Master subtitle style</a:t>
            </a:r>
          </a:p>
        </p:txBody>
      </p:sp>
      <p:sp>
        <p:nvSpPr>
          <p:cNvPr id="7" name="Date Placeholder 6"/>
          <p:cNvSpPr>
            <a:spLocks noGrp="1"/>
          </p:cNvSpPr>
          <p:nvPr>
            <p:ph type="dt" sz="half" idx="10"/>
          </p:nvPr>
        </p:nvSpPr>
        <p:spPr/>
        <p:txBody>
          <a:bodyPr/>
          <a:lstStyle/>
          <a:p>
            <a:fld id="{1D8BD707-D9CF-40AE-B4C6-C98DA3205C09}" type="datetimeFigureOut">
              <a:rPr lang="en-US" smtClean="0"/>
              <a:pPr/>
              <a:t>2/24/2024</a:t>
            </a:fld>
            <a:endParaRPr lang="en-US"/>
          </a:p>
        </p:txBody>
      </p:sp>
      <p:sp>
        <p:nvSpPr>
          <p:cNvPr id="20" name="Footer Placeholder 19"/>
          <p:cNvSpPr>
            <a:spLocks noGrp="1"/>
          </p:cNvSpPr>
          <p:nvPr>
            <p:ph type="ftr" sz="quarter" idx="11"/>
          </p:nvPr>
        </p:nvSpPr>
        <p:spPr/>
        <p:txBody>
          <a:bodyPr/>
          <a:lstStyle/>
          <a:p>
            <a:endParaRPr lang="en-US"/>
          </a:p>
        </p:txBody>
      </p:sp>
      <p:sp>
        <p:nvSpPr>
          <p:cNvPr id="10" name="Slide Number Placeholder 9"/>
          <p:cNvSpPr>
            <a:spLocks noGrp="1"/>
          </p:cNvSpPr>
          <p:nvPr>
            <p:ph type="sldNum" sz="quarter" idx="12"/>
          </p:nvPr>
        </p:nvSpPr>
        <p:spPr/>
        <p:txBody>
          <a:bodyPr/>
          <a:lstStyle/>
          <a:p>
            <a:fld id="{B6F15528-21DE-4FAA-801E-634DDDAF4B2B}" type="slidenum">
              <a:rPr lang="en-US" smtClean="0"/>
              <a:pPr/>
              <a:t>‹#›</a:t>
            </a:fld>
            <a:endParaRPr lang="en-US"/>
          </a:p>
        </p:txBody>
      </p:sp>
      <p:sp>
        <p:nvSpPr>
          <p:cNvPr id="8" name="Oval 7"/>
          <p:cNvSpPr/>
          <p:nvPr/>
        </p:nvSpPr>
        <p:spPr>
          <a:xfrm>
            <a:off x="921433" y="1413802"/>
            <a:ext cx="210312" cy="210312"/>
          </a:xfrm>
          <a:prstGeom prst="ellipse">
            <a:avLst/>
          </a:prstGeom>
          <a:gradFill rotWithShape="1">
            <a:gsLst>
              <a:gs pos="0">
                <a:schemeClr val="accent1">
                  <a:tint val="20000"/>
                  <a:satMod val="450000"/>
                  <a:alpha val="95000"/>
                </a:schemeClr>
              </a:gs>
              <a:gs pos="50000">
                <a:schemeClr val="accent1">
                  <a:tint val="38000"/>
                  <a:satMod val="250000"/>
                  <a:alpha val="90000"/>
                </a:schemeClr>
              </a:gs>
              <a:gs pos="95000">
                <a:schemeClr val="accent1">
                  <a:tint val="75000"/>
                  <a:satMod val="255000"/>
                  <a:alpha val="88000"/>
                </a:schemeClr>
              </a:gs>
              <a:gs pos="100000">
                <a:schemeClr val="accent1">
                  <a:tint val="100000"/>
                  <a:shade val="90000"/>
                  <a:satMod val="255000"/>
                  <a:alpha val="85000"/>
                </a:schemeClr>
              </a:gs>
            </a:gsLst>
            <a:path path="circle">
              <a:fillToRect l="25000" t="12500" r="75000" b="87500"/>
            </a:path>
          </a:gradFill>
          <a:ln w="2000" cap="rnd" cmpd="sng" algn="ctr">
            <a:solidFill>
              <a:schemeClr val="accent1">
                <a:shade val="90000"/>
                <a:satMod val="110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eaLnBrk="1" latinLnBrk="0" hangingPunct="1"/>
            <a:endParaRPr kumimoji="0" lang="en-US"/>
          </a:p>
        </p:txBody>
      </p:sp>
      <p:sp>
        <p:nvSpPr>
          <p:cNvPr id="9" name="Oval 8"/>
          <p:cNvSpPr/>
          <p:nvPr/>
        </p:nvSpPr>
        <p:spPr>
          <a:xfrm>
            <a:off x="1157176" y="1345016"/>
            <a:ext cx="64008" cy="64008"/>
          </a:xfrm>
          <a:prstGeom prst="ellipse">
            <a:avLst/>
          </a:prstGeom>
          <a:noFill/>
          <a:ln w="12700" cap="rnd" cmpd="sng" algn="ctr">
            <a:solidFill>
              <a:schemeClr val="accent1">
                <a:shade val="75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eaLnBrk="1" latinLnBrk="0" hangingPunct="1"/>
            <a:endParaRPr kumimoji="0"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Content Placeholder 2"/>
          <p:cNvSpPr>
            <a:spLocks noGrp="1"/>
          </p:cNvSpPr>
          <p:nvPr>
            <p:ph idx="1"/>
          </p:nvPr>
        </p:nvSpPr>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pPr/>
              <a:t>2/24/2024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2282890" y="-54"/>
            <a:ext cx="6858000" cy="6858054"/>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2578392" y="2600325"/>
            <a:ext cx="6400800" cy="2286000"/>
          </a:xfrm>
        </p:spPr>
        <p:txBody>
          <a:bodyPr anchor="t"/>
          <a:lstStyle>
            <a:lvl1pPr algn="l">
              <a:lnSpc>
                <a:spcPts val="4500"/>
              </a:lnSpc>
              <a:buNone/>
              <a:defRPr sz="4000" b="1" cap="all"/>
            </a:lvl1pPr>
            <a:extLst/>
          </a:lstStyle>
          <a:p>
            <a:r>
              <a:rPr kumimoji="0" lang="en-US"/>
              <a:t>Click to edit Master title style</a:t>
            </a:r>
          </a:p>
        </p:txBody>
      </p:sp>
      <p:sp>
        <p:nvSpPr>
          <p:cNvPr id="3" name="Text Placeholder 2"/>
          <p:cNvSpPr>
            <a:spLocks noGrp="1"/>
          </p:cNvSpPr>
          <p:nvPr>
            <p:ph type="body" idx="1"/>
          </p:nvPr>
        </p:nvSpPr>
        <p:spPr>
          <a:xfrm>
            <a:off x="2578392" y="1066800"/>
            <a:ext cx="6400800" cy="1509712"/>
          </a:xfrm>
        </p:spPr>
        <p:txBody>
          <a:bodyPr anchor="b"/>
          <a:lstStyle>
            <a:lvl1pPr marL="18288" indent="0">
              <a:lnSpc>
                <a:spcPts val="2300"/>
              </a:lnSpc>
              <a:spcBef>
                <a:spcPts val="0"/>
              </a:spcBef>
              <a:buNone/>
              <a:defRPr sz="2000">
                <a:solidFill>
                  <a:schemeClr val="tx2">
                    <a:shade val="30000"/>
                    <a:satMod val="150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2/24/2024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
        <p:nvSpPr>
          <p:cNvPr id="10" name="Rectangle 9"/>
          <p:cNvSpPr/>
          <p:nvPr/>
        </p:nvSpPr>
        <p:spPr bwMode="invGray">
          <a:xfrm>
            <a:off x="2286000" y="0"/>
            <a:ext cx="76200"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Oval 7"/>
          <p:cNvSpPr/>
          <p:nvPr/>
        </p:nvSpPr>
        <p:spPr>
          <a:xfrm>
            <a:off x="2172321" y="2814656"/>
            <a:ext cx="210312" cy="210312"/>
          </a:xfrm>
          <a:prstGeom prst="ellipse">
            <a:avLst/>
          </a:prstGeom>
          <a:gradFill rotWithShape="1">
            <a:gsLst>
              <a:gs pos="0">
                <a:schemeClr val="accent1">
                  <a:tint val="20000"/>
                  <a:satMod val="450000"/>
                  <a:alpha val="95000"/>
                </a:schemeClr>
              </a:gs>
              <a:gs pos="50000">
                <a:schemeClr val="accent1">
                  <a:tint val="38000"/>
                  <a:satMod val="250000"/>
                  <a:alpha val="90000"/>
                </a:schemeClr>
              </a:gs>
              <a:gs pos="95000">
                <a:schemeClr val="accent1">
                  <a:tint val="75000"/>
                  <a:satMod val="255000"/>
                  <a:alpha val="88000"/>
                </a:schemeClr>
              </a:gs>
              <a:gs pos="100000">
                <a:schemeClr val="accent1">
                  <a:tint val="100000"/>
                  <a:shade val="90000"/>
                  <a:satMod val="255000"/>
                  <a:alpha val="85000"/>
                </a:schemeClr>
              </a:gs>
            </a:gsLst>
            <a:path path="circle">
              <a:fillToRect l="25000" t="12500" r="75000" b="87500"/>
            </a:path>
          </a:gradFill>
          <a:ln w="2000" cap="rnd" cmpd="sng" algn="ctr">
            <a:solidFill>
              <a:schemeClr val="accent1">
                <a:shade val="90000"/>
                <a:satMod val="110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eaLnBrk="1" latinLnBrk="0" hangingPunct="1"/>
            <a:endParaRPr kumimoji="0" lang="en-US"/>
          </a:p>
        </p:txBody>
      </p:sp>
      <p:sp>
        <p:nvSpPr>
          <p:cNvPr id="9" name="Oval 8"/>
          <p:cNvSpPr/>
          <p:nvPr/>
        </p:nvSpPr>
        <p:spPr>
          <a:xfrm>
            <a:off x="2408064" y="2745870"/>
            <a:ext cx="64008" cy="64008"/>
          </a:xfrm>
          <a:prstGeom prst="ellipse">
            <a:avLst/>
          </a:prstGeom>
          <a:noFill/>
          <a:ln w="12700" cap="rnd" cmpd="sng" algn="ctr">
            <a:solidFill>
              <a:schemeClr val="accent1">
                <a:shade val="75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eaLnBrk="1" latinLnBrk="0" hangingPunct="1"/>
            <a:endParaRPr kumimoji="0"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35608" y="274320"/>
            <a:ext cx="7498080" cy="1143000"/>
          </a:xfrm>
        </p:spPr>
        <p:txBody>
          <a:bodyPr/>
          <a:lstStyle/>
          <a:p>
            <a:r>
              <a:rPr kumimoji="0" lang="en-US"/>
              <a:t>Click to edit Master title style</a:t>
            </a:r>
          </a:p>
        </p:txBody>
      </p:sp>
      <p:sp>
        <p:nvSpPr>
          <p:cNvPr id="3" name="Content Placeholder 2"/>
          <p:cNvSpPr>
            <a:spLocks noGrp="1"/>
          </p:cNvSpPr>
          <p:nvPr>
            <p:ph sz="half" idx="1"/>
          </p:nvPr>
        </p:nvSpPr>
        <p:spPr>
          <a:xfrm>
            <a:off x="1435608" y="1524000"/>
            <a:ext cx="3657600" cy="4663440"/>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Content Placeholder 3"/>
          <p:cNvSpPr>
            <a:spLocks noGrp="1"/>
          </p:cNvSpPr>
          <p:nvPr>
            <p:ph sz="half" idx="2"/>
          </p:nvPr>
        </p:nvSpPr>
        <p:spPr>
          <a:xfrm>
            <a:off x="5276088" y="1524000"/>
            <a:ext cx="3657600" cy="4663440"/>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1D8BD707-D9CF-40AE-B4C6-C98DA3205C09}" type="datetimeFigureOut">
              <a:rPr lang="en-US" smtClean="0"/>
              <a:pPr/>
              <a:t>2/24/2024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5160336"/>
            <a:ext cx="8229600" cy="1143000"/>
          </a:xfrm>
        </p:spPr>
        <p:txBody>
          <a:bodyPr anchor="ctr"/>
          <a:lstStyle>
            <a:lvl1pPr algn="ctr">
              <a:defRPr sz="4500" b="1" cap="none" baseline="0"/>
            </a:lvl1pPr>
            <a:extLst/>
          </a:lstStyle>
          <a:p>
            <a:r>
              <a:rPr kumimoji="0" lang="en-US"/>
              <a:t>Click to edit Master title style</a:t>
            </a:r>
          </a:p>
        </p:txBody>
      </p:sp>
      <p:sp>
        <p:nvSpPr>
          <p:cNvPr id="3" name="Text Placeholder 2"/>
          <p:cNvSpPr>
            <a:spLocks noGrp="1"/>
          </p:cNvSpPr>
          <p:nvPr>
            <p:ph type="body" idx="1"/>
          </p:nvPr>
        </p:nvSpPr>
        <p:spPr>
          <a:xfrm>
            <a:off x="457200" y="328278"/>
            <a:ext cx="4023360" cy="640080"/>
          </a:xfrm>
          <a:solidFill>
            <a:schemeClr val="bg1"/>
          </a:solidFill>
          <a:ln w="10795">
            <a:solidFill>
              <a:schemeClr val="bg1"/>
            </a:solidFill>
            <a:miter lim="800000"/>
          </a:ln>
        </p:spPr>
        <p:txBody>
          <a:bodyPr anchor="ctr"/>
          <a:lstStyle>
            <a:lvl1pPr marL="64008" indent="0" algn="l">
              <a:lnSpc>
                <a:spcPct val="100000"/>
              </a:lnSpc>
              <a:spcBef>
                <a:spcPts val="100"/>
              </a:spcBef>
              <a:buNone/>
              <a:defRPr sz="1900" b="0">
                <a:solidFill>
                  <a:schemeClr val="tx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4663440" y="328278"/>
            <a:ext cx="4023360" cy="640080"/>
          </a:xfrm>
          <a:solidFill>
            <a:schemeClr val="bg1"/>
          </a:solidFill>
          <a:ln w="10795">
            <a:solidFill>
              <a:schemeClr val="bg1"/>
            </a:solidFill>
            <a:miter lim="800000"/>
          </a:ln>
        </p:spPr>
        <p:txBody>
          <a:bodyPr anchor="ctr"/>
          <a:lstStyle>
            <a:lvl1pPr marL="64008" indent="0" algn="l">
              <a:lnSpc>
                <a:spcPct val="100000"/>
              </a:lnSpc>
              <a:spcBef>
                <a:spcPts val="100"/>
              </a:spcBef>
              <a:buNone/>
              <a:defRPr sz="1900" b="0">
                <a:solidFill>
                  <a:schemeClr val="tx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a:t>Click to edit Master text styles</a:t>
            </a:r>
          </a:p>
        </p:txBody>
      </p:sp>
      <p:sp>
        <p:nvSpPr>
          <p:cNvPr id="5" name="Content Placeholder 4"/>
          <p:cNvSpPr>
            <a:spLocks noGrp="1"/>
          </p:cNvSpPr>
          <p:nvPr>
            <p:ph sz="quarter" idx="2"/>
          </p:nvPr>
        </p:nvSpPr>
        <p:spPr>
          <a:xfrm>
            <a:off x="457200" y="969336"/>
            <a:ext cx="4023360" cy="4114800"/>
          </a:xfrm>
          <a:ln w="10795">
            <a:solidFill>
              <a:schemeClr val="bg1"/>
            </a:solidFill>
            <a:prstDash val="dash"/>
            <a:miter lim="800000"/>
          </a:ln>
        </p:spPr>
        <p:txBody>
          <a:bodyPr/>
          <a:lstStyle>
            <a:lvl1pPr marL="393192" indent="-274320">
              <a:lnSpc>
                <a:spcPct val="100000"/>
              </a:lnSpc>
              <a:spcBef>
                <a:spcPts val="700"/>
              </a:spcBef>
              <a:defRPr sz="2400"/>
            </a:lvl1pPr>
            <a:lvl2pPr>
              <a:lnSpc>
                <a:spcPct val="100000"/>
              </a:lnSpc>
              <a:spcBef>
                <a:spcPts val="700"/>
              </a:spcBef>
              <a:defRPr sz="2000"/>
            </a:lvl2pPr>
            <a:lvl3pPr>
              <a:lnSpc>
                <a:spcPct val="100000"/>
              </a:lnSpc>
              <a:spcBef>
                <a:spcPts val="700"/>
              </a:spcBef>
              <a:defRPr sz="1800"/>
            </a:lvl3pPr>
            <a:lvl4pPr>
              <a:lnSpc>
                <a:spcPct val="100000"/>
              </a:lnSpc>
              <a:spcBef>
                <a:spcPts val="700"/>
              </a:spcBef>
              <a:defRPr sz="1600"/>
            </a:lvl4pPr>
            <a:lvl5pPr>
              <a:lnSpc>
                <a:spcPct val="100000"/>
              </a:lnSpc>
              <a:spcBef>
                <a:spcPts val="700"/>
              </a:spcBef>
              <a:defRPr sz="16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6" name="Content Placeholder 5"/>
          <p:cNvSpPr>
            <a:spLocks noGrp="1"/>
          </p:cNvSpPr>
          <p:nvPr>
            <p:ph sz="quarter" idx="4"/>
          </p:nvPr>
        </p:nvSpPr>
        <p:spPr>
          <a:xfrm>
            <a:off x="4663440" y="969336"/>
            <a:ext cx="4023360" cy="4114800"/>
          </a:xfrm>
          <a:ln w="10795">
            <a:solidFill>
              <a:schemeClr val="bg1"/>
            </a:solidFill>
            <a:prstDash val="dash"/>
            <a:miter lim="800000"/>
          </a:ln>
        </p:spPr>
        <p:txBody>
          <a:bodyPr/>
          <a:lstStyle>
            <a:lvl1pPr marL="393192" indent="-274320">
              <a:lnSpc>
                <a:spcPct val="100000"/>
              </a:lnSpc>
              <a:spcBef>
                <a:spcPts val="700"/>
              </a:spcBef>
              <a:defRPr sz="2400"/>
            </a:lvl1pPr>
            <a:lvl2pPr>
              <a:lnSpc>
                <a:spcPct val="100000"/>
              </a:lnSpc>
              <a:spcBef>
                <a:spcPts val="700"/>
              </a:spcBef>
              <a:defRPr sz="2000"/>
            </a:lvl2pPr>
            <a:lvl3pPr>
              <a:lnSpc>
                <a:spcPct val="100000"/>
              </a:lnSpc>
              <a:spcBef>
                <a:spcPts val="700"/>
              </a:spcBef>
              <a:defRPr sz="1800"/>
            </a:lvl3pPr>
            <a:lvl4pPr>
              <a:lnSpc>
                <a:spcPct val="100000"/>
              </a:lnSpc>
              <a:spcBef>
                <a:spcPts val="700"/>
              </a:spcBef>
              <a:defRPr sz="1600"/>
            </a:lvl4pPr>
            <a:lvl5pPr>
              <a:lnSpc>
                <a:spcPct val="100000"/>
              </a:lnSpc>
              <a:spcBef>
                <a:spcPts val="700"/>
              </a:spcBef>
              <a:defRPr sz="16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7" name="Date Placeholder 6"/>
          <p:cNvSpPr>
            <a:spLocks noGrp="1"/>
          </p:cNvSpPr>
          <p:nvPr>
            <p:ph type="dt" sz="half" idx="10"/>
          </p:nvPr>
        </p:nvSpPr>
        <p:spPr/>
        <p:txBody>
          <a:bodyPr/>
          <a:lstStyle/>
          <a:p>
            <a:fld id="{1D8BD707-D9CF-40AE-B4C6-C98DA3205C09}" type="datetimeFigureOut">
              <a:rPr lang="en-US" smtClean="0"/>
              <a:pPr/>
              <a:t>2/24/2024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435608" y="274320"/>
            <a:ext cx="7498080" cy="1143000"/>
          </a:xfrm>
        </p:spPr>
        <p:txBody>
          <a:bodyPr anchor="ctr"/>
          <a:lstStyle/>
          <a:p>
            <a:r>
              <a:rPr kumimoji="0"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2/24/2024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1014984" y="0"/>
            <a:ext cx="8129016" cy="6858000"/>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Date Placeholder 1"/>
          <p:cNvSpPr>
            <a:spLocks noGrp="1"/>
          </p:cNvSpPr>
          <p:nvPr>
            <p:ph type="dt" sz="half" idx="10"/>
          </p:nvPr>
        </p:nvSpPr>
        <p:spPr/>
        <p:txBody>
          <a:bodyPr/>
          <a:lstStyle/>
          <a:p>
            <a:fld id="{1D8BD707-D9CF-40AE-B4C6-C98DA3205C09}" type="datetimeFigureOut">
              <a:rPr lang="en-US" smtClean="0"/>
              <a:pPr/>
              <a:t>2/24/2024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
        <p:nvSpPr>
          <p:cNvPr id="6" name="Rectangle 5"/>
          <p:cNvSpPr/>
          <p:nvPr/>
        </p:nvSpPr>
        <p:spPr bwMode="invGray">
          <a:xfrm>
            <a:off x="1014984" y="-54"/>
            <a:ext cx="73152"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16778"/>
            <a:ext cx="3810000" cy="1162050"/>
          </a:xfrm>
          <a:ln>
            <a:noFill/>
          </a:ln>
        </p:spPr>
        <p:txBody>
          <a:bodyPr anchor="b"/>
          <a:lstStyle>
            <a:lvl1pPr algn="l">
              <a:lnSpc>
                <a:spcPts val="2000"/>
              </a:lnSpc>
              <a:buNone/>
              <a:defRPr sz="2200" b="1" cap="all" baseline="0"/>
            </a:lvl1pPr>
            <a:extLst/>
          </a:lstStyle>
          <a:p>
            <a:r>
              <a:rPr kumimoji="0" lang="en-US"/>
              <a:t>Click to edit Master title style</a:t>
            </a:r>
          </a:p>
        </p:txBody>
      </p:sp>
      <p:sp>
        <p:nvSpPr>
          <p:cNvPr id="3" name="Text Placeholder 2"/>
          <p:cNvSpPr>
            <a:spLocks noGrp="1"/>
          </p:cNvSpPr>
          <p:nvPr>
            <p:ph type="body" idx="2"/>
          </p:nvPr>
        </p:nvSpPr>
        <p:spPr>
          <a:xfrm>
            <a:off x="457200" y="1406964"/>
            <a:ext cx="3810000" cy="698500"/>
          </a:xfrm>
        </p:spPr>
        <p:txBody>
          <a:bodyPr/>
          <a:lstStyle>
            <a:lvl1pPr marL="45720" indent="0">
              <a:lnSpc>
                <a:spcPct val="100000"/>
              </a:lnSpc>
              <a:spcBef>
                <a:spcPts val="0"/>
              </a:spcBef>
              <a:buNone/>
              <a:defRPr sz="1400"/>
            </a:lvl1pPr>
            <a:lvl2pPr>
              <a:buNone/>
              <a:defRPr sz="1200"/>
            </a:lvl2pPr>
            <a:lvl3pPr>
              <a:buNone/>
              <a:defRPr sz="1000"/>
            </a:lvl3pPr>
            <a:lvl4pPr>
              <a:buNone/>
              <a:defRPr sz="900"/>
            </a:lvl4pPr>
            <a:lvl5pPr>
              <a:buNone/>
              <a:defRPr sz="900"/>
            </a:lvl5pPr>
            <a:extLst/>
          </a:lstStyle>
          <a:p>
            <a:pPr lvl="0" eaLnBrk="1" latinLnBrk="0" hangingPunct="1"/>
            <a:r>
              <a:rPr kumimoji="0" lang="en-US"/>
              <a:t>Click to edit Master text styles</a:t>
            </a:r>
          </a:p>
        </p:txBody>
      </p:sp>
      <p:sp>
        <p:nvSpPr>
          <p:cNvPr id="4" name="Content Placeholder 3"/>
          <p:cNvSpPr>
            <a:spLocks noGrp="1"/>
          </p:cNvSpPr>
          <p:nvPr>
            <p:ph sz="half" idx="1"/>
          </p:nvPr>
        </p:nvSpPr>
        <p:spPr>
          <a:xfrm>
            <a:off x="457200" y="2133600"/>
            <a:ext cx="8153400" cy="3992563"/>
          </a:xfrm>
        </p:spPr>
        <p:txBody>
          <a:bodyPr/>
          <a:lstStyle>
            <a:lvl1pPr>
              <a:defRPr sz="3200"/>
            </a:lvl1pPr>
            <a:lvl2pPr>
              <a:defRPr sz="2800"/>
            </a:lvl2pPr>
            <a:lvl3pPr>
              <a:defRPr sz="2400"/>
            </a:lvl3pPr>
            <a:lvl4pPr>
              <a:defRPr sz="2000"/>
            </a:lvl4pPr>
            <a:lvl5pPr>
              <a:defRPr sz="20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1D8BD707-D9CF-40AE-B4C6-C98DA3205C09}" type="datetimeFigureOut">
              <a:rPr lang="en-US" smtClean="0"/>
              <a:pPr/>
              <a:t>2/24/2024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86896" y="1066800"/>
            <a:ext cx="2743200" cy="1981200"/>
          </a:xfrm>
        </p:spPr>
        <p:txBody>
          <a:bodyPr anchor="b">
            <a:noAutofit/>
          </a:bodyPr>
          <a:lstStyle>
            <a:lvl1pPr algn="l">
              <a:buNone/>
              <a:defRPr sz="2100" b="1">
                <a:effectLst/>
              </a:defRPr>
            </a:lvl1pPr>
            <a:extLst/>
          </a:lstStyle>
          <a:p>
            <a:r>
              <a:rPr kumimoji="0" lang="en-US"/>
              <a:t>Click to edit Master title style</a:t>
            </a:r>
          </a:p>
        </p:txBody>
      </p:sp>
      <p:sp>
        <p:nvSpPr>
          <p:cNvPr id="5" name="Date Placeholder 4"/>
          <p:cNvSpPr>
            <a:spLocks noGrp="1"/>
          </p:cNvSpPr>
          <p:nvPr>
            <p:ph type="dt" sz="half" idx="10"/>
          </p:nvPr>
        </p:nvSpPr>
        <p:spPr/>
        <p:txBody>
          <a:bodyPr/>
          <a:lstStyle/>
          <a:p>
            <a:fld id="{1D8BD707-D9CF-40AE-B4C6-C98DA3205C09}" type="datetimeFigureOut">
              <a:rPr lang="en-US" smtClean="0"/>
              <a:pPr/>
              <a:t>2/24/2024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
        <p:nvSpPr>
          <p:cNvPr id="8" name="Rectangle 7"/>
          <p:cNvSpPr/>
          <p:nvPr/>
        </p:nvSpPr>
        <p:spPr>
          <a:xfrm>
            <a:off x="762000" y="1066800"/>
            <a:ext cx="4572000" cy="4572000"/>
          </a:xfrm>
          <a:prstGeom prst="rect">
            <a:avLst/>
          </a:prstGeom>
          <a:solidFill>
            <a:srgbClr val="FFFFFF"/>
          </a:solidFill>
          <a:ln w="88900" cap="sq">
            <a:solidFill>
              <a:srgbClr val="FFFFFF"/>
            </a:solidFill>
            <a:miter lim="800000"/>
          </a:ln>
          <a:effectLst>
            <a:outerShdw blurRad="55500" dist="18500" dir="5400000" algn="tl" rotWithShape="0">
              <a:srgbClr val="000000">
                <a:alpha val="35000"/>
              </a:srgbClr>
            </a:outerShdw>
          </a:effectLst>
          <a:scene3d>
            <a:camera prst="orthographicFront"/>
            <a:lightRig rig="twoPt" dir="t">
              <a:rot lat="0" lon="0" rev="7200000"/>
            </a:lightRig>
          </a:scene3d>
          <a:sp3d contourW="635">
            <a:bevelT w="25400" h="19050"/>
            <a:contourClr>
              <a:srgbClr val="969696"/>
            </a:contourClr>
          </a:sp3d>
        </p:spPr>
        <p:txBody>
          <a:bodyPr lIns="91440" tIns="274320" rtlCol="0" anchor="t">
            <a:normAutofit/>
          </a:bodyPr>
          <a:lstStyle/>
          <a:p>
            <a:pPr marL="0" indent="-283464" algn="l" rtl="0" eaLnBrk="1" latinLnBrk="0" hangingPunct="1">
              <a:lnSpc>
                <a:spcPts val="3000"/>
              </a:lnSpc>
              <a:spcBef>
                <a:spcPts val="600"/>
              </a:spcBef>
              <a:buClr>
                <a:schemeClr val="accent1"/>
              </a:buClr>
              <a:buSzPct val="80000"/>
              <a:buFont typeface="Wingdings 2"/>
              <a:buNone/>
            </a:pPr>
            <a:endParaRPr kumimoji="0" lang="en-US" sz="3200" kern="1200">
              <a:solidFill>
                <a:schemeClr val="tx1"/>
              </a:solidFill>
              <a:latin typeface="+mn-lt"/>
              <a:ea typeface="+mn-ea"/>
              <a:cs typeface="+mn-cs"/>
            </a:endParaRPr>
          </a:p>
        </p:txBody>
      </p:sp>
      <p:sp>
        <p:nvSpPr>
          <p:cNvPr id="3" name="Picture Placeholder 2"/>
          <p:cNvSpPr>
            <a:spLocks noGrp="1"/>
          </p:cNvSpPr>
          <p:nvPr>
            <p:ph type="pic" idx="1"/>
          </p:nvPr>
        </p:nvSpPr>
        <p:spPr>
          <a:xfrm>
            <a:off x="838200" y="1143003"/>
            <a:ext cx="4419600" cy="3514531"/>
          </a:xfrm>
          <a:prstGeom prst="roundRect">
            <a:avLst>
              <a:gd name="adj" fmla="val 783"/>
            </a:avLst>
          </a:prstGeom>
          <a:solidFill>
            <a:schemeClr val="bg2"/>
          </a:solidFill>
          <a:ln w="127000">
            <a:noFill/>
            <a:miter lim="800000"/>
          </a:ln>
          <a:effectLst/>
        </p:spPr>
        <p:txBody>
          <a:bodyPr lIns="91440" tIns="274320" anchor="t"/>
          <a:lstStyle>
            <a:lvl1pPr indent="0">
              <a:buNone/>
              <a:defRPr sz="3200"/>
            </a:lvl1pPr>
            <a:extLst/>
          </a:lstStyle>
          <a:p>
            <a:pPr marL="0" algn="l" eaLnBrk="1" latinLnBrk="0" hangingPunct="1"/>
            <a:r>
              <a:rPr kumimoji="0" lang="en-US"/>
              <a:t>Click icon to add picture</a:t>
            </a:r>
          </a:p>
        </p:txBody>
      </p:sp>
      <p:sp>
        <p:nvSpPr>
          <p:cNvPr id="9" name="Flowchart: Process 8"/>
          <p:cNvSpPr/>
          <p:nvPr/>
        </p:nvSpPr>
        <p:spPr>
          <a:xfrm rot="19468671">
            <a:off x="396725" y="954341"/>
            <a:ext cx="685800" cy="204310"/>
          </a:xfrm>
          <a:prstGeom prst="flowChartProcess">
            <a:avLst/>
          </a:prstGeom>
          <a:solidFill>
            <a:srgbClr val="FBFBFB">
              <a:alpha val="45098"/>
            </a:srgbClr>
          </a:solidFill>
          <a:ln w="6350" cap="rnd" cmpd="sng" algn="ctr">
            <a:solidFill>
              <a:srgbClr val="FFFFFF">
                <a:alpha val="100000"/>
              </a:srgbClr>
            </a:solidFill>
            <a:prstDash val="solid"/>
          </a:ln>
          <a:effectLst>
            <a:outerShdw blurRad="25400" dist="25400" dir="3300000" sx="96000" sy="96000" algn="tl" rotWithShape="0">
              <a:schemeClr val="bg2">
                <a:shade val="90000"/>
                <a:satMod val="200000"/>
                <a:alpha val="40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Flowchart: Process 9"/>
          <p:cNvSpPr/>
          <p:nvPr/>
        </p:nvSpPr>
        <p:spPr>
          <a:xfrm rot="2103354" flipH="1">
            <a:off x="5003667" y="936786"/>
            <a:ext cx="649224" cy="204310"/>
          </a:xfrm>
          <a:prstGeom prst="flowChartProcess">
            <a:avLst/>
          </a:prstGeom>
          <a:solidFill>
            <a:srgbClr val="FBFBFB">
              <a:alpha val="45098"/>
            </a:srgbClr>
          </a:solidFill>
          <a:ln w="6350" cap="rnd" cmpd="sng" algn="ctr">
            <a:solidFill>
              <a:srgbClr val="FFFFFF">
                <a:alpha val="100000"/>
              </a:srgbClr>
            </a:solidFill>
            <a:prstDash val="solid"/>
          </a:ln>
          <a:effectLst>
            <a:outerShdw blurRad="25400" dist="25400" dir="3300000" sx="96000" sy="96000" algn="tl" rotWithShape="0">
              <a:schemeClr val="bg2">
                <a:alpha val="20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4" name="Text Placeholder 3"/>
          <p:cNvSpPr>
            <a:spLocks noGrp="1"/>
          </p:cNvSpPr>
          <p:nvPr>
            <p:ph type="body" sz="half" idx="2"/>
          </p:nvPr>
        </p:nvSpPr>
        <p:spPr>
          <a:xfrm>
            <a:off x="838200" y="4800600"/>
            <a:ext cx="4419600" cy="762000"/>
          </a:xfrm>
        </p:spPr>
        <p:txBody>
          <a:bodyPr anchor="ctr"/>
          <a:lstStyle>
            <a:lvl1pPr marL="0" indent="0" algn="l">
              <a:lnSpc>
                <a:spcPts val="1600"/>
              </a:lnSpc>
              <a:spcBef>
                <a:spcPts val="0"/>
              </a:spcBef>
              <a:buNone/>
              <a:defRPr sz="1400">
                <a:solidFill>
                  <a:srgbClr val="777777"/>
                </a:solidFill>
              </a:defRPr>
            </a:lvl1pPr>
            <a:lvl2pPr>
              <a:defRPr sz="1200"/>
            </a:lvl2pPr>
            <a:lvl3pPr>
              <a:defRPr sz="1000"/>
            </a:lvl3pPr>
            <a:lvl4pPr>
              <a:defRPr sz="900"/>
            </a:lvl4pPr>
            <a:lvl5pPr>
              <a:defRPr sz="900"/>
            </a:lvl5pPr>
            <a:extLst/>
          </a:lstStyle>
          <a:p>
            <a:pPr lvl="0" eaLnBrk="1" latinLnBrk="0" hangingPunct="1"/>
            <a:r>
              <a:rPr kumimoji="0" lang="en-US"/>
              <a:t>Click to edit Master text styles</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pPr/>
              <a:t>2/24/2024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58000" y="274639"/>
            <a:ext cx="1828800" cy="5851525"/>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1143000" y="274640"/>
            <a:ext cx="5562600" cy="5851525"/>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pPr/>
              <a:t>2/24/2024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7" name="Pie 6"/>
          <p:cNvSpPr/>
          <p:nvPr/>
        </p:nvSpPr>
        <p:spPr>
          <a:xfrm>
            <a:off x="-815927" y="-815922"/>
            <a:ext cx="1638887" cy="1638887"/>
          </a:xfrm>
          <a:prstGeom prst="pie">
            <a:avLst>
              <a:gd name="adj1" fmla="val 0"/>
              <a:gd name="adj2" fmla="val 5402120"/>
            </a:avLst>
          </a:prstGeom>
          <a:solidFill>
            <a:schemeClr val="bg2">
              <a:tint val="18000"/>
              <a:satMod val="220000"/>
              <a:alpha val="33000"/>
            </a:schemeClr>
          </a:solidFill>
          <a:ln w="3175" cap="rnd" cmpd="sng" algn="ctr">
            <a:solidFill>
              <a:schemeClr val="bg2">
                <a:shade val="70000"/>
                <a:satMod val="200000"/>
                <a:alpha val="100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Oval 7"/>
          <p:cNvSpPr/>
          <p:nvPr/>
        </p:nvSpPr>
        <p:spPr>
          <a:xfrm>
            <a:off x="168816" y="21102"/>
            <a:ext cx="1702191" cy="1702191"/>
          </a:xfrm>
          <a:prstGeom prst="ellipse">
            <a:avLst/>
          </a:prstGeom>
          <a:noFill/>
          <a:ln w="27305" cap="rnd" cmpd="sng" algn="ctr">
            <a:solidFill>
              <a:schemeClr val="bg2">
                <a:tint val="45000"/>
                <a:satMod val="325000"/>
                <a:alpha val="100000"/>
              </a:schemeClr>
            </a:solidFill>
            <a:prstDash val="solid"/>
          </a:ln>
          <a:effectLst>
            <a:outerShdw blurRad="25400" dist="25400" dir="5400000" algn="tl" rotWithShape="0">
              <a:schemeClr val="bg2">
                <a:shade val="50000"/>
                <a:satMod val="150000"/>
                <a:alpha val="8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Donut 10"/>
          <p:cNvSpPr/>
          <p:nvPr/>
        </p:nvSpPr>
        <p:spPr>
          <a:xfrm rot="2315675">
            <a:off x="182881" y="1055077"/>
            <a:ext cx="1125717" cy="1102624"/>
          </a:xfrm>
          <a:prstGeom prst="donut">
            <a:avLst>
              <a:gd name="adj" fmla="val 11833"/>
            </a:avLst>
          </a:prstGeom>
          <a:gradFill rotWithShape="1">
            <a:gsLst>
              <a:gs pos="0">
                <a:schemeClr val="bg2">
                  <a:tint val="10000"/>
                  <a:shade val="99000"/>
                  <a:satMod val="355000"/>
                  <a:alpha val="70000"/>
                </a:schemeClr>
              </a:gs>
              <a:gs pos="70000">
                <a:schemeClr val="bg2">
                  <a:tint val="6000"/>
                  <a:shade val="100000"/>
                  <a:satMod val="400000"/>
                  <a:alpha val="55000"/>
                </a:schemeClr>
              </a:gs>
              <a:gs pos="100000">
                <a:schemeClr val="bg2">
                  <a:tint val="100000"/>
                  <a:shade val="75000"/>
                  <a:satMod val="370000"/>
                  <a:alpha val="60000"/>
                </a:schemeClr>
              </a:gs>
            </a:gsLst>
            <a:path path="circle">
              <a:fillToRect l="-407500" t="-50000" r="507500" b="150000"/>
            </a:path>
          </a:gradFill>
          <a:ln w="7350" cap="rnd" cmpd="sng" algn="ctr">
            <a:solidFill>
              <a:schemeClr val="bg2">
                <a:shade val="60000"/>
                <a:satMod val="220000"/>
                <a:alpha val="100000"/>
              </a:schemeClr>
            </a:solidFill>
            <a:prstDash val="solid"/>
          </a:ln>
          <a:effectLst>
            <a:outerShdw blurRad="12700" dist="15000" dir="4500000" algn="tl" rotWithShape="0">
              <a:schemeClr val="bg2">
                <a:shade val="10000"/>
                <a:satMod val="200000"/>
                <a:alpha val="3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Rectangle 11"/>
          <p:cNvSpPr/>
          <p:nvPr/>
        </p:nvSpPr>
        <p:spPr>
          <a:xfrm>
            <a:off x="1012873" y="-54"/>
            <a:ext cx="8131127" cy="6858054"/>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5" name="Title Placeholder 4"/>
          <p:cNvSpPr>
            <a:spLocks noGrp="1"/>
          </p:cNvSpPr>
          <p:nvPr>
            <p:ph type="title"/>
          </p:nvPr>
        </p:nvSpPr>
        <p:spPr>
          <a:xfrm>
            <a:off x="1435608" y="274638"/>
            <a:ext cx="7498080" cy="1143000"/>
          </a:xfrm>
          <a:prstGeom prst="rect">
            <a:avLst/>
          </a:prstGeom>
        </p:spPr>
        <p:txBody>
          <a:bodyPr anchor="ctr">
            <a:normAutofit/>
          </a:bodyPr>
          <a:lstStyle/>
          <a:p>
            <a:r>
              <a:rPr kumimoji="0" lang="en-US"/>
              <a:t>Click to edit Master title style</a:t>
            </a:r>
          </a:p>
        </p:txBody>
      </p:sp>
      <p:sp>
        <p:nvSpPr>
          <p:cNvPr id="9" name="Text Placeholder 8"/>
          <p:cNvSpPr>
            <a:spLocks noGrp="1"/>
          </p:cNvSpPr>
          <p:nvPr>
            <p:ph type="body" idx="1"/>
          </p:nvPr>
        </p:nvSpPr>
        <p:spPr>
          <a:xfrm>
            <a:off x="1435608" y="1447800"/>
            <a:ext cx="7498080" cy="4800600"/>
          </a:xfrm>
          <a:prstGeom prst="rect">
            <a:avLst/>
          </a:prstGeom>
        </p:spPr>
        <p:txBody>
          <a:bodyPr>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24" name="Date Placeholder 23"/>
          <p:cNvSpPr>
            <a:spLocks noGrp="1"/>
          </p:cNvSpPr>
          <p:nvPr>
            <p:ph type="dt" sz="half" idx="2"/>
          </p:nvPr>
        </p:nvSpPr>
        <p:spPr>
          <a:xfrm>
            <a:off x="3581400" y="6305550"/>
            <a:ext cx="2133600" cy="476250"/>
          </a:xfrm>
          <a:prstGeom prst="rect">
            <a:avLst/>
          </a:prstGeom>
        </p:spPr>
        <p:txBody>
          <a:bodyPr anchor="b"/>
          <a:lstStyle>
            <a:lvl1pPr algn="r" eaLnBrk="1" latinLnBrk="0" hangingPunct="1">
              <a:defRPr kumimoji="0" sz="1200">
                <a:solidFill>
                  <a:schemeClr val="bg2">
                    <a:shade val="50000"/>
                    <a:satMod val="200000"/>
                  </a:schemeClr>
                </a:solidFill>
              </a:defRPr>
            </a:lvl1pPr>
            <a:extLst/>
          </a:lstStyle>
          <a:p>
            <a:fld id="{1D8BD707-D9CF-40AE-B4C6-C98DA3205C09}" type="datetimeFigureOut">
              <a:rPr lang="en-US" smtClean="0"/>
              <a:pPr/>
              <a:t>2/24/2024</a:t>
            </a:fld>
            <a:endParaRPr lang="en-US"/>
          </a:p>
        </p:txBody>
      </p:sp>
      <p:sp>
        <p:nvSpPr>
          <p:cNvPr id="10" name="Footer Placeholder 9"/>
          <p:cNvSpPr>
            <a:spLocks noGrp="1"/>
          </p:cNvSpPr>
          <p:nvPr>
            <p:ph type="ftr" sz="quarter" idx="3"/>
          </p:nvPr>
        </p:nvSpPr>
        <p:spPr>
          <a:xfrm>
            <a:off x="5715000" y="6305550"/>
            <a:ext cx="2895600" cy="476250"/>
          </a:xfrm>
          <a:prstGeom prst="rect">
            <a:avLst/>
          </a:prstGeom>
        </p:spPr>
        <p:txBody>
          <a:bodyPr anchor="b"/>
          <a:lstStyle>
            <a:lvl1pPr eaLnBrk="1" latinLnBrk="0" hangingPunct="1">
              <a:defRPr kumimoji="0" sz="1200">
                <a:solidFill>
                  <a:schemeClr val="bg2">
                    <a:shade val="50000"/>
                    <a:satMod val="200000"/>
                  </a:schemeClr>
                </a:solidFill>
                <a:effectLst/>
              </a:defRPr>
            </a:lvl1pPr>
            <a:extLst/>
          </a:lstStyle>
          <a:p>
            <a:endParaRPr lang="en-US"/>
          </a:p>
        </p:txBody>
      </p:sp>
      <p:sp>
        <p:nvSpPr>
          <p:cNvPr id="22" name="Slide Number Placeholder 21"/>
          <p:cNvSpPr>
            <a:spLocks noGrp="1"/>
          </p:cNvSpPr>
          <p:nvPr>
            <p:ph type="sldNum" sz="quarter" idx="4"/>
          </p:nvPr>
        </p:nvSpPr>
        <p:spPr>
          <a:xfrm>
            <a:off x="8613648" y="6305550"/>
            <a:ext cx="457200" cy="476250"/>
          </a:xfrm>
          <a:prstGeom prst="rect">
            <a:avLst/>
          </a:prstGeom>
        </p:spPr>
        <p:txBody>
          <a:bodyPr anchor="b"/>
          <a:lstStyle>
            <a:lvl1pPr algn="ctr" eaLnBrk="1" latinLnBrk="0" hangingPunct="1">
              <a:defRPr kumimoji="0" sz="1200">
                <a:solidFill>
                  <a:schemeClr val="bg2">
                    <a:shade val="50000"/>
                    <a:satMod val="200000"/>
                  </a:schemeClr>
                </a:solidFill>
                <a:effectLst/>
              </a:defRPr>
            </a:lvl1pPr>
            <a:extLst/>
          </a:lstStyle>
          <a:p>
            <a:fld id="{B6F15528-21DE-4FAA-801E-634DDDAF4B2B}" type="slidenum">
              <a:rPr lang="en-US" smtClean="0"/>
              <a:pPr/>
              <a:t>‹#›</a:t>
            </a:fld>
            <a:endParaRPr lang="en-US"/>
          </a:p>
        </p:txBody>
      </p:sp>
      <p:sp>
        <p:nvSpPr>
          <p:cNvPr id="15" name="Rectangle 14"/>
          <p:cNvSpPr/>
          <p:nvPr/>
        </p:nvSpPr>
        <p:spPr bwMode="invGray">
          <a:xfrm>
            <a:off x="1014984" y="-54"/>
            <a:ext cx="73152"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1" latinLnBrk="0" hangingPunct="1">
        <a:spcBef>
          <a:spcPct val="0"/>
        </a:spcBef>
        <a:buNone/>
        <a:defRPr kumimoji="0" sz="4300" kern="1200">
          <a:solidFill>
            <a:schemeClr val="tx2">
              <a:satMod val="130000"/>
            </a:schemeClr>
          </a:solidFill>
          <a:effectLst>
            <a:outerShdw blurRad="50000" dist="30000" dir="5400000" algn="tl" rotWithShape="0">
              <a:srgbClr val="000000">
                <a:alpha val="30000"/>
              </a:srgbClr>
            </a:outerShdw>
          </a:effectLst>
          <a:latin typeface="+mj-lt"/>
          <a:ea typeface="+mj-ea"/>
          <a:cs typeface="+mj-cs"/>
        </a:defRPr>
      </a:lvl1pPr>
      <a:extLst/>
    </p:titleStyle>
    <p:bodyStyle>
      <a:lvl1pPr marL="365760" indent="-283464" algn="l" rtl="0" eaLnBrk="1" latinLnBrk="0" hangingPunct="1">
        <a:lnSpc>
          <a:spcPct val="100000"/>
        </a:lnSpc>
        <a:spcBef>
          <a:spcPts val="600"/>
        </a:spcBef>
        <a:buClr>
          <a:schemeClr val="accent1"/>
        </a:buClr>
        <a:buSzPct val="80000"/>
        <a:buFont typeface="Wingdings 2"/>
        <a:buChar char=""/>
        <a:defRPr kumimoji="0" sz="3200" kern="1200">
          <a:solidFill>
            <a:schemeClr val="tx1"/>
          </a:solidFill>
          <a:latin typeface="+mn-lt"/>
          <a:ea typeface="+mn-ea"/>
          <a:cs typeface="+mn-cs"/>
        </a:defRPr>
      </a:lvl1pPr>
      <a:lvl2pPr marL="640080" indent="-237744" algn="l" rtl="0" eaLnBrk="1" latinLnBrk="0" hangingPunct="1">
        <a:lnSpc>
          <a:spcPct val="100000"/>
        </a:lnSpc>
        <a:spcBef>
          <a:spcPts val="550"/>
        </a:spcBef>
        <a:buClr>
          <a:schemeClr val="accent1"/>
        </a:buClr>
        <a:buFont typeface="Verdana"/>
        <a:buChar char="◦"/>
        <a:defRPr kumimoji="0" sz="2800" kern="1200">
          <a:solidFill>
            <a:schemeClr val="tx1"/>
          </a:solidFill>
          <a:latin typeface="+mn-lt"/>
          <a:ea typeface="+mn-ea"/>
          <a:cs typeface="+mn-cs"/>
        </a:defRPr>
      </a:lvl2pPr>
      <a:lvl3pPr marL="886968" indent="-228600" algn="l" rtl="0" eaLnBrk="1" latinLnBrk="0" hangingPunct="1">
        <a:lnSpc>
          <a:spcPct val="100000"/>
        </a:lnSpc>
        <a:spcBef>
          <a:spcPct val="20000"/>
        </a:spcBef>
        <a:buClr>
          <a:schemeClr val="accent2"/>
        </a:buClr>
        <a:buFont typeface="Wingdings 2"/>
        <a:buChar char=""/>
        <a:defRPr kumimoji="0" sz="2400" kern="1200">
          <a:solidFill>
            <a:schemeClr val="tx1"/>
          </a:solidFill>
          <a:latin typeface="+mn-lt"/>
          <a:ea typeface="+mn-ea"/>
          <a:cs typeface="+mn-cs"/>
        </a:defRPr>
      </a:lvl3pPr>
      <a:lvl4pPr marL="1097280" indent="-173736" algn="l" rtl="0" eaLnBrk="1" latinLnBrk="0" hangingPunct="1">
        <a:lnSpc>
          <a:spcPct val="100000"/>
        </a:lnSpc>
        <a:spcBef>
          <a:spcPct val="20000"/>
        </a:spcBef>
        <a:buClr>
          <a:schemeClr val="accent3"/>
        </a:buClr>
        <a:buFont typeface="Wingdings 2"/>
        <a:buChar char=""/>
        <a:defRPr kumimoji="0" sz="2000" kern="1200">
          <a:solidFill>
            <a:schemeClr val="tx1"/>
          </a:solidFill>
          <a:latin typeface="+mn-lt"/>
          <a:ea typeface="+mn-ea"/>
          <a:cs typeface="+mn-cs"/>
        </a:defRPr>
      </a:lvl4pPr>
      <a:lvl5pPr marL="1298448" indent="-182880" algn="l" rtl="0" eaLnBrk="1" latinLnBrk="0" hangingPunct="1">
        <a:lnSpc>
          <a:spcPct val="100000"/>
        </a:lnSpc>
        <a:spcBef>
          <a:spcPct val="20000"/>
        </a:spcBef>
        <a:buClr>
          <a:schemeClr val="accent4"/>
        </a:buClr>
        <a:buFont typeface="Wingdings 2"/>
        <a:buChar char=""/>
        <a:defRPr kumimoji="0" sz="2000" kern="1200">
          <a:solidFill>
            <a:schemeClr val="tx1"/>
          </a:solidFill>
          <a:latin typeface="+mn-lt"/>
          <a:ea typeface="+mn-ea"/>
          <a:cs typeface="+mn-cs"/>
        </a:defRPr>
      </a:lvl5pPr>
      <a:lvl6pPr marL="1508760" indent="-182880" algn="l" rtl="0" eaLnBrk="1" latinLnBrk="0" hangingPunct="1">
        <a:lnSpc>
          <a:spcPct val="100000"/>
        </a:lnSpc>
        <a:spcBef>
          <a:spcPct val="20000"/>
        </a:spcBef>
        <a:buClr>
          <a:schemeClr val="accent5"/>
        </a:buClr>
        <a:buFont typeface="Wingdings 2"/>
        <a:buChar char=""/>
        <a:defRPr kumimoji="0" sz="2000" kern="1200">
          <a:solidFill>
            <a:schemeClr val="tx1"/>
          </a:solidFill>
          <a:latin typeface="+mn-lt"/>
          <a:ea typeface="+mn-ea"/>
          <a:cs typeface="+mn-cs"/>
        </a:defRPr>
      </a:lvl6pPr>
      <a:lvl7pPr marL="1719072"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7pPr>
      <a:lvl8pPr marL="1920240"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8pPr>
      <a:lvl9pPr marL="2130552"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1.xml"/><Relationship Id="rId6" Type="http://schemas.openxmlformats.org/officeDocument/2006/relationships/image" Target="../media/image7.jpeg"/><Relationship Id="rId5" Type="http://schemas.openxmlformats.org/officeDocument/2006/relationships/image" Target="../media/image6.jpeg"/><Relationship Id="rId4" Type="http://schemas.openxmlformats.org/officeDocument/2006/relationships/image" Target="../media/image5.gif"/></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9.tmp"/><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9.tmp"/><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9.tmp"/><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9.tmp"/><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jpe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image" Target="../media/image18.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hyperlink" Target="http://www.tutorialspoint.com/python/dictionary_get.htm" TargetMode="External"/><Relationship Id="rId2" Type="http://schemas.openxmlformats.org/officeDocument/2006/relationships/image" Target="../media/image21.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image" Target="../media/image24.jpeg"/><Relationship Id="rId1" Type="http://schemas.openxmlformats.org/officeDocument/2006/relationships/slideLayout" Target="../slideLayouts/slideLayout1.xml"/><Relationship Id="rId6" Type="http://schemas.openxmlformats.org/officeDocument/2006/relationships/image" Target="../media/image28.jpeg"/><Relationship Id="rId5" Type="http://schemas.openxmlformats.org/officeDocument/2006/relationships/image" Target="../media/image27.jpeg"/><Relationship Id="rId4" Type="http://schemas.openxmlformats.org/officeDocument/2006/relationships/image" Target="../media/image26.jpeg"/></Relationships>
</file>

<file path=ppt/slides/_rels/slide3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jpeg"/><Relationship Id="rId1" Type="http://schemas.openxmlformats.org/officeDocument/2006/relationships/slideLayout" Target="../slideLayouts/slideLayout1.xml"/><Relationship Id="rId4" Type="http://schemas.openxmlformats.org/officeDocument/2006/relationships/image" Target="../media/image31.jpeg"/></Relationships>
</file>

<file path=ppt/slides/_rels/slide31.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image" Target="../media/image32.jpeg"/><Relationship Id="rId1" Type="http://schemas.openxmlformats.org/officeDocument/2006/relationships/slideLayout" Target="../slideLayouts/slideLayout1.xml"/><Relationship Id="rId5" Type="http://schemas.openxmlformats.org/officeDocument/2006/relationships/image" Target="../media/image35.jpeg"/><Relationship Id="rId4" Type="http://schemas.openxmlformats.org/officeDocument/2006/relationships/image" Target="../media/image34.jpeg"/></Relationships>
</file>

<file path=ppt/slides/_rels/slide32.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image" Target="../media/image38.jpeg"/><Relationship Id="rId2" Type="http://schemas.openxmlformats.org/officeDocument/2006/relationships/image" Target="../media/image37.png"/><Relationship Id="rId1" Type="http://schemas.openxmlformats.org/officeDocument/2006/relationships/slideLayout" Target="../slideLayouts/slideLayout1.xml"/><Relationship Id="rId4" Type="http://schemas.openxmlformats.org/officeDocument/2006/relationships/image" Target="../media/image3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432560" y="1066800"/>
            <a:ext cx="7406640" cy="765282"/>
          </a:xfrm>
        </p:spPr>
        <p:txBody>
          <a:bodyPr/>
          <a:lstStyle/>
          <a:p>
            <a:r>
              <a:rPr lang="en-GB" dirty="0"/>
              <a:t>L-System</a:t>
            </a:r>
            <a:endParaRPr lang="en-US" dirty="0"/>
          </a:p>
        </p:txBody>
      </p:sp>
      <p:sp>
        <p:nvSpPr>
          <p:cNvPr id="5" name="Subtitle 2"/>
          <p:cNvSpPr txBox="1">
            <a:spLocks/>
          </p:cNvSpPr>
          <p:nvPr/>
        </p:nvSpPr>
        <p:spPr>
          <a:xfrm>
            <a:off x="1432560" y="3276600"/>
            <a:ext cx="7406640" cy="3581400"/>
          </a:xfrm>
          <a:prstGeom prst="rect">
            <a:avLst/>
          </a:prstGeom>
        </p:spPr>
        <p:txBody>
          <a:bodyPr tIns="0">
            <a:noAutofit/>
          </a:bodyPr>
          <a:lstStyle>
            <a:lvl1pPr marL="27432" indent="0" algn="l" rtl="0" eaLnBrk="1" latinLnBrk="0" hangingPunct="1">
              <a:lnSpc>
                <a:spcPct val="100000"/>
              </a:lnSpc>
              <a:spcBef>
                <a:spcPts val="600"/>
              </a:spcBef>
              <a:buClr>
                <a:schemeClr val="accent1"/>
              </a:buClr>
              <a:buSzPct val="80000"/>
              <a:buFont typeface="Wingdings 2"/>
              <a:buNone/>
              <a:defRPr kumimoji="0" sz="2600" kern="1200">
                <a:solidFill>
                  <a:schemeClr val="tx2">
                    <a:shade val="30000"/>
                    <a:satMod val="150000"/>
                  </a:schemeClr>
                </a:solidFill>
                <a:latin typeface="+mn-lt"/>
                <a:ea typeface="+mn-ea"/>
                <a:cs typeface="+mn-cs"/>
              </a:defRPr>
            </a:lvl1pPr>
            <a:lvl2pPr marL="457200" indent="0" algn="ctr" rtl="0" eaLnBrk="1" latinLnBrk="0" hangingPunct="1">
              <a:lnSpc>
                <a:spcPct val="100000"/>
              </a:lnSpc>
              <a:spcBef>
                <a:spcPts val="550"/>
              </a:spcBef>
              <a:buClr>
                <a:schemeClr val="accent1"/>
              </a:buClr>
              <a:buFont typeface="Verdana"/>
              <a:buNone/>
              <a:defRPr kumimoji="0" sz="2800" kern="1200">
                <a:solidFill>
                  <a:schemeClr val="tx1"/>
                </a:solidFill>
                <a:latin typeface="+mn-lt"/>
                <a:ea typeface="+mn-ea"/>
                <a:cs typeface="+mn-cs"/>
              </a:defRPr>
            </a:lvl2pPr>
            <a:lvl3pPr marL="914400" indent="0" algn="ctr" rtl="0" eaLnBrk="1" latinLnBrk="0" hangingPunct="1">
              <a:lnSpc>
                <a:spcPct val="100000"/>
              </a:lnSpc>
              <a:spcBef>
                <a:spcPct val="20000"/>
              </a:spcBef>
              <a:buClr>
                <a:schemeClr val="accent2"/>
              </a:buClr>
              <a:buFont typeface="Wingdings 2"/>
              <a:buNone/>
              <a:defRPr kumimoji="0" sz="2400" kern="1200">
                <a:solidFill>
                  <a:schemeClr val="tx1"/>
                </a:solidFill>
                <a:latin typeface="+mn-lt"/>
                <a:ea typeface="+mn-ea"/>
                <a:cs typeface="+mn-cs"/>
              </a:defRPr>
            </a:lvl3pPr>
            <a:lvl4pPr marL="1371600" indent="0" algn="ctr" rtl="0" eaLnBrk="1" latinLnBrk="0" hangingPunct="1">
              <a:lnSpc>
                <a:spcPct val="100000"/>
              </a:lnSpc>
              <a:spcBef>
                <a:spcPct val="20000"/>
              </a:spcBef>
              <a:buClr>
                <a:schemeClr val="accent3"/>
              </a:buClr>
              <a:buFont typeface="Wingdings 2"/>
              <a:buNone/>
              <a:defRPr kumimoji="0" sz="2000" kern="1200">
                <a:solidFill>
                  <a:schemeClr val="tx1"/>
                </a:solidFill>
                <a:latin typeface="+mn-lt"/>
                <a:ea typeface="+mn-ea"/>
                <a:cs typeface="+mn-cs"/>
              </a:defRPr>
            </a:lvl4pPr>
            <a:lvl5pPr marL="1828800" indent="0" algn="ctr" rtl="0" eaLnBrk="1" latinLnBrk="0" hangingPunct="1">
              <a:lnSpc>
                <a:spcPct val="100000"/>
              </a:lnSpc>
              <a:spcBef>
                <a:spcPct val="20000"/>
              </a:spcBef>
              <a:buClr>
                <a:schemeClr val="accent4"/>
              </a:buClr>
              <a:buFont typeface="Wingdings 2"/>
              <a:buNone/>
              <a:defRPr kumimoji="0" sz="2000" kern="1200">
                <a:solidFill>
                  <a:schemeClr val="tx1"/>
                </a:solidFill>
                <a:latin typeface="+mn-lt"/>
                <a:ea typeface="+mn-ea"/>
                <a:cs typeface="+mn-cs"/>
              </a:defRPr>
            </a:lvl5pPr>
            <a:lvl6pPr marL="2286000" indent="0" algn="ctr" rtl="0" eaLnBrk="1" latinLnBrk="0" hangingPunct="1">
              <a:lnSpc>
                <a:spcPct val="100000"/>
              </a:lnSpc>
              <a:spcBef>
                <a:spcPct val="20000"/>
              </a:spcBef>
              <a:buClr>
                <a:schemeClr val="accent5"/>
              </a:buClr>
              <a:buFont typeface="Wingdings 2"/>
              <a:buNone/>
              <a:defRPr kumimoji="0" sz="2000" kern="1200">
                <a:solidFill>
                  <a:schemeClr val="tx1"/>
                </a:solidFill>
                <a:latin typeface="+mn-lt"/>
                <a:ea typeface="+mn-ea"/>
                <a:cs typeface="+mn-cs"/>
              </a:defRPr>
            </a:lvl6pPr>
            <a:lvl7pPr marL="2743200" indent="0" algn="ctr" rtl="0" eaLnBrk="1" latinLnBrk="0" hangingPunct="1">
              <a:lnSpc>
                <a:spcPct val="100000"/>
              </a:lnSpc>
              <a:spcBef>
                <a:spcPct val="20000"/>
              </a:spcBef>
              <a:buClr>
                <a:schemeClr val="accent6"/>
              </a:buClr>
              <a:buFont typeface="Wingdings 2"/>
              <a:buNone/>
              <a:defRPr kumimoji="0" sz="2000" kern="1200">
                <a:solidFill>
                  <a:schemeClr val="tx1"/>
                </a:solidFill>
                <a:latin typeface="+mn-lt"/>
                <a:ea typeface="+mn-ea"/>
                <a:cs typeface="+mn-cs"/>
              </a:defRPr>
            </a:lvl7pPr>
            <a:lvl8pPr marL="3200400" indent="0" algn="ctr" rtl="0" eaLnBrk="1" latinLnBrk="0" hangingPunct="1">
              <a:lnSpc>
                <a:spcPct val="100000"/>
              </a:lnSpc>
              <a:spcBef>
                <a:spcPct val="20000"/>
              </a:spcBef>
              <a:buClr>
                <a:schemeClr val="accent6"/>
              </a:buClr>
              <a:buFont typeface="Wingdings 2"/>
              <a:buNone/>
              <a:defRPr kumimoji="0" sz="2000" kern="1200">
                <a:solidFill>
                  <a:schemeClr val="tx1"/>
                </a:solidFill>
                <a:latin typeface="+mn-lt"/>
                <a:ea typeface="+mn-ea"/>
                <a:cs typeface="+mn-cs"/>
              </a:defRPr>
            </a:lvl8pPr>
            <a:lvl9pPr marL="3657600" indent="0" algn="ctr" rtl="0" eaLnBrk="1" latinLnBrk="0" hangingPunct="1">
              <a:lnSpc>
                <a:spcPct val="100000"/>
              </a:lnSpc>
              <a:spcBef>
                <a:spcPct val="20000"/>
              </a:spcBef>
              <a:buClr>
                <a:schemeClr val="accent6"/>
              </a:buClr>
              <a:buFont typeface="Wingdings 2"/>
              <a:buNone/>
              <a:defRPr kumimoji="0" sz="2000" kern="1200">
                <a:solidFill>
                  <a:schemeClr val="tx1"/>
                </a:solidFill>
                <a:latin typeface="+mn-lt"/>
                <a:ea typeface="+mn-ea"/>
                <a:cs typeface="+mn-cs"/>
              </a:defRPr>
            </a:lvl9pPr>
            <a:extLst/>
          </a:lstStyle>
          <a:p>
            <a:endParaRPr lang="en-GB" sz="2000" b="1" dirty="0"/>
          </a:p>
          <a:p>
            <a:r>
              <a:rPr lang="en-GB" sz="2000" b="1" dirty="0"/>
              <a:t>Prof Xiaosong Yang</a:t>
            </a:r>
          </a:p>
          <a:p>
            <a:endParaRPr lang="en-GB" sz="2000" b="1" dirty="0"/>
          </a:p>
          <a:p>
            <a:r>
              <a:rPr lang="en-GB" sz="1600"/>
              <a:t>Professor </a:t>
            </a:r>
            <a:r>
              <a:rPr lang="en-GB" sz="1600" dirty="0"/>
              <a:t>of Computer Animation</a:t>
            </a:r>
          </a:p>
          <a:p>
            <a:endParaRPr lang="en-GB" sz="1600" dirty="0"/>
          </a:p>
          <a:p>
            <a:pPr>
              <a:spcBef>
                <a:spcPts val="0"/>
              </a:spcBef>
            </a:pPr>
            <a:r>
              <a:rPr lang="en-GB" sz="1200" dirty="0"/>
              <a:t>National Centre for Computer Animation</a:t>
            </a:r>
          </a:p>
          <a:p>
            <a:pPr>
              <a:spcBef>
                <a:spcPts val="0"/>
              </a:spcBef>
            </a:pPr>
            <a:r>
              <a:rPr lang="en-GB" sz="1200" dirty="0"/>
              <a:t>Faculty of Media and Communication</a:t>
            </a:r>
          </a:p>
          <a:p>
            <a:pPr>
              <a:spcBef>
                <a:spcPts val="0"/>
              </a:spcBef>
            </a:pPr>
            <a:r>
              <a:rPr lang="en-GB" sz="1200" dirty="0"/>
              <a:t>Bournemouth University</a:t>
            </a:r>
          </a:p>
          <a:p>
            <a:pPr>
              <a:spcBef>
                <a:spcPts val="0"/>
              </a:spcBef>
            </a:pPr>
            <a:r>
              <a:rPr lang="en-GB" sz="1200" dirty="0"/>
              <a:t>Email: xyang@bournemouth.ac.uk </a:t>
            </a:r>
          </a:p>
          <a:p>
            <a:pPr>
              <a:spcBef>
                <a:spcPts val="0"/>
              </a:spcBef>
            </a:pPr>
            <a:r>
              <a:rPr lang="en-GB" sz="1200" dirty="0"/>
              <a:t>http://staffprofiles.bournemouth.ac.uk/display/xyang</a:t>
            </a:r>
            <a:endParaRPr lang="en-GB" sz="2000" b="1" dirty="0"/>
          </a:p>
          <a:p>
            <a:endParaRPr lang="en-GB" sz="2000" dirty="0"/>
          </a:p>
          <a:p>
            <a:endParaRPr lang="en-US" sz="2000" dirty="0"/>
          </a:p>
        </p:txBody>
      </p:sp>
      <p:pic>
        <p:nvPicPr>
          <p:cNvPr id="1026" name="Picture 2" descr="Image result for L system"/>
          <p:cNvPicPr>
            <a:picLocks noChangeAspect="1" noChangeArrowheads="1"/>
          </p:cNvPicPr>
          <p:nvPr/>
        </p:nvPicPr>
        <p:blipFill rotWithShape="1">
          <a:blip r:embed="rId2">
            <a:extLst>
              <a:ext uri="{28A0092B-C50C-407E-A947-70E740481C1C}">
                <a14:useLocalDpi xmlns:a14="http://schemas.microsoft.com/office/drawing/2010/main" val="0"/>
              </a:ext>
            </a:extLst>
          </a:blip>
          <a:srcRect l="11120" t="2626" r="16709" b="6448"/>
          <a:stretch/>
        </p:blipFill>
        <p:spPr bwMode="auto">
          <a:xfrm>
            <a:off x="4528038" y="712177"/>
            <a:ext cx="3675185" cy="289267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txBox="1">
            <a:spLocks/>
          </p:cNvSpPr>
          <p:nvPr/>
        </p:nvSpPr>
        <p:spPr>
          <a:xfrm>
            <a:off x="1432560" y="1066800"/>
            <a:ext cx="7406640" cy="765282"/>
          </a:xfrm>
          <a:prstGeom prst="rect">
            <a:avLst/>
          </a:prstGeom>
        </p:spPr>
        <p:txBody>
          <a:bodyPr anchor="b">
            <a:normAutofit/>
          </a:bodyPr>
          <a:lstStyle>
            <a:lvl1pPr algn="l" rtl="0" eaLnBrk="1" latinLnBrk="0" hangingPunct="1">
              <a:spcBef>
                <a:spcPct val="0"/>
              </a:spcBef>
              <a:buNone/>
              <a:defRPr kumimoji="0" sz="4300" kern="1200">
                <a:solidFill>
                  <a:schemeClr val="tx2">
                    <a:satMod val="130000"/>
                  </a:schemeClr>
                </a:solidFill>
                <a:effectLst>
                  <a:outerShdw blurRad="50000" dist="30000" dir="5400000" algn="tl" rotWithShape="0">
                    <a:srgbClr val="000000">
                      <a:alpha val="30000"/>
                    </a:srgbClr>
                  </a:outerShdw>
                </a:effectLst>
                <a:latin typeface="+mj-lt"/>
                <a:ea typeface="+mj-ea"/>
                <a:cs typeface="+mj-cs"/>
              </a:defRPr>
            </a:lvl1pPr>
            <a:extLst/>
          </a:lstStyle>
          <a:p>
            <a:r>
              <a:rPr lang="en-GB"/>
              <a:t>L-System - Plant growth</a:t>
            </a:r>
            <a:endParaRPr lang="en-US"/>
          </a:p>
        </p:txBody>
      </p:sp>
      <p:pic>
        <p:nvPicPr>
          <p:cNvPr id="2050" name="Picture 2" descr="Image result for L system"/>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03252" y="2133600"/>
            <a:ext cx="2619375" cy="2619375"/>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Related image"/>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219200" y="4572000"/>
            <a:ext cx="3238172" cy="1905000"/>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descr="Image result for L system"/>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191000" y="2286000"/>
            <a:ext cx="1428750" cy="2590800"/>
          </a:xfrm>
          <a:prstGeom prst="rect">
            <a:avLst/>
          </a:prstGeom>
          <a:noFill/>
          <a:extLst>
            <a:ext uri="{909E8E84-426E-40DD-AFC4-6F175D3DCCD1}">
              <a14:hiddenFill xmlns:a14="http://schemas.microsoft.com/office/drawing/2010/main">
                <a:solidFill>
                  <a:srgbClr val="FFFFFF"/>
                </a:solidFill>
              </a14:hiddenFill>
            </a:ext>
          </a:extLst>
        </p:spPr>
      </p:pic>
      <p:pic>
        <p:nvPicPr>
          <p:cNvPr id="2056" name="Picture 8" descr="Image result for L system"/>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172200" y="2400300"/>
            <a:ext cx="2171700" cy="2171700"/>
          </a:xfrm>
          <a:prstGeom prst="rect">
            <a:avLst/>
          </a:prstGeom>
          <a:noFill/>
          <a:extLst>
            <a:ext uri="{909E8E84-426E-40DD-AFC4-6F175D3DCCD1}">
              <a14:hiddenFill xmlns:a14="http://schemas.microsoft.com/office/drawing/2010/main">
                <a:solidFill>
                  <a:srgbClr val="FFFFFF"/>
                </a:solidFill>
              </a14:hiddenFill>
            </a:ext>
          </a:extLst>
        </p:spPr>
      </p:pic>
      <p:pic>
        <p:nvPicPr>
          <p:cNvPr id="2058" name="Picture 10" descr="Image result for L system"/>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334125" y="4752975"/>
            <a:ext cx="1847850" cy="18478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1046895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txBox="1">
            <a:spLocks/>
          </p:cNvSpPr>
          <p:nvPr/>
        </p:nvSpPr>
        <p:spPr>
          <a:xfrm>
            <a:off x="1432560" y="1066800"/>
            <a:ext cx="7406640" cy="765282"/>
          </a:xfrm>
          <a:prstGeom prst="rect">
            <a:avLst/>
          </a:prstGeom>
        </p:spPr>
        <p:txBody>
          <a:bodyPr anchor="b">
            <a:normAutofit/>
          </a:bodyPr>
          <a:lstStyle>
            <a:lvl1pPr algn="l" rtl="0" eaLnBrk="1" latinLnBrk="0" hangingPunct="1">
              <a:spcBef>
                <a:spcPct val="0"/>
              </a:spcBef>
              <a:buNone/>
              <a:defRPr kumimoji="0" sz="4300" kern="1200">
                <a:solidFill>
                  <a:schemeClr val="tx2">
                    <a:satMod val="130000"/>
                  </a:schemeClr>
                </a:solidFill>
                <a:effectLst>
                  <a:outerShdw blurRad="50000" dist="30000" dir="5400000" algn="tl" rotWithShape="0">
                    <a:srgbClr val="000000">
                      <a:alpha val="30000"/>
                    </a:srgbClr>
                  </a:outerShdw>
                </a:effectLst>
                <a:latin typeface="+mj-lt"/>
                <a:ea typeface="+mj-ea"/>
                <a:cs typeface="+mj-cs"/>
              </a:defRPr>
            </a:lvl1pPr>
            <a:extLst/>
          </a:lstStyle>
          <a:p>
            <a:r>
              <a:rPr lang="en-GB"/>
              <a:t>L-System - Plant growth</a:t>
            </a:r>
            <a:endParaRPr lang="en-US"/>
          </a:p>
        </p:txBody>
      </p:sp>
      <p:pic>
        <p:nvPicPr>
          <p:cNvPr id="4"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a:xfrm>
            <a:off x="1550377" y="2209800"/>
            <a:ext cx="6234545" cy="3810000"/>
          </a:xfrm>
          <a:prstGeom prst="rect">
            <a:avLst/>
          </a:prstGeom>
          <a:noFill/>
        </p:spPr>
      </p:pic>
    </p:spTree>
    <p:extLst>
      <p:ext uri="{BB962C8B-B14F-4D97-AF65-F5344CB8AC3E}">
        <p14:creationId xmlns:p14="http://schemas.microsoft.com/office/powerpoint/2010/main" val="32828575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txBox="1">
            <a:spLocks/>
          </p:cNvSpPr>
          <p:nvPr/>
        </p:nvSpPr>
        <p:spPr>
          <a:xfrm>
            <a:off x="1432560" y="1066800"/>
            <a:ext cx="7406640" cy="765282"/>
          </a:xfrm>
          <a:prstGeom prst="rect">
            <a:avLst/>
          </a:prstGeom>
        </p:spPr>
        <p:txBody>
          <a:bodyPr anchor="b">
            <a:normAutofit/>
          </a:bodyPr>
          <a:lstStyle>
            <a:lvl1pPr algn="l" rtl="0" eaLnBrk="1" latinLnBrk="0" hangingPunct="1">
              <a:spcBef>
                <a:spcPct val="0"/>
              </a:spcBef>
              <a:buNone/>
              <a:defRPr kumimoji="0" sz="4300" kern="1200">
                <a:solidFill>
                  <a:schemeClr val="tx2">
                    <a:satMod val="130000"/>
                  </a:schemeClr>
                </a:solidFill>
                <a:effectLst>
                  <a:outerShdw blurRad="50000" dist="30000" dir="5400000" algn="tl" rotWithShape="0">
                    <a:srgbClr val="000000">
                      <a:alpha val="30000"/>
                    </a:srgbClr>
                  </a:outerShdw>
                </a:effectLst>
                <a:latin typeface="+mj-lt"/>
                <a:ea typeface="+mj-ea"/>
                <a:cs typeface="+mj-cs"/>
              </a:defRPr>
            </a:lvl1pPr>
            <a:extLst/>
          </a:lstStyle>
          <a:p>
            <a:r>
              <a:rPr lang="en-GB"/>
              <a:t>L-System - Plant growth</a:t>
            </a:r>
            <a:endParaRPr lang="en-US"/>
          </a:p>
        </p:txBody>
      </p:sp>
      <p:sp>
        <p:nvSpPr>
          <p:cNvPr id="5" name="TextBox 4">
            <a:extLst>
              <a:ext uri="{FF2B5EF4-FFF2-40B4-BE49-F238E27FC236}">
                <a16:creationId xmlns:a16="http://schemas.microsoft.com/office/drawing/2014/main" id="{2FA98A47-3509-417D-ABBB-8DC31896899D}"/>
              </a:ext>
            </a:extLst>
          </p:cNvPr>
          <p:cNvSpPr txBox="1"/>
          <p:nvPr/>
        </p:nvSpPr>
        <p:spPr>
          <a:xfrm>
            <a:off x="4267200" y="2590800"/>
            <a:ext cx="4572000" cy="3708708"/>
          </a:xfrm>
          <a:prstGeom prst="rect">
            <a:avLst/>
          </a:prstGeom>
          <a:noFill/>
        </p:spPr>
        <p:txBody>
          <a:bodyPr wrap="square">
            <a:spAutoFit/>
          </a:bodyPr>
          <a:lstStyle/>
          <a:p>
            <a:r>
              <a:rPr lang="en-GB" sz="500" dirty="0"/>
              <a:t>FFFFFFFFFFFFFFFF-[[FFFFFFFF-[[FFFF-[[FF-[[F-[[X]+X]+F[+FX]-X]+F-[[X]+X]+F[+FX]-X]+FF[+FFF-[[X]+X]+F[+FX]-X]-F-[[X]+X]+F[+FX]-X]+FF-[[F-[[X]+X]+F[+FX]-X]+F-[[X]+X]+F[+FX]-X]+FF[+FFF-[[X]+X]+F[+FX]-X]-F-[[X]+X]+F[+FX]-X]+FFFF[+FFFFFF-[[F-[[X]+X]+F[+FX]-X]+F-[[X]+X]+F[+FX]-X]+FF[+FFF-[[X]+X]+F[+FX]-X]-F-[[X]+X]+F[+FX]-X]-FF-[[F-[[X]+X]+F[+FX]-X]+F-[[X]+X]+F[+FX]-X]+FF[+FFF-[[X]+X]+F[+FX]-X]-F-[[X]+X]+F[+FX]-X]+FFFF-[[FF-[[F-[[X]+X]+F[+FX]-X]+F-[[X]+X]+F[+FX]-X]+FF[+FFF-[[X]+X]+F[+FX]-X]-F-[[X]+X]+F[+FX]-X]+FF-[[F-[[X]+X]+F[+FX]-X]+F-[[X]+X]+F[+FX]-X]+FF[+FFF-[[X]+X]+F[+FX]-X]-F-[[X]+X]+F[+FX]-X]+FFFF[+FFFFFF-[[F-[[X]+X]+F[+FX]-X]+F-[[X]+X]+F[+FX]-X]+FF[+FFF-[[X]+X]+F[+FX]-X]-F-[[X]+X]+F[+FX]-X]-FF-[[F-[[X]+X]+F[+FX]-X]+F-[[X]+X]+F[+FX]-X]+FF[+FFF-[[X]+X]+F[+FX]-X]-F-[[X]+X]+F[+FX]-X]+FFFFFFFF[+FFFFFFFFFFFF-[[FF-[[F-[[X]+X]+F[+FX]-X]+F-[[X]+X]+F[+FX]-X]+FF[+FFF-[[X]+X]+F[+FX]-X]-F-[[X]+X]+F[+FX]-X]+FF-[[F-[[X]+X]+F[+FX]-X]+F-[[X]+X]+F[+FX]-X]+FF[+FFF-[[X]+X]+F[+FX]-X]-F-[[X]+X]+F[+FX]-X]+FFFF[+FFFFFF-[[F-[[X]+X]+F[+FX]-X]+F-[[X]+X]+F[+FX]-X]+FF[+FFF-[[X]+X]+F[+FX]-X]-F-[[X]+X]+F[+FX]-X]-FF-[[F-[[X]+X]+F[+FX]-X]+F-[[X]+X]+F[+FX]-X]+FF[+FFF-[[X]+X]+F[+FX]-X]-F-[[X]+X]+F[+FX]-X]-FFFF-[[FF-[[F-[[X]+X]+F[+FX]-X]+F-[[X]+X]+F[+FX]-X]+FF[+FFF-[[X]+X]+F[+FX]-X]-F-[[X]+X]+F[+FX]-X]+FF-[[F-[[X]+X]+F[+FX]-X]+F-[[X]+X]+F[+FX]-X]+FF[+FFF-[[X]+X]+F[+FX]-X]-F-[[X]+X]+F[+FX]-X]+FFFF[+FFFFFF-[[F-[[X]+X]+F[+FX]-X]+F-[[X]+X]+F[+FX]-X]+FF[+FFF-[[X]+X]+F[+FX]-X]-F-[[X]+X]+F[+FX]-X]-FF-[[F-[[X]+X]+F[+FX]-X]+F-[[X]+X]+F[+FX]-X]+FF[+FFF-[[X]+X]+F[+FX]-X]-F-[[X]+X]+F[+FX]-X]+FFFFFFFF-[[FFFF-[[FF-[[F-[[X]+X]+F[+FX]-X]+F-[[X]+X]+F[+FX]-X]+FF[+FFF-[[X]+X]+F[+FX]-X]-F-[[X]+X]+F[+FX]-X]+FF-[[F-[[X]+X]+F[+FX]-X]+F-[[X]+X]+F[+FX]-X]+FF[+FFF-[[X]+X]+F[+FX]-X]-F-[[X]+X]+F[+FX]-X]+FFFF[+FFFFFF-[[F-[[X]+X]+F[+FX]-X]+F-[[X]+X]+F[+FX]-X]+FF[+FFF-[[X]+X]+F[+FX]-X]-F-[[X]+X]+F[+FX]-X]-FF-[[F-[[X]+X]+F[+FX]-X]+F-[[X]+X]+F[+FX]-X]+FF[+FFF-[[X]+X]+F[+FX]-X]-F-[[X]+X]+F[+FX]-X]+FFFF-[[FF-[[F-[[X]+X]+F[+FX]-X]+F-[[X]+X]+F[+FX]-X]+FF[+FFF-[[X]+X]+F[+FX]-X]-F-[[X]+X]+F[+FX]-X]+FF-[[F-[[X]+X]+F[+FX]-X]+F-[[X]+X]+F[+FX]-X]+FF[+FFF-[[X]+X]+F[+FX]-X]-F-[[X]+X]+F[+FX]-X]+FFFF[+FFFFFF-[[F-[[X]+X]+F[+FX]-X]+F-[[X]+X]+F[+FX]-X]+FF[+FFF-[[X]+X]+F[+FX]-X]-F-[[X]+X]+F[+FX]-X]-FF-[[F-[[X]+X]+F[+FX]-X]+F-[[X]+X]+F[+FX]-X]+FF[+FFF-[[X]+X]+F[+FX]-X]-F-[[X]+X]+F[+FX]-X]+FFFFFFFF[+FFFFFFFFFFFF-[[FF-[[F-[[X]+X]+F[+FX]-X]+F-[[X]+X]+F[+FX]-X]+FF[+FFF-[[X]+X]+F[+FX]-X]-F-[[X]+X]+F[+FX]-X]+FF-[[F-[[X]+X]+F[+FX]-X]+F-[[X]+X]+F[+FX]-X]+FF[+FFF-[[X]+X]+F[+FX]-X]-F-[[X]+X]+F[+FX]-X]+FFFF[+FFFFFF-[[F-[[X]+X]+F[+FX]-X]+F-[[X]+X]+F[+FX]-X]+FF[+FFF-[[X]+X]+F[+FX]-X]-F-[[X]+X]+F[+FX]-X]-FF-[[F-[[X]+X]+F[+FX]-X]+F-[[X]+X]+F[+FX]-X]+FF[+FFF-[[X]+X]+F[+FX]-X]-F-[[X]+X]+F[+FX]-X]-FFFF-[[FF-[[F-[[X]+X]+F[+FX]-X]+F-[[X]+X]+F[+FX]-X]+FF[+FFF-[[X]+X]+F[+FX]-X]-F-[[X]+X]+F[+FX]-X]+FF-[[F-[[X]+X]+F[+FX]-X]+F-[[X]+X]+F[+FX]-X]+FF[+FFF-[[X]+X]+F[+FX]-X]-F-[[X]+X]+F[+FX]-X]+FFFF[+FFFFFF-[[F-[[X]+X]+F[+FX]-X]+F-[[X]+X]+F[+FX]-X]+FF[+FFF-[[X]+X]+F[+FX]-X]-F-[[X]+X]+F[+FX]-X]-FF-[[F-[[X]+X]+F[+FX]-X]+F-[[X]+X]+F[+FX]-X]+FF[+FFF-[[X]+X]+F[+FX]-X]-F-[[X]+X]+F[+FX]-X]+FFFFFFFFFFFFFFFF[+FFFFFFFFFFFFFFFFFFFFFFFF-[[FFFF-[[FF-[[F-[[X]+X]+F[+FX]-X]+F-[[X]+X]+F[+FX]-X]+FF[+FFF-[[X]+X]+F[+FX]-X]-F-[[X]+X]+F[+FX]-X]+FF-[[F-[[X]+X]+F[+FX]-X]+F-[[X]+X]+F[+FX]-X]+FF[+FFF-[[X]+X]+F[+FX]-X]-F-[[X]+X]+F[+FX]-X]+FFFF[+FFFFFF-[[F-[[X]+X]+F[+FX]-X]+F-[[X]+X]+F[+FX]-X]+FF[+FFF-[[X]+X]+F[+FX]-X]-F-[[X]+X]+F[+FX]-X]-FF-[[F-[[X]+X]+F[+FX]-X]+F-[[X]+X]+F[+FX]-X]+FF[+FFF-[[X]+X]+F[+FX]-X]-F-[[X]+X]+F[+FX]-X]+FFFF-[[FF-[[F-[[X]+X]+F[+FX]-X]+F-[[X]+X]+F[+FX]-X]+FF[+FFF-[[X]+X]+F[+FX]-X]-F-[[X]+X]+F[+FX]-X]+FF-[[F-[[X]+X]+F[+FX]-X]+F-[[X]+X]+F[+FX]-X]+FF[+FFF-[[X]+X]+F[+FX]-X]-F-[[X]+X]+F[+FX]-X]+FFFF[+FFFFFF-[[F-[[X]+X]+F[+FX]-X]+F-[[X]+X]+F[+FX]-X]+FF[+FFF-[[X]+X]+F[+FX]-X]-F-[[X]+X]+F[+FX]-X]-FF-[[F-[[X]+X]+F[+FX]-X]+F-[[X]+X]+F[+FX]-X]+FF[+FFF-[[X]+X]+F[+FX]-X]-F-[[X]+X]+F[+FX]-X]+FFFFFFFF[+FFFFFFFFFFFF-[[FF-[[F-[[X]+X]+F[+FX]-X]+F-[[X]+X]+F[+FX]-X]+FF[+FFF-[[X]+X]+F[+FX]-X]-F-[[X]+X]+F[+FX]-X]+FF-[[F-[[X]+X]+F[+FX]-X]+F-[[X]+X]+F[+FX]-X]+FF[+FFF-[[X]+X]+F[+FX]-X]-F-[[X]+X]+F[+FX]-X]+FFFF[+FFFFFF-[[F-[[X]+X]+F[+FX]-X]+F-[[X]+X]+F[+FX]-X]+FF[+FFF-[[X]+X]+F[+FX]-X]-F-[[X]+X]+F[+FX]-X]-FF-[[F-[[X]+X]+F[+FX]-X]+F-[[X]+X]+F[+FX]-X]+FF[+FFF-[[X]+X]+F[+FX]-X]-F-[[X]+X]+F[+FX]-X]-FFFF-[[FF-[[F-[[X]+X]+F[+FX]-X]+F-[[X]+X]+F[+FX]-X]+FF[+FFF-[[X]+X]+F[+FX]-X]-F-[[X]+X]+F[+FX]-X]+FF-[[F-[[X]+X]+F[+FX]-X]+F-[[X]+X]+F[+FX]-X]+FF[+FFF-[[X]+X]+F[+FX]-X]-F-[[X]+X]+F[+FX]-X]+FFFF[+FFFFFF-[[F-[[X]+X]+F[+FX]-X]+F-[[X]+X]+F[+FX]-X]+FF[+FFF-[[X]+X]+F[+FX]-X]-F-[[X]+X]+F[+FX]-X]-FF-[[F-[[X]+X]+F[+FX]-X]+F-[[X]+X]+F[+FX]-X]+FF[+FFF-[[X]+X]+F[+FX]-X]-F-[[X]+X]+F[+FX]-X]-FFFFFFFF-[[FFFF-[[FF-[[F-[[X]+X]+F[+FX]-X]+F-[[X]+X]+F[+FX]-X]+FF[+FFF-[[X]+X]+F[+FX]-X]-F-[[X]+X]+F[+FX]-X]+FF-[[F-[[X]+X]+F[+FX]-X]+F-[[X]+X]+F[+FX]-X]+FF[+FFF-[[X]+X]+F[+FX]-X]-F-[[X]+X]+F[+FX]-X]+FFFF[+FFFFFF-[[F-[[X]+X]+F[+FX]-X]+F-[[X]+X]+F[+FX]-X]+FF[+FFF-[[X]+X]+F[+FX]-X]-F-[[X]+X]+F[+FX]-X]-FF-[[F-[[X]+X]+F[+FX]-X]+F-[[X]+X]+F[+FX]-X]+FF[+FFF-[[X]+X]+F[+FX]-X]-F-[[X]+X]+F[+FX]-X]+FFFF-[[FF-[[F-[[X]+X]+F[+FX]-X]+F-[[X]+X]+F[+FX]-X]+FF[+FFF-[[X]+X]+F[+FX]-X]-F-[[X]+X]+F[+FX]-X]+FF-[[F-[[X]+X]+F[+FX]-X]+F-[[X]+X]+F[+FX]-X]+FF[+FFF-[[X]+X]+F[+FX]-X]-F-[[X]+X]+F[+FX]-X]+FFFF[+FFFFFF-[[F-[[X]+X]+F[+FX]-X]+F-[[X]+X]+F[+FX]-X]+FF[+FFF-[[X]+X]+F[+FX]-X]-F-[[X]+X]+F[+FX]-X]-FF-[[F-[[X]+X]+F[+FX]-X]+F-[[X]+X]+F[+FX]-X]+FF[+FFF-[[X]+X]+F[+FX]-X]-F-[[X]+X]+F[+FX]-X]+FFFFFFFF[+FFFFFFFFFFFF-[[FF-[[F-[[X]+X]+F[+FX]-X]+F-[[X]+X]+F[+FX]-X]+FF[+FFF-[[X]+X]+F[+FX]-X]-F-[[X]+X]+F[+FX]-X]+FF-[[F-[[X]+X]+F[+FX]-X]+F-[[X]+X]+F[+FX]-X]+FF[+FFF-[[X]+X]+F[+FX]-X]-F-[[X]+X]+F[+FX]-X]+FFFF[+FFFFFF-[[F-[[X]+X]+F[+FX]-X]+F-[[X]+X]+F[+FX]-X]+FF[+FFF-[[X]+X]+F[+FX]-X]-F-[[X]+X]+F[+FX]-X]-FF-[[F-[[X]+X]+F[+FX]-X]+F-[[X]+X]+F[+FX]-X]+FF[+FFF-[[X]+X]+F[+FX]-X]-F-[[X]+X]+F[+FX]-X]-FFFF-[[FF-[[F-[[X]+X]+F[+FX]-X]+F-[[X]+X]+F[+FX]-X]+FF[+FFF-[[X]+X]+F[+FX]-X]-F-[[X]+X]+F[+FX]-X]+FF-[[F-[[X]+X]+F[+FX]-X]+F-[[X]+X]+F[+FX]-X]+FF[+FFF-[[X]+X]+F[+FX]-X]-F-[[X]+X]+F[+FX]-X]+FFFF[+FFFFFF-[[F-[[X]+X]+F[+FX]-X]+F-[[X]+X]+F[+FX]-X]+FF[+FFF-[[X]+X]+F[+FX]-X]-F-[[X]+X]+F[+FX]-X]-FF-[[F-[[X]+X]+F[+FX]-X]+F-[[X]+X]+F[+FX]-X]+FF[+FFF-[[X]+X]+F[+FX]-X]-F-[[X]+X]+F[+FX]-X</a:t>
            </a:r>
          </a:p>
        </p:txBody>
      </p:sp>
      <p:pic>
        <p:nvPicPr>
          <p:cNvPr id="7" name="Picture 6" descr="A picture containing line chart&#10;&#10;Description automatically generated">
            <a:extLst>
              <a:ext uri="{FF2B5EF4-FFF2-40B4-BE49-F238E27FC236}">
                <a16:creationId xmlns:a16="http://schemas.microsoft.com/office/drawing/2014/main" id="{35F26BE1-29E8-4003-9D9A-759048E4110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67649" y="2788562"/>
            <a:ext cx="2590800" cy="3313183"/>
          </a:xfrm>
          <a:prstGeom prst="rect">
            <a:avLst/>
          </a:prstGeom>
        </p:spPr>
      </p:pic>
      <p:sp>
        <p:nvSpPr>
          <p:cNvPr id="8" name="TextBox 7">
            <a:extLst>
              <a:ext uri="{FF2B5EF4-FFF2-40B4-BE49-F238E27FC236}">
                <a16:creationId xmlns:a16="http://schemas.microsoft.com/office/drawing/2014/main" id="{35B0F98C-2719-42C9-B1E7-A892914C610F}"/>
              </a:ext>
            </a:extLst>
          </p:cNvPr>
          <p:cNvSpPr txBox="1"/>
          <p:nvPr/>
        </p:nvSpPr>
        <p:spPr>
          <a:xfrm>
            <a:off x="1458898" y="1832082"/>
            <a:ext cx="2808302" cy="923330"/>
          </a:xfrm>
          <a:prstGeom prst="rect">
            <a:avLst/>
          </a:prstGeom>
          <a:noFill/>
        </p:spPr>
        <p:txBody>
          <a:bodyPr wrap="square" rtlCol="0">
            <a:spAutoFit/>
          </a:bodyPr>
          <a:lstStyle/>
          <a:p>
            <a:r>
              <a:rPr lang="en-GB" dirty="0"/>
              <a:t>n = 5, X, 25</a:t>
            </a:r>
          </a:p>
          <a:p>
            <a:r>
              <a:rPr lang="en-GB" dirty="0"/>
              <a:t>X -&gt; F-[[X]+X]+F[+FX]-X</a:t>
            </a:r>
          </a:p>
          <a:p>
            <a:r>
              <a:rPr lang="en-GB" dirty="0"/>
              <a:t>F -&gt; FF </a:t>
            </a:r>
          </a:p>
        </p:txBody>
      </p:sp>
    </p:spTree>
    <p:extLst>
      <p:ext uri="{BB962C8B-B14F-4D97-AF65-F5344CB8AC3E}">
        <p14:creationId xmlns:p14="http://schemas.microsoft.com/office/powerpoint/2010/main" val="429195246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a:xfrm>
            <a:off x="1432560" y="1850064"/>
            <a:ext cx="7101840" cy="4626936"/>
          </a:xfrm>
        </p:spPr>
        <p:txBody>
          <a:bodyPr>
            <a:noAutofit/>
          </a:bodyPr>
          <a:lstStyle/>
          <a:p>
            <a:pPr algn="just">
              <a:lnSpc>
                <a:spcPct val="90000"/>
              </a:lnSpc>
              <a:spcAft>
                <a:spcPts val="600"/>
              </a:spcAft>
            </a:pPr>
            <a:endParaRPr lang="en-GB" sz="2400" dirty="0"/>
          </a:p>
          <a:p>
            <a:pPr algn="just">
              <a:lnSpc>
                <a:spcPct val="90000"/>
              </a:lnSpc>
              <a:spcAft>
                <a:spcPts val="600"/>
              </a:spcAft>
            </a:pPr>
            <a:r>
              <a:rPr lang="en-GB" sz="2400" dirty="0"/>
              <a:t>Development process of plants is captured in the formalism of L-systems</a:t>
            </a:r>
          </a:p>
          <a:p>
            <a:pPr marL="484632" indent="-457200" algn="just">
              <a:lnSpc>
                <a:spcPct val="90000"/>
              </a:lnSpc>
              <a:spcAft>
                <a:spcPts val="600"/>
              </a:spcAft>
              <a:buFont typeface="Arial" pitchFamily="34" charset="0"/>
              <a:buChar char="•"/>
            </a:pPr>
            <a:r>
              <a:rPr lang="en-GB" sz="2000" b="1" dirty="0" err="1"/>
              <a:t>Aristid</a:t>
            </a:r>
            <a:r>
              <a:rPr lang="en-GB" sz="2000" b="1" dirty="0"/>
              <a:t> </a:t>
            </a:r>
            <a:r>
              <a:rPr lang="en-GB" sz="2000" b="1" dirty="0" err="1"/>
              <a:t>Lindenmayer</a:t>
            </a:r>
            <a:r>
              <a:rPr lang="en-GB" sz="2000" dirty="0"/>
              <a:t> (November 17, 1925 – October 30, 1989) was a Hungarian biologist. In 1968 he developed a type of </a:t>
            </a:r>
            <a:r>
              <a:rPr lang="en-GB" sz="2000" b="1" dirty="0"/>
              <a:t>formal languages </a:t>
            </a:r>
            <a:r>
              <a:rPr lang="en-GB" sz="2000" dirty="0"/>
              <a:t>that is today called L-systems or </a:t>
            </a:r>
            <a:r>
              <a:rPr lang="en-GB" sz="2000" dirty="0" err="1"/>
              <a:t>Lindenmayer</a:t>
            </a:r>
            <a:r>
              <a:rPr lang="en-GB" sz="2000" dirty="0"/>
              <a:t> Systems. Using those systems </a:t>
            </a:r>
            <a:r>
              <a:rPr lang="en-GB" sz="2000" dirty="0" err="1"/>
              <a:t>Lindenmayer</a:t>
            </a:r>
            <a:r>
              <a:rPr lang="en-GB" sz="2000" dirty="0"/>
              <a:t> modelled the behaviour of </a:t>
            </a:r>
            <a:r>
              <a:rPr lang="en-GB" sz="2000" b="1" dirty="0"/>
              <a:t>cells of plants</a:t>
            </a:r>
            <a:r>
              <a:rPr lang="en-GB" sz="2000" dirty="0"/>
              <a:t>.</a:t>
            </a:r>
          </a:p>
          <a:p>
            <a:pPr marL="484632" indent="-457200" algn="just">
              <a:lnSpc>
                <a:spcPct val="90000"/>
              </a:lnSpc>
              <a:spcAft>
                <a:spcPts val="600"/>
              </a:spcAft>
              <a:buFont typeface="Arial" pitchFamily="34" charset="0"/>
              <a:buChar char="•"/>
            </a:pPr>
            <a:r>
              <a:rPr lang="en-GB" sz="2000" dirty="0"/>
              <a:t>Later applied to investigate </a:t>
            </a:r>
            <a:r>
              <a:rPr lang="en-GB" sz="2000" b="1" dirty="0"/>
              <a:t>higher plants </a:t>
            </a:r>
            <a:r>
              <a:rPr lang="en-GB" sz="2000" dirty="0"/>
              <a:t>and plant organs</a:t>
            </a:r>
          </a:p>
          <a:p>
            <a:pPr marL="484632" indent="-457200" algn="just">
              <a:lnSpc>
                <a:spcPct val="90000"/>
              </a:lnSpc>
              <a:spcAft>
                <a:spcPts val="600"/>
              </a:spcAft>
              <a:buFont typeface="Arial" pitchFamily="34" charset="0"/>
              <a:buChar char="•"/>
            </a:pPr>
            <a:r>
              <a:rPr lang="en-GB" sz="2000" b="1" dirty="0"/>
              <a:t>Geometric interpretations </a:t>
            </a:r>
            <a:r>
              <a:rPr lang="en-GB" sz="2000" dirty="0"/>
              <a:t>of L-systems allowed realistic graphical visualizations of plants</a:t>
            </a:r>
          </a:p>
          <a:p>
            <a:pPr>
              <a:spcAft>
                <a:spcPts val="600"/>
              </a:spcAft>
            </a:pPr>
            <a:endParaRPr lang="en-GB" sz="2400" dirty="0"/>
          </a:p>
        </p:txBody>
      </p:sp>
      <p:sp>
        <p:nvSpPr>
          <p:cNvPr id="4" name="Title 1"/>
          <p:cNvSpPr txBox="1">
            <a:spLocks/>
          </p:cNvSpPr>
          <p:nvPr/>
        </p:nvSpPr>
        <p:spPr>
          <a:xfrm>
            <a:off x="1432560" y="1066800"/>
            <a:ext cx="7406640" cy="765282"/>
          </a:xfrm>
          <a:prstGeom prst="rect">
            <a:avLst/>
          </a:prstGeom>
        </p:spPr>
        <p:txBody>
          <a:bodyPr anchor="b">
            <a:normAutofit/>
          </a:bodyPr>
          <a:lstStyle>
            <a:lvl1pPr algn="l" rtl="0" eaLnBrk="1" latinLnBrk="0" hangingPunct="1">
              <a:spcBef>
                <a:spcPct val="0"/>
              </a:spcBef>
              <a:buNone/>
              <a:defRPr kumimoji="0" sz="4300" kern="1200">
                <a:solidFill>
                  <a:schemeClr val="tx2">
                    <a:satMod val="130000"/>
                  </a:schemeClr>
                </a:solidFill>
                <a:effectLst>
                  <a:outerShdw blurRad="50000" dist="30000" dir="5400000" algn="tl" rotWithShape="0">
                    <a:srgbClr val="000000">
                      <a:alpha val="30000"/>
                    </a:srgbClr>
                  </a:outerShdw>
                </a:effectLst>
                <a:latin typeface="+mj-lt"/>
                <a:ea typeface="+mj-ea"/>
                <a:cs typeface="+mj-cs"/>
              </a:defRPr>
            </a:lvl1pPr>
            <a:extLst/>
          </a:lstStyle>
          <a:p>
            <a:r>
              <a:rPr lang="en-GB"/>
              <a:t>L-System </a:t>
            </a:r>
          </a:p>
        </p:txBody>
      </p:sp>
      <p:pic>
        <p:nvPicPr>
          <p:cNvPr id="1026" name="Picture 2" descr="http://www.selcukergen.net/ncca_lsystems_research/images/Lindenmayer.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53200" y="381000"/>
            <a:ext cx="1866900" cy="1676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5223386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a:xfrm>
            <a:off x="1432560" y="1850064"/>
            <a:ext cx="7101840" cy="4626936"/>
          </a:xfrm>
        </p:spPr>
        <p:txBody>
          <a:bodyPr>
            <a:noAutofit/>
          </a:bodyPr>
          <a:lstStyle/>
          <a:p>
            <a:pPr algn="just"/>
            <a:r>
              <a:rPr lang="en-GB" sz="2400" dirty="0"/>
              <a:t>L-systems make use of </a:t>
            </a:r>
            <a:r>
              <a:rPr lang="en-GB" sz="2400" b="1" dirty="0"/>
              <a:t>rewriting</a:t>
            </a:r>
            <a:r>
              <a:rPr lang="en-GB" sz="2400" dirty="0"/>
              <a:t> – defining complex objects by </a:t>
            </a:r>
            <a:r>
              <a:rPr lang="en-GB" sz="2400" dirty="0">
                <a:solidFill>
                  <a:srgbClr val="FF0000"/>
                </a:solidFill>
              </a:rPr>
              <a:t>successively</a:t>
            </a:r>
            <a:r>
              <a:rPr lang="en-GB" sz="2400" dirty="0"/>
              <a:t> </a:t>
            </a:r>
            <a:r>
              <a:rPr lang="en-GB" sz="2400" b="1" dirty="0"/>
              <a:t>replacing</a:t>
            </a:r>
            <a:r>
              <a:rPr lang="en-GB" sz="2400" dirty="0"/>
              <a:t> parts of a simple </a:t>
            </a:r>
            <a:r>
              <a:rPr lang="en-GB" sz="2400" b="1" dirty="0"/>
              <a:t>initial object </a:t>
            </a:r>
            <a:r>
              <a:rPr lang="en-GB" sz="2400" dirty="0"/>
              <a:t>using a set of </a:t>
            </a:r>
            <a:r>
              <a:rPr lang="en-GB" sz="2400" b="1" dirty="0"/>
              <a:t>rewriting rules </a:t>
            </a:r>
            <a:r>
              <a:rPr lang="en-GB" sz="2400" dirty="0"/>
              <a:t>or productions</a:t>
            </a:r>
          </a:p>
          <a:p>
            <a:pPr algn="just">
              <a:spcAft>
                <a:spcPts val="600"/>
              </a:spcAft>
            </a:pPr>
            <a:endParaRPr lang="en-GB" sz="2400" dirty="0"/>
          </a:p>
        </p:txBody>
      </p:sp>
      <p:sp>
        <p:nvSpPr>
          <p:cNvPr id="4" name="Title 1"/>
          <p:cNvSpPr txBox="1">
            <a:spLocks/>
          </p:cNvSpPr>
          <p:nvPr/>
        </p:nvSpPr>
        <p:spPr>
          <a:xfrm>
            <a:off x="1432560" y="1066800"/>
            <a:ext cx="7406640" cy="765282"/>
          </a:xfrm>
          <a:prstGeom prst="rect">
            <a:avLst/>
          </a:prstGeom>
        </p:spPr>
        <p:txBody>
          <a:bodyPr anchor="b">
            <a:normAutofit/>
          </a:bodyPr>
          <a:lstStyle>
            <a:lvl1pPr algn="l" rtl="0" eaLnBrk="1" latinLnBrk="0" hangingPunct="1">
              <a:spcBef>
                <a:spcPct val="0"/>
              </a:spcBef>
              <a:buNone/>
              <a:defRPr kumimoji="0" sz="4300" kern="1200">
                <a:solidFill>
                  <a:schemeClr val="tx2">
                    <a:satMod val="130000"/>
                  </a:schemeClr>
                </a:solidFill>
                <a:effectLst>
                  <a:outerShdw blurRad="50000" dist="30000" dir="5400000" algn="tl" rotWithShape="0">
                    <a:srgbClr val="000000">
                      <a:alpha val="30000"/>
                    </a:srgbClr>
                  </a:outerShdw>
                </a:effectLst>
                <a:latin typeface="+mj-lt"/>
                <a:ea typeface="+mj-ea"/>
                <a:cs typeface="+mj-cs"/>
              </a:defRPr>
            </a:lvl1pPr>
            <a:extLst/>
          </a:lstStyle>
          <a:p>
            <a:r>
              <a:rPr lang="en-GB" dirty="0"/>
              <a:t>L-System – Modelling Plants </a:t>
            </a:r>
          </a:p>
        </p:txBody>
      </p:sp>
      <p:pic>
        <p:nvPicPr>
          <p:cNvPr id="5" name="Picture 2">
            <a:extLst>
              <a:ext uri="{FF2B5EF4-FFF2-40B4-BE49-F238E27FC236}">
                <a16:creationId xmlns:a16="http://schemas.microsoft.com/office/drawing/2014/main" id="{8CDAA2A4-6A4E-488A-9C73-316DD53D2730}"/>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74009"/>
          <a:stretch/>
        </p:blipFill>
        <p:spPr bwMode="auto">
          <a:xfrm>
            <a:off x="1600200" y="3601557"/>
            <a:ext cx="1936775" cy="1123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01830894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a:xfrm>
            <a:off x="1432560" y="1850064"/>
            <a:ext cx="7101840" cy="4626936"/>
          </a:xfrm>
        </p:spPr>
        <p:txBody>
          <a:bodyPr>
            <a:noAutofit/>
          </a:bodyPr>
          <a:lstStyle/>
          <a:p>
            <a:pPr algn="just"/>
            <a:r>
              <a:rPr lang="en-GB" sz="2400" dirty="0"/>
              <a:t>In grammars, </a:t>
            </a:r>
            <a:r>
              <a:rPr lang="en-GB" sz="2400" b="1" dirty="0"/>
              <a:t>production rules </a:t>
            </a:r>
            <a:r>
              <a:rPr lang="en-GB" sz="2400" dirty="0"/>
              <a:t>are applied sequentially, whereas in L-systems they are applied in parallel and simultaneously replace all letters in a given word</a:t>
            </a:r>
          </a:p>
          <a:p>
            <a:pPr algn="just"/>
            <a:endParaRPr lang="en-GB" sz="2400" dirty="0"/>
          </a:p>
          <a:p>
            <a:pPr algn="just"/>
            <a:r>
              <a:rPr lang="en-GB" sz="2400" dirty="0"/>
              <a:t>For example:</a:t>
            </a:r>
          </a:p>
          <a:p>
            <a:pPr algn="just"/>
            <a:endParaRPr lang="en-GB" sz="2400" dirty="0"/>
          </a:p>
          <a:p>
            <a:pPr algn="just"/>
            <a:r>
              <a:rPr lang="en-GB" sz="1800" b="1" dirty="0">
                <a:solidFill>
                  <a:srgbClr val="FF0000"/>
                </a:solidFill>
                <a:sym typeface="Wingdings" pitchFamily="2" charset="2"/>
              </a:rPr>
              <a:t>a ab  </a:t>
            </a:r>
            <a:r>
              <a:rPr lang="en-GB" sz="1800" dirty="0">
                <a:sym typeface="Wingdings" pitchFamily="2" charset="2"/>
              </a:rPr>
              <a:t>means the letter </a:t>
            </a:r>
            <a:r>
              <a:rPr lang="en-GB" sz="1800" b="1" dirty="0">
                <a:solidFill>
                  <a:srgbClr val="FF0000"/>
                </a:solidFill>
                <a:sym typeface="Wingdings" pitchFamily="2" charset="2"/>
              </a:rPr>
              <a:t>a</a:t>
            </a:r>
            <a:r>
              <a:rPr lang="en-GB" sz="1800" dirty="0">
                <a:sym typeface="Wingdings" pitchFamily="2" charset="2"/>
              </a:rPr>
              <a:t> is to be replaced with </a:t>
            </a:r>
            <a:r>
              <a:rPr lang="en-GB" sz="1800" b="1" dirty="0">
                <a:solidFill>
                  <a:srgbClr val="FF0000"/>
                </a:solidFill>
                <a:sym typeface="Wingdings" pitchFamily="2" charset="2"/>
              </a:rPr>
              <a:t>ab</a:t>
            </a:r>
          </a:p>
          <a:p>
            <a:pPr algn="just"/>
            <a:r>
              <a:rPr lang="en-GB" sz="1800" b="1" dirty="0">
                <a:solidFill>
                  <a:srgbClr val="FF0000"/>
                </a:solidFill>
                <a:sym typeface="Wingdings" pitchFamily="2" charset="2"/>
              </a:rPr>
              <a:t>b a    </a:t>
            </a:r>
            <a:r>
              <a:rPr lang="en-GB" sz="1800" dirty="0">
                <a:sym typeface="Wingdings" pitchFamily="2" charset="2"/>
              </a:rPr>
              <a:t>means the letter </a:t>
            </a:r>
            <a:r>
              <a:rPr lang="en-GB" sz="1800" b="1" dirty="0">
                <a:solidFill>
                  <a:srgbClr val="FF0000"/>
                </a:solidFill>
                <a:sym typeface="Wingdings" pitchFamily="2" charset="2"/>
              </a:rPr>
              <a:t>b</a:t>
            </a:r>
            <a:r>
              <a:rPr lang="en-GB" sz="1800" dirty="0">
                <a:solidFill>
                  <a:srgbClr val="FF0000"/>
                </a:solidFill>
                <a:sym typeface="Wingdings" pitchFamily="2" charset="2"/>
              </a:rPr>
              <a:t> </a:t>
            </a:r>
            <a:r>
              <a:rPr lang="en-GB" sz="1800" dirty="0">
                <a:sym typeface="Wingdings" pitchFamily="2" charset="2"/>
              </a:rPr>
              <a:t>is to be replaced with </a:t>
            </a:r>
            <a:r>
              <a:rPr lang="en-GB" sz="1800" b="1" dirty="0">
                <a:solidFill>
                  <a:srgbClr val="FF0000"/>
                </a:solidFill>
                <a:sym typeface="Wingdings" pitchFamily="2" charset="2"/>
              </a:rPr>
              <a:t>a</a:t>
            </a:r>
            <a:endParaRPr lang="en-GB" sz="1800" b="1" dirty="0">
              <a:solidFill>
                <a:srgbClr val="FF0000"/>
              </a:solidFill>
            </a:endParaRPr>
          </a:p>
          <a:p>
            <a:pPr algn="just">
              <a:spcAft>
                <a:spcPts val="600"/>
              </a:spcAft>
            </a:pPr>
            <a:endParaRPr lang="en-GB" sz="2000" dirty="0"/>
          </a:p>
        </p:txBody>
      </p:sp>
      <p:sp>
        <p:nvSpPr>
          <p:cNvPr id="4" name="Title 1"/>
          <p:cNvSpPr txBox="1">
            <a:spLocks/>
          </p:cNvSpPr>
          <p:nvPr/>
        </p:nvSpPr>
        <p:spPr>
          <a:xfrm>
            <a:off x="1432560" y="1066800"/>
            <a:ext cx="7406640" cy="765282"/>
          </a:xfrm>
          <a:prstGeom prst="rect">
            <a:avLst/>
          </a:prstGeom>
        </p:spPr>
        <p:txBody>
          <a:bodyPr anchor="b">
            <a:normAutofit/>
          </a:bodyPr>
          <a:lstStyle>
            <a:lvl1pPr algn="l" rtl="0" eaLnBrk="1" latinLnBrk="0" hangingPunct="1">
              <a:spcBef>
                <a:spcPct val="0"/>
              </a:spcBef>
              <a:buNone/>
              <a:defRPr kumimoji="0" sz="4300" kern="1200">
                <a:solidFill>
                  <a:schemeClr val="tx2">
                    <a:satMod val="130000"/>
                  </a:schemeClr>
                </a:solidFill>
                <a:effectLst>
                  <a:outerShdw blurRad="50000" dist="30000" dir="5400000" algn="tl" rotWithShape="0">
                    <a:srgbClr val="000000">
                      <a:alpha val="30000"/>
                    </a:srgbClr>
                  </a:outerShdw>
                </a:effectLst>
                <a:latin typeface="+mj-lt"/>
                <a:ea typeface="+mj-ea"/>
                <a:cs typeface="+mj-cs"/>
              </a:defRPr>
            </a:lvl1pPr>
            <a:extLst/>
          </a:lstStyle>
          <a:p>
            <a:r>
              <a:rPr lang="en-GB" dirty="0"/>
              <a:t>L-System – Modelling Plants </a:t>
            </a:r>
          </a:p>
        </p:txBody>
      </p:sp>
      <p:pic>
        <p:nvPicPr>
          <p:cNvPr id="5"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77000" y="3412856"/>
            <a:ext cx="1905000" cy="28736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6424717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a:xfrm>
            <a:off x="1432560" y="1850064"/>
            <a:ext cx="4968240" cy="4626936"/>
          </a:xfrm>
        </p:spPr>
        <p:txBody>
          <a:bodyPr>
            <a:noAutofit/>
          </a:bodyPr>
          <a:lstStyle/>
          <a:p>
            <a:pPr algn="just"/>
            <a:r>
              <a:rPr lang="en-GB" sz="2400" dirty="0"/>
              <a:t>Starting string F (axiom)</a:t>
            </a:r>
          </a:p>
          <a:p>
            <a:pPr algn="just"/>
            <a:r>
              <a:rPr lang="en-GB" sz="2400" dirty="0"/>
              <a:t>Iteration of replacing each character in the current string with new string following the growing rules</a:t>
            </a:r>
          </a:p>
          <a:p>
            <a:pPr algn="just"/>
            <a:endParaRPr lang="en-GB" sz="2000" dirty="0"/>
          </a:p>
          <a:p>
            <a:pPr algn="just"/>
            <a:r>
              <a:rPr lang="en-GB" sz="2000" dirty="0"/>
              <a:t>Start string: F</a:t>
            </a:r>
          </a:p>
          <a:p>
            <a:pPr algn="just"/>
            <a:r>
              <a:rPr lang="en-GB" sz="2000" dirty="0"/>
              <a:t>1) F[+F]F[-F]F</a:t>
            </a:r>
          </a:p>
          <a:p>
            <a:pPr algn="just"/>
            <a:r>
              <a:rPr lang="en-GB" sz="2000" dirty="0">
                <a:solidFill>
                  <a:srgbClr val="FF0000"/>
                </a:solidFill>
              </a:rPr>
              <a:t>2)F[+F]F[-F]F</a:t>
            </a:r>
            <a:r>
              <a:rPr lang="en-GB" sz="2000" dirty="0"/>
              <a:t>[+</a:t>
            </a:r>
            <a:r>
              <a:rPr lang="en-GB" sz="2000" dirty="0">
                <a:solidFill>
                  <a:srgbClr val="00B050"/>
                </a:solidFill>
              </a:rPr>
              <a:t>F[+F]F[-F]F</a:t>
            </a:r>
            <a:r>
              <a:rPr lang="en-GB" sz="2000" dirty="0"/>
              <a:t>]</a:t>
            </a:r>
            <a:r>
              <a:rPr lang="en-GB" sz="2000" dirty="0">
                <a:solidFill>
                  <a:srgbClr val="0070C0"/>
                </a:solidFill>
              </a:rPr>
              <a:t>F[+F]F[-F]F</a:t>
            </a:r>
            <a:r>
              <a:rPr lang="en-GB" sz="2000" dirty="0"/>
              <a:t>[-</a:t>
            </a:r>
            <a:r>
              <a:rPr lang="en-GB" sz="2000" dirty="0">
                <a:solidFill>
                  <a:schemeClr val="accent2">
                    <a:lumMod val="75000"/>
                  </a:schemeClr>
                </a:solidFill>
              </a:rPr>
              <a:t>F[+F]F[-F]F</a:t>
            </a:r>
            <a:r>
              <a:rPr lang="en-GB" sz="2000" dirty="0"/>
              <a:t>]</a:t>
            </a:r>
            <a:r>
              <a:rPr lang="en-GB" sz="2000" dirty="0">
                <a:solidFill>
                  <a:srgbClr val="002060"/>
                </a:solidFill>
              </a:rPr>
              <a:t>F[+F]F[-F]F</a:t>
            </a:r>
          </a:p>
          <a:p>
            <a:pPr algn="just"/>
            <a:r>
              <a:rPr lang="en-GB" sz="2000" dirty="0">
                <a:solidFill>
                  <a:srgbClr val="002060"/>
                </a:solidFill>
              </a:rPr>
              <a:t>3) ...</a:t>
            </a:r>
          </a:p>
          <a:p>
            <a:pPr algn="just"/>
            <a:endParaRPr lang="en-GB" sz="2000" dirty="0"/>
          </a:p>
          <a:p>
            <a:pPr algn="just"/>
            <a:endParaRPr lang="en-GB" sz="2000" dirty="0"/>
          </a:p>
        </p:txBody>
      </p:sp>
      <p:sp>
        <p:nvSpPr>
          <p:cNvPr id="4" name="Title 1"/>
          <p:cNvSpPr txBox="1">
            <a:spLocks/>
          </p:cNvSpPr>
          <p:nvPr/>
        </p:nvSpPr>
        <p:spPr>
          <a:xfrm>
            <a:off x="1432560" y="1066800"/>
            <a:ext cx="7406640" cy="765282"/>
          </a:xfrm>
          <a:prstGeom prst="rect">
            <a:avLst/>
          </a:prstGeom>
        </p:spPr>
        <p:txBody>
          <a:bodyPr anchor="b">
            <a:normAutofit fontScale="92500"/>
          </a:bodyPr>
          <a:lstStyle>
            <a:lvl1pPr algn="l" rtl="0" eaLnBrk="1" latinLnBrk="0" hangingPunct="1">
              <a:spcBef>
                <a:spcPct val="0"/>
              </a:spcBef>
              <a:buNone/>
              <a:defRPr kumimoji="0" sz="4300" kern="1200">
                <a:solidFill>
                  <a:schemeClr val="tx2">
                    <a:satMod val="130000"/>
                  </a:schemeClr>
                </a:solidFill>
                <a:effectLst>
                  <a:outerShdw blurRad="50000" dist="30000" dir="5400000" algn="tl" rotWithShape="0">
                    <a:srgbClr val="000000">
                      <a:alpha val="30000"/>
                    </a:srgbClr>
                  </a:outerShdw>
                </a:effectLst>
                <a:latin typeface="+mj-lt"/>
                <a:ea typeface="+mj-ea"/>
                <a:cs typeface="+mj-cs"/>
              </a:defRPr>
            </a:lvl1pPr>
            <a:extLst/>
          </a:lstStyle>
          <a:p>
            <a:r>
              <a:rPr lang="en-GB" dirty="0"/>
              <a:t>L-System – </a:t>
            </a:r>
            <a:r>
              <a:rPr lang="en-GB" sz="3500" dirty="0"/>
              <a:t>Action String Developing</a:t>
            </a:r>
            <a:endParaRPr lang="en-GB" dirty="0"/>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84839" y="2057400"/>
            <a:ext cx="1936775" cy="4324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0056113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a:xfrm>
            <a:off x="1432560" y="1066800"/>
            <a:ext cx="7406640" cy="765282"/>
          </a:xfrm>
          <a:prstGeom prst="rect">
            <a:avLst/>
          </a:prstGeom>
        </p:spPr>
        <p:txBody>
          <a:bodyPr anchor="b">
            <a:normAutofit/>
          </a:bodyPr>
          <a:lstStyle>
            <a:lvl1pPr algn="l" rtl="0" eaLnBrk="1" latinLnBrk="0" hangingPunct="1">
              <a:spcBef>
                <a:spcPct val="0"/>
              </a:spcBef>
              <a:buNone/>
              <a:defRPr kumimoji="0" sz="4300" kern="1200">
                <a:solidFill>
                  <a:schemeClr val="tx2">
                    <a:satMod val="130000"/>
                  </a:schemeClr>
                </a:solidFill>
                <a:effectLst>
                  <a:outerShdw blurRad="50000" dist="30000" dir="5400000" algn="tl" rotWithShape="0">
                    <a:srgbClr val="000000">
                      <a:alpha val="30000"/>
                    </a:srgbClr>
                  </a:outerShdw>
                </a:effectLst>
                <a:latin typeface="+mj-lt"/>
                <a:ea typeface="+mj-ea"/>
                <a:cs typeface="+mj-cs"/>
              </a:defRPr>
            </a:lvl1pPr>
            <a:extLst/>
          </a:lstStyle>
          <a:p>
            <a:r>
              <a:rPr lang="en-GB" dirty="0"/>
              <a:t>L-System – </a:t>
            </a:r>
            <a:r>
              <a:rPr lang="en-GB" sz="3000" dirty="0"/>
              <a:t>Interpret</a:t>
            </a:r>
            <a:r>
              <a:rPr lang="fr-FR" sz="3000" dirty="0"/>
              <a:t> string for modeling</a:t>
            </a:r>
            <a:endParaRPr lang="fr-FR" sz="4400" dirty="0"/>
          </a:p>
        </p:txBody>
      </p:sp>
      <p:sp>
        <p:nvSpPr>
          <p:cNvPr id="7" name="TextBox 6">
            <a:extLst>
              <a:ext uri="{FF2B5EF4-FFF2-40B4-BE49-F238E27FC236}">
                <a16:creationId xmlns:a16="http://schemas.microsoft.com/office/drawing/2014/main" id="{E6448188-45CF-5119-991B-617A9154B33B}"/>
              </a:ext>
            </a:extLst>
          </p:cNvPr>
          <p:cNvSpPr txBox="1"/>
          <p:nvPr/>
        </p:nvSpPr>
        <p:spPr>
          <a:xfrm>
            <a:off x="1463040" y="2294689"/>
            <a:ext cx="4572000" cy="3708708"/>
          </a:xfrm>
          <a:prstGeom prst="rect">
            <a:avLst/>
          </a:prstGeom>
          <a:noFill/>
        </p:spPr>
        <p:txBody>
          <a:bodyPr wrap="square">
            <a:spAutoFit/>
          </a:bodyPr>
          <a:lstStyle/>
          <a:p>
            <a:r>
              <a:rPr lang="en-GB" sz="500" dirty="0"/>
              <a:t>FFFFFFFFFFFFFFFF-[[FFFFFFFF-[[FFFF-[[FF-[[F-[[X]+X]+F[+FX]-X]+F-[[X]+X]+F[+FX]-X]+FF[+FFF-[[X]+X]+F[+FX]-X]-F-[[X]+X]+F[+FX]-X]+FF-[[F-[[X]+X]+F[+FX]-X]+F-[[X]+X]+F[+FX]-X]+FF[+FFF-[[X]+X]+F[+FX]-X]-F-[[X]+X]+F[+FX]-X]+FFFF[+FFFFFF-[[F-[[X]+X]+F[+FX]-X]+F-[[X]+X]+F[+FX]-X]+FF[+FFF-[[X]+X]+F[+FX]-X]-F-[[X]+X]+F[+FX]-X]-FF-[[F-[[X]+X]+F[+FX]-X]+F-[[X]+X]+F[+FX]-X]+FF[+FFF-[[X]+X]+F[+FX]-X]-F-[[X]+X]+F[+FX]-X]+FFFF-[[FF-[[F-[[X]+X]+F[+FX]-X]+F-[[X]+X]+F[+FX]-X]+FF[+FFF-[[X]+X]+F[+FX]-X]-F-[[X]+X]+F[+FX]-X]+FF-[[F-[[X]+X]+F[+FX]-X]+F-[[X]+X]+F[+FX]-X]+FF[+FFF-[[X]+X]+F[+FX]-X]-F-[[X]+X]+F[+FX]-X]+FFFF[+FFFFFF-[[F-[[X]+X]+F[+FX]-X]+F-[[X]+X]+F[+FX]-X]+FF[+FFF-[[X]+X]+F[+FX]-X]-F-[[X]+X]+F[+FX]-X]-FF-[[F-[[X]+X]+F[+FX]-X]+F-[[X]+X]+F[+FX]-X]+FF[+FFF-[[X]+X]+F[+FX]-X]-F-[[X]+X]+F[+FX]-X]+FFFFFFFF[+FFFFFFFFFFFF-[[FF-[[F-[[X]+X]+F[+FX]-X]+F-[[X]+X]+F[+FX]-X]+FF[+FFF-[[X]+X]+F[+FX]-X]-F-[[X]+X]+F[+FX]-X]+FF-[[F-[[X]+X]+F[+FX]-X]+F-[[X]+X]+F[+FX]-X]+FF[+FFF-[[X]+X]+F[+FX]-X]-F-[[X]+X]+F[+FX]-X]+FFFF[+FFFFFF-[[F-[[X]+X]+F[+FX]-X]+F-[[X]+X]+F[+FX]-X]+FF[+FFF-[[X]+X]+F[+FX]-X]-F-[[X]+X]+F[+FX]-X]-FF-[[F-[[X]+X]+F[+FX]-X]+F-[[X]+X]+F[+FX]-X]+FF[+FFF-[[X]+X]+F[+FX]-X]-F-[[X]+X]+F[+FX]-X]-FFFF-[[FF-[[F-[[X]+X]+F[+FX]-X]+F-[[X]+X]+F[+FX]-X]+FF[+FFF-[[X]+X]+F[+FX]-X]-F-[[X]+X]+F[+FX]-X]+FF-[[F-[[X]+X]+F[+FX]-X]+F-[[X]+X]+F[+FX]-X]+FF[+FFF-[[X]+X]+F[+FX]-X]-F-[[X]+X]+F[+FX]-X]+FFFF[+FFFFFF-[[F-[[X]+X]+F[+FX]-X]+F-[[X]+X]+F[+FX]-X]+FF[+FFF-[[X]+X]+F[+FX]-X]-F-[[X]+X]+F[+FX]-X]-FF-[[F-[[X]+X]+F[+FX]-X]+F-[[X]+X]+F[+FX]-X]+FF[+FFF-[[X]+X]+F[+FX]-X]-F-[[X]+X]+F[+FX]-X]+FFFFFFFF-[[FFFF-[[FF-[[F-[[X]+X]+F[+FX]-X]+F-[[X]+X]+F[+FX]-X]+FF[+FFF-[[X]+X]+F[+FX]-X]-F-[[X]+X]+F[+FX]-X]+FF-[[F-[[X]+X]+F[+FX]-X]+F-[[X]+X]+F[+FX]-X]+FF[+FFF-[[X]+X]+F[+FX]-X]-F-[[X]+X]+F[+FX]-X]+FFFF[+FFFFFF-[[F-[[X]+X]+F[+FX]-X]+F-[[X]+X]+F[+FX]-X]+FF[+FFF-[[X]+X]+F[+FX]-X]-F-[[X]+X]+F[+FX]-X]-FF-[[F-[[X]+X]+F[+FX]-X]+F-[[X]+X]+F[+FX]-X]+FF[+FFF-[[X]+X]+F[+FX]-X]-F-[[X]+X]+F[+FX]-X]+FFFF-[[FF-[[F-[[X]+X]+F[+FX]-X]+F-[[X]+X]+F[+FX]-X]+FF[+FFF-[[X]+X]+F[+FX]-X]-F-[[X]+X]+F[+FX]-X]+FF-[[F-[[X]+X]+F[+FX]-X]+F-[[X]+X]+F[+FX]-X]+FF[+FFF-[[X]+X]+F[+FX]-X]-F-[[X]+X]+F[+FX]-X]+FFFF[+FFFFFF-[[F-[[X]+X]+F[+FX]-X]+F-[[X]+X]+F[+FX]-X]+FF[+FFF-[[X]+X]+F[+FX]-X]-F-[[X]+X]+F[+FX]-X]-FF-[[F-[[X]+X]+F[+FX]-X]+F-[[X]+X]+F[+FX]-X]+FF[+FFF-[[X]+X]+F[+FX]-X]-F-[[X]+X]+F[+FX]-X]+FFFFFFFF[+FFFFFFFFFFFF-[[FF-[[F-[[X]+X]+F[+FX]-X]+F-[[X]+X]+F[+FX]-X]+FF[+FFF-[[X]+X]+F[+FX]-X]-F-[[X]+X]+F[+FX]-X]+FF-[[F-[[X]+X]+F[+FX]-X]+F-[[X]+X]+F[+FX]-X]+FF[+FFF-[[X]+X]+F[+FX]-X]-F-[[X]+X]+F[+FX]-X]+FFFF[+FFFFFF-[[F-[[X]+X]+F[+FX]-X]+F-[[X]+X]+F[+FX]-X]+FF[+FFF-[[X]+X]+F[+FX]-X]-F-[[X]+X]+F[+FX]-X]-FF-[[F-[[X]+X]+F[+FX]-X]+F-[[X]+X]+F[+FX]-X]+FF[+FFF-[[X]+X]+F[+FX]-X]-F-[[X]+X]+F[+FX]-X]-FFFF-[[FF-[[F-[[X]+X]+F[+FX]-X]+F-[[X]+X]+F[+FX]-X]+FF[+FFF-[[X]+X]+F[+FX]-X]-F-[[X]+X]+F[+FX]-X]+FF-[[F-[[X]+X]+F[+FX]-X]+F-[[X]+X]+F[+FX]-X]+FF[+FFF-[[X]+X]+F[+FX]-X]-F-[[X]+X]+F[+FX]-X]+FFFF[+FFFFFF-[[F-[[X]+X]+F[+FX]-X]+F-[[X]+X]+F[+FX]-X]+FF[+FFF-[[X]+X]+F[+FX]-X]-F-[[X]+X]+F[+FX]-X]-FF-[[F-[[X]+X]+F[+FX]-X]+F-[[X]+X]+F[+FX]-X]+FF[+FFF-[[X]+X]+F[+FX]-X]-F-[[X]+X]+F[+FX]-X]+FFFFFFFFFFFFFFFF[+FFFFFFFFFFFFFFFFFFFFFFFF-[[FFFF-[[FF-[[F-[[X]+X]+F[+FX]-X]+F-[[X]+X]+F[+FX]-X]+FF[+FFF-[[X]+X]+F[+FX]-X]-F-[[X]+X]+F[+FX]-X]+FF-[[F-[[X]+X]+F[+FX]-X]+F-[[X]+X]+F[+FX]-X]+FF[+FFF-[[X]+X]+F[+FX]-X]-F-[[X]+X]+F[+FX]-X]+FFFF[+FFFFFF-[[F-[[X]+X]+F[+FX]-X]+F-[[X]+X]+F[+FX]-X]+FF[+FFF-[[X]+X]+F[+FX]-X]-F-[[X]+X]+F[+FX]-X]-FF-[[F-[[X]+X]+F[+FX]-X]+F-[[X]+X]+F[+FX]-X]+FF[+FFF-[[X]+X]+F[+FX]-X]-F-[[X]+X]+F[+FX]-X]+FFFF-[[FF-[[F-[[X]+X]+F[+FX]-X]+F-[[X]+X]+F[+FX]-X]+FF[+FFF-[[X]+X]+F[+FX]-X]-F-[[X]+X]+F[+FX]-X]+FF-[[F-[[X]+X]+F[+FX]-X]+F-[[X]+X]+F[+FX]-X]+FF[+FFF-[[X]+X]+F[+FX]-X]-F-[[X]+X]+F[+FX]-X]+FFFF[+FFFFFF-[[F-[[X]+X]+F[+FX]-X]+F-[[X]+X]+F[+FX]-X]+FF[+FFF-[[X]+X]+F[+FX]-X]-F-[[X]+X]+F[+FX]-X]-FF-[[F-[[X]+X]+F[+FX]-X]+F-[[X]+X]+F[+FX]-X]+FF[+FFF-[[X]+X]+F[+FX]-X]-F-[[X]+X]+F[+FX]-X]+FFFFFFFF[+FFFFFFFFFFFF-[[FF-[[F-[[X]+X]+F[+FX]-X]+F-[[X]+X]+F[+FX]-X]+FF[+FFF-[[X]+X]+F[+FX]-X]-F-[[X]+X]+F[+FX]-X]+FF-[[F-[[X]+X]+F[+FX]-X]+F-[[X]+X]+F[+FX]-X]+FF[+FFF-[[X]+X]+F[+FX]-X]-F-[[X]+X]+F[+FX]-X]+FFFF[+FFFFFF-[[F-[[X]+X]+F[+FX]-X]+F-[[X]+X]+F[+FX]-X]+FF[+FFF-[[X]+X]+F[+FX]-X]-F-[[X]+X]+F[+FX]-X]-FF-[[F-[[X]+X]+F[+FX]-X]+F-[[X]+X]+F[+FX]-X]+FF[+FFF-[[X]+X]+F[+FX]-X]-F-[[X]+X]+F[+FX]-X]-FFFF-[[FF-[[F-[[X]+X]+F[+FX]-X]+F-[[X]+X]+F[+FX]-X]+FF[+FFF-[[X]+X]+F[+FX]-X]-F-[[X]+X]+F[+FX]-X]+FF-[[F-[[X]+X]+F[+FX]-X]+F-[[X]+X]+F[+FX]-X]+FF[+FFF-[[X]+X]+F[+FX]-X]-F-[[X]+X]+F[+FX]-X]+FFFF[+FFFFFF-[[F-[[X]+X]+F[+FX]-X]+F-[[X]+X]+F[+FX]-X]+FF[+FFF-[[X]+X]+F[+FX]-X]-F-[[X]+X]+F[+FX]-X]-FF-[[F-[[X]+X]+F[+FX]-X]+F-[[X]+X]+F[+FX]-X]+FF[+FFF-[[X]+X]+F[+FX]-X]-F-[[X]+X]+F[+FX]-X]-FFFFFFFF-[[FFFF-[[FF-[[F-[[X]+X]+F[+FX]-X]+F-[[X]+X]+F[+FX]-X]+FF[+FFF-[[X]+X]+F[+FX]-X]-F-[[X]+X]+F[+FX]-X]+FF-[[F-[[X]+X]+F[+FX]-X]+F-[[X]+X]+F[+FX]-X]+FF[+FFF-[[X]+X]+F[+FX]-X]-F-[[X]+X]+F[+FX]-X]+FFFF[+FFFFFF-[[F-[[X]+X]+F[+FX]-X]+F-[[X]+X]+F[+FX]-X]+FF[+FFF-[[X]+X]+F[+FX]-X]-F-[[X]+X]+F[+FX]-X]-FF-[[F-[[X]+X]+F[+FX]-X]+F-[[X]+X]+F[+FX]-X]+FF[+FFF-[[X]+X]+F[+FX]-X]-F-[[X]+X]+F[+FX]-X]+FFFF-[[FF-[[F-[[X]+X]+F[+FX]-X]+F-[[X]+X]+F[+FX]-X]+FF[+FFF-[[X]+X]+F[+FX]-X]-F-[[X]+X]+F[+FX]-X]+FF-[[F-[[X]+X]+F[+FX]-X]+F-[[X]+X]+F[+FX]-X]+FF[+FFF-[[X]+X]+F[+FX]-X]-F-[[X]+X]+F[+FX]-X]+FFFF[+FFFFFF-[[F-[[X]+X]+F[+FX]-X]+F-[[X]+X]+F[+FX]-X]+FF[+FFF-[[X]+X]+F[+FX]-X]-F-[[X]+X]+F[+FX]-X]-FF-[[F-[[X]+X]+F[+FX]-X]+F-[[X]+X]+F[+FX]-X]+FF[+FFF-[[X]+X]+F[+FX]-X]-F-[[X]+X]+F[+FX]-X]+FFFFFFFF[+FFFFFFFFFFFF-[[FF-[[F-[[X]+X]+F[+FX]-X]+F-[[X]+X]+F[+FX]-X]+FF[+FFF-[[X]+X]+F[+FX]-X]-F-[[X]+X]+F[+FX]-X]+FF-[[F-[[X]+X]+F[+FX]-X]+F-[[X]+X]+F[+FX]-X]+FF[+FFF-[[X]+X]+F[+FX]-X]-F-[[X]+X]+F[+FX]-X]+FFFF[+FFFFFF-[[F-[[X]+X]+F[+FX]-X]+F-[[X]+X]+F[+FX]-X]+FF[+FFF-[[X]+X]+F[+FX]-X]-F-[[X]+X]+F[+FX]-X]-FF-[[F-[[X]+X]+F[+FX]-X]+F-[[X]+X]+F[+FX]-X]+FF[+FFF-[[X]+X]+F[+FX]-X]-F-[[X]+X]+F[+FX]-X]-FFFF-[[FF-[[F-[[X]+X]+F[+FX]-X]+F-[[X]+X]+F[+FX]-X]+FF[+FFF-[[X]+X]+F[+FX]-X]-F-[[X]+X]+F[+FX]-X]+FF-[[F-[[X]+X]+F[+FX]-X]+F-[[X]+X]+F[+FX]-X]+FF[+FFF-[[X]+X]+F[+FX]-X]-F-[[X]+X]+F[+FX]-X]+FFFF[+FFFFFF-[[F-[[X]+X]+F[+FX]-X]+F-[[X]+X]+F[+FX]-X]+FF[+FFF-[[X]+X]+F[+FX]-X]-F-[[X]+X]+F[+FX]-X]-FF-[[F-[[X]+X]+F[+FX]-X]+F-[[X]+X]+F[+FX]-X]+FF[+FFF-[[X]+X]+F[+FX]-X]-F-[[X]+X]+F[+FX]-X</a:t>
            </a:r>
          </a:p>
        </p:txBody>
      </p:sp>
      <p:pic>
        <p:nvPicPr>
          <p:cNvPr id="8" name="Picture 7" descr="A picture containing line chart&#10;&#10;Description automatically generated">
            <a:extLst>
              <a:ext uri="{FF2B5EF4-FFF2-40B4-BE49-F238E27FC236}">
                <a16:creationId xmlns:a16="http://schemas.microsoft.com/office/drawing/2014/main" id="{6325E74A-96F8-E108-3C61-FAFF94E7B25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385560" y="3200400"/>
            <a:ext cx="2590800" cy="3313183"/>
          </a:xfrm>
          <a:prstGeom prst="rect">
            <a:avLst/>
          </a:prstGeom>
        </p:spPr>
      </p:pic>
      <p:sp>
        <p:nvSpPr>
          <p:cNvPr id="9" name="TextBox 8">
            <a:extLst>
              <a:ext uri="{FF2B5EF4-FFF2-40B4-BE49-F238E27FC236}">
                <a16:creationId xmlns:a16="http://schemas.microsoft.com/office/drawing/2014/main" id="{4DFC9844-7846-E1E0-F865-4936B51D14D2}"/>
              </a:ext>
            </a:extLst>
          </p:cNvPr>
          <p:cNvSpPr txBox="1"/>
          <p:nvPr/>
        </p:nvSpPr>
        <p:spPr>
          <a:xfrm>
            <a:off x="6320458" y="2054576"/>
            <a:ext cx="2808302" cy="861774"/>
          </a:xfrm>
          <a:prstGeom prst="rect">
            <a:avLst/>
          </a:prstGeom>
          <a:noFill/>
        </p:spPr>
        <p:txBody>
          <a:bodyPr wrap="square" rtlCol="0">
            <a:spAutoFit/>
          </a:bodyPr>
          <a:lstStyle/>
          <a:p>
            <a:r>
              <a:rPr lang="en-GB" sz="1600" dirty="0"/>
              <a:t>n = 5, X, </a:t>
            </a:r>
            <a:r>
              <a:rPr lang="el-GR" sz="1600" b="0" i="0" dirty="0">
                <a:solidFill>
                  <a:srgbClr val="000000"/>
                </a:solidFill>
                <a:effectLst/>
                <a:latin typeface="Arial Unicode MS"/>
              </a:rPr>
              <a:t>δ</a:t>
            </a:r>
            <a:r>
              <a:rPr lang="en-GB" sz="1600" b="0" i="0" dirty="0">
                <a:solidFill>
                  <a:srgbClr val="000000"/>
                </a:solidFill>
                <a:effectLst/>
                <a:latin typeface="Arial Unicode MS"/>
              </a:rPr>
              <a:t>=</a:t>
            </a:r>
            <a:r>
              <a:rPr lang="en-GB" sz="1600" dirty="0"/>
              <a:t>25</a:t>
            </a:r>
          </a:p>
          <a:p>
            <a:r>
              <a:rPr lang="en-GB" sz="1600" dirty="0"/>
              <a:t>X -&gt; F-[[X]+X]+F[+FX]-X</a:t>
            </a:r>
          </a:p>
          <a:p>
            <a:r>
              <a:rPr lang="en-GB" sz="1600" dirty="0"/>
              <a:t>F -&gt; FF </a:t>
            </a:r>
          </a:p>
        </p:txBody>
      </p:sp>
    </p:spTree>
    <p:extLst>
      <p:ext uri="{BB962C8B-B14F-4D97-AF65-F5344CB8AC3E}">
        <p14:creationId xmlns:p14="http://schemas.microsoft.com/office/powerpoint/2010/main" val="395563974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975E76-0A29-4170-6443-EBFCA0F29FD3}"/>
            </a:ext>
          </a:extLst>
        </p:cNvPr>
        <p:cNvGrpSpPr/>
        <p:nvPr/>
      </p:nvGrpSpPr>
      <p:grpSpPr>
        <a:xfrm>
          <a:off x="0" y="0"/>
          <a:ext cx="0" cy="0"/>
          <a:chOff x="0" y="0"/>
          <a:chExt cx="0" cy="0"/>
        </a:xfrm>
      </p:grpSpPr>
      <p:sp>
        <p:nvSpPr>
          <p:cNvPr id="2" name="Subtitle 1">
            <a:extLst>
              <a:ext uri="{FF2B5EF4-FFF2-40B4-BE49-F238E27FC236}">
                <a16:creationId xmlns:a16="http://schemas.microsoft.com/office/drawing/2014/main" id="{47444CDB-BA40-7C97-CC15-4CBD2D51F16F}"/>
              </a:ext>
            </a:extLst>
          </p:cNvPr>
          <p:cNvSpPr>
            <a:spLocks noGrp="1"/>
          </p:cNvSpPr>
          <p:nvPr>
            <p:ph type="subTitle" idx="1"/>
          </p:nvPr>
        </p:nvSpPr>
        <p:spPr>
          <a:xfrm>
            <a:off x="1432560" y="1850064"/>
            <a:ext cx="4587240" cy="4626936"/>
          </a:xfrm>
        </p:spPr>
        <p:txBody>
          <a:bodyPr>
            <a:noAutofit/>
          </a:bodyPr>
          <a:lstStyle/>
          <a:p>
            <a:pPr algn="just">
              <a:spcAft>
                <a:spcPts val="600"/>
              </a:spcAft>
            </a:pPr>
            <a:r>
              <a:rPr lang="en-GB" sz="2400" dirty="0"/>
              <a:t>Starting position - root</a:t>
            </a:r>
          </a:p>
          <a:p>
            <a:pPr algn="just">
              <a:spcAft>
                <a:spcPts val="600"/>
              </a:spcAft>
            </a:pPr>
            <a:r>
              <a:rPr lang="en-GB" sz="2400" dirty="0"/>
              <a:t>In 2D, the </a:t>
            </a:r>
            <a:r>
              <a:rPr lang="en-GB" sz="2400" b="1" dirty="0">
                <a:solidFill>
                  <a:srgbClr val="FF0000"/>
                </a:solidFill>
              </a:rPr>
              <a:t>state</a:t>
            </a:r>
            <a:r>
              <a:rPr lang="en-GB" sz="2400" dirty="0">
                <a:solidFill>
                  <a:srgbClr val="FF0000"/>
                </a:solidFill>
              </a:rPr>
              <a:t> </a:t>
            </a:r>
            <a:r>
              <a:rPr lang="en-GB" sz="2400" dirty="0"/>
              <a:t>of growing is defined as (x, y, α), the current </a:t>
            </a:r>
            <a:r>
              <a:rPr lang="en-GB" sz="2400" dirty="0">
                <a:solidFill>
                  <a:srgbClr val="FF0000"/>
                </a:solidFill>
              </a:rPr>
              <a:t>position</a:t>
            </a:r>
            <a:r>
              <a:rPr lang="en-GB" sz="2400" dirty="0"/>
              <a:t> and </a:t>
            </a:r>
            <a:r>
              <a:rPr lang="en-GB" sz="2400" dirty="0">
                <a:solidFill>
                  <a:srgbClr val="FF0000"/>
                </a:solidFill>
              </a:rPr>
              <a:t>orientation</a:t>
            </a:r>
            <a:r>
              <a:rPr lang="en-GB" sz="2400" dirty="0"/>
              <a:t>.</a:t>
            </a:r>
          </a:p>
          <a:p>
            <a:pPr algn="just">
              <a:spcAft>
                <a:spcPts val="600"/>
              </a:spcAft>
            </a:pPr>
            <a:r>
              <a:rPr lang="en-GB" sz="2400" dirty="0"/>
              <a:t>Given a step size </a:t>
            </a:r>
            <a:r>
              <a:rPr lang="en-GB" sz="2400" dirty="0">
                <a:solidFill>
                  <a:srgbClr val="FF0000"/>
                </a:solidFill>
              </a:rPr>
              <a:t>d</a:t>
            </a:r>
            <a:r>
              <a:rPr lang="en-GB" sz="2400" dirty="0"/>
              <a:t> (growing distance) and </a:t>
            </a:r>
          </a:p>
          <a:p>
            <a:pPr algn="just">
              <a:spcAft>
                <a:spcPts val="600"/>
              </a:spcAft>
            </a:pPr>
            <a:r>
              <a:rPr lang="en-GB" sz="2400" dirty="0"/>
              <a:t>angle increment </a:t>
            </a:r>
            <a:r>
              <a:rPr lang="en-GB" sz="2400" dirty="0">
                <a:solidFill>
                  <a:srgbClr val="FF0000"/>
                </a:solidFill>
              </a:rPr>
              <a:t>δ</a:t>
            </a:r>
            <a:r>
              <a:rPr lang="en-GB" sz="2400" dirty="0"/>
              <a:t> (delta, changes in orientation), </a:t>
            </a:r>
          </a:p>
          <a:p>
            <a:pPr algn="just">
              <a:spcAft>
                <a:spcPts val="600"/>
              </a:spcAft>
            </a:pPr>
            <a:r>
              <a:rPr lang="en-GB" sz="2400" dirty="0"/>
              <a:t>the plant can grow step by step following commands.</a:t>
            </a:r>
            <a:endParaRPr lang="en-GB" sz="2000" dirty="0"/>
          </a:p>
        </p:txBody>
      </p:sp>
      <p:sp>
        <p:nvSpPr>
          <p:cNvPr id="4" name="Title 1">
            <a:extLst>
              <a:ext uri="{FF2B5EF4-FFF2-40B4-BE49-F238E27FC236}">
                <a16:creationId xmlns:a16="http://schemas.microsoft.com/office/drawing/2014/main" id="{C9A7A7E3-F661-7308-BF1A-36D9B9B9FCB6}"/>
              </a:ext>
            </a:extLst>
          </p:cNvPr>
          <p:cNvSpPr txBox="1">
            <a:spLocks/>
          </p:cNvSpPr>
          <p:nvPr/>
        </p:nvSpPr>
        <p:spPr>
          <a:xfrm>
            <a:off x="1432560" y="1066800"/>
            <a:ext cx="7406640" cy="765282"/>
          </a:xfrm>
          <a:prstGeom prst="rect">
            <a:avLst/>
          </a:prstGeom>
        </p:spPr>
        <p:txBody>
          <a:bodyPr anchor="b">
            <a:normAutofit/>
          </a:bodyPr>
          <a:lstStyle>
            <a:lvl1pPr algn="l" rtl="0" eaLnBrk="1" latinLnBrk="0" hangingPunct="1">
              <a:spcBef>
                <a:spcPct val="0"/>
              </a:spcBef>
              <a:buNone/>
              <a:defRPr kumimoji="0" sz="4300" kern="1200">
                <a:solidFill>
                  <a:schemeClr val="tx2">
                    <a:satMod val="130000"/>
                  </a:schemeClr>
                </a:solidFill>
                <a:effectLst>
                  <a:outerShdw blurRad="50000" dist="30000" dir="5400000" algn="tl" rotWithShape="0">
                    <a:srgbClr val="000000">
                      <a:alpha val="30000"/>
                    </a:srgbClr>
                  </a:outerShdw>
                </a:effectLst>
                <a:latin typeface="+mj-lt"/>
                <a:ea typeface="+mj-ea"/>
                <a:cs typeface="+mj-cs"/>
              </a:defRPr>
            </a:lvl1pPr>
            <a:extLst/>
          </a:lstStyle>
          <a:p>
            <a:r>
              <a:rPr lang="en-GB" dirty="0"/>
              <a:t>L-System – </a:t>
            </a:r>
            <a:r>
              <a:rPr lang="en-GB" sz="3000" dirty="0"/>
              <a:t>Interpret</a:t>
            </a:r>
            <a:r>
              <a:rPr lang="fr-FR" sz="3000" dirty="0"/>
              <a:t> string for modeling</a:t>
            </a:r>
            <a:endParaRPr lang="fr-FR" sz="4400" dirty="0"/>
          </a:p>
        </p:txBody>
      </p:sp>
      <p:pic>
        <p:nvPicPr>
          <p:cNvPr id="3" name="Picture 2" descr="A picture containing line chart&#10;&#10;Description automatically generated">
            <a:extLst>
              <a:ext uri="{FF2B5EF4-FFF2-40B4-BE49-F238E27FC236}">
                <a16:creationId xmlns:a16="http://schemas.microsoft.com/office/drawing/2014/main" id="{5AB15BB8-AADD-F325-ABC1-87919B27E74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385560" y="3200400"/>
            <a:ext cx="2590800" cy="3313183"/>
          </a:xfrm>
          <a:prstGeom prst="rect">
            <a:avLst/>
          </a:prstGeom>
        </p:spPr>
      </p:pic>
      <p:sp>
        <p:nvSpPr>
          <p:cNvPr id="5" name="TextBox 4">
            <a:extLst>
              <a:ext uri="{FF2B5EF4-FFF2-40B4-BE49-F238E27FC236}">
                <a16:creationId xmlns:a16="http://schemas.microsoft.com/office/drawing/2014/main" id="{BB095A1B-7222-042F-561F-FC82F5D99076}"/>
              </a:ext>
            </a:extLst>
          </p:cNvPr>
          <p:cNvSpPr txBox="1"/>
          <p:nvPr/>
        </p:nvSpPr>
        <p:spPr>
          <a:xfrm>
            <a:off x="6320458" y="2054576"/>
            <a:ext cx="2808302" cy="861774"/>
          </a:xfrm>
          <a:prstGeom prst="rect">
            <a:avLst/>
          </a:prstGeom>
          <a:noFill/>
        </p:spPr>
        <p:txBody>
          <a:bodyPr wrap="square" rtlCol="0">
            <a:spAutoFit/>
          </a:bodyPr>
          <a:lstStyle/>
          <a:p>
            <a:r>
              <a:rPr lang="en-GB" sz="1600" dirty="0"/>
              <a:t>n = 5, X, δ</a:t>
            </a:r>
            <a:r>
              <a:rPr lang="en-GB" sz="1600" dirty="0">
                <a:solidFill>
                  <a:srgbClr val="FF0000"/>
                </a:solidFill>
              </a:rPr>
              <a:t> </a:t>
            </a:r>
            <a:r>
              <a:rPr lang="en-GB" sz="1600" b="0" i="0" dirty="0">
                <a:solidFill>
                  <a:srgbClr val="000000"/>
                </a:solidFill>
                <a:effectLst/>
                <a:latin typeface="Arial Unicode MS"/>
              </a:rPr>
              <a:t>=</a:t>
            </a:r>
            <a:r>
              <a:rPr lang="en-GB" sz="1600" dirty="0"/>
              <a:t>25</a:t>
            </a:r>
          </a:p>
          <a:p>
            <a:r>
              <a:rPr lang="en-GB" sz="1600" dirty="0"/>
              <a:t>X -&gt; F-[[X]+X]+F[+FX]-X</a:t>
            </a:r>
          </a:p>
          <a:p>
            <a:r>
              <a:rPr lang="en-GB" sz="1600" dirty="0"/>
              <a:t>F -&gt; FF </a:t>
            </a:r>
          </a:p>
        </p:txBody>
      </p:sp>
    </p:spTree>
    <p:extLst>
      <p:ext uri="{BB962C8B-B14F-4D97-AF65-F5344CB8AC3E}">
        <p14:creationId xmlns:p14="http://schemas.microsoft.com/office/powerpoint/2010/main" val="43810737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a:xfrm>
            <a:off x="1432560" y="2002464"/>
            <a:ext cx="4663440" cy="2340936"/>
          </a:xfrm>
        </p:spPr>
        <p:txBody>
          <a:bodyPr>
            <a:noAutofit/>
          </a:bodyPr>
          <a:lstStyle/>
          <a:p>
            <a:pPr algn="just">
              <a:lnSpc>
                <a:spcPct val="90000"/>
              </a:lnSpc>
            </a:pPr>
            <a:r>
              <a:rPr lang="en-GB" sz="2000" dirty="0"/>
              <a:t>The symbol </a:t>
            </a:r>
            <a:r>
              <a:rPr lang="en-GB" sz="2000" b="1" dirty="0">
                <a:solidFill>
                  <a:srgbClr val="FF0000"/>
                </a:solidFill>
              </a:rPr>
              <a:t>F</a:t>
            </a:r>
            <a:r>
              <a:rPr lang="en-GB" sz="2000" dirty="0">
                <a:solidFill>
                  <a:srgbClr val="FF0000"/>
                </a:solidFill>
              </a:rPr>
              <a:t> </a:t>
            </a:r>
            <a:r>
              <a:rPr lang="en-GB" sz="2000" dirty="0"/>
              <a:t>control moving forward  with step size </a:t>
            </a:r>
            <a:r>
              <a:rPr lang="en-GB" sz="2000" dirty="0">
                <a:solidFill>
                  <a:srgbClr val="FF0000"/>
                </a:solidFill>
              </a:rPr>
              <a:t>d</a:t>
            </a:r>
            <a:r>
              <a:rPr lang="en-GB" sz="2000" dirty="0"/>
              <a:t> in the direction of </a:t>
            </a:r>
            <a:r>
              <a:rPr lang="en-GB" sz="2000" dirty="0">
                <a:solidFill>
                  <a:srgbClr val="FF0000"/>
                </a:solidFill>
              </a:rPr>
              <a:t>α</a:t>
            </a:r>
          </a:p>
          <a:p>
            <a:pPr algn="just">
              <a:lnSpc>
                <a:spcPct val="90000"/>
              </a:lnSpc>
            </a:pPr>
            <a:endParaRPr lang="en-GB" sz="2000" dirty="0"/>
          </a:p>
          <a:p>
            <a:pPr algn="just">
              <a:lnSpc>
                <a:spcPct val="90000"/>
              </a:lnSpc>
            </a:pPr>
            <a:r>
              <a:rPr lang="en-GB" sz="2000" dirty="0"/>
              <a:t>The following symbols control the orientation in space (2D):</a:t>
            </a:r>
          </a:p>
          <a:p>
            <a:pPr lvl="1" algn="just">
              <a:lnSpc>
                <a:spcPct val="90000"/>
              </a:lnSpc>
            </a:pPr>
            <a:r>
              <a:rPr lang="en-GB" sz="1800" b="1" dirty="0">
                <a:solidFill>
                  <a:srgbClr val="FF0000"/>
                </a:solidFill>
              </a:rPr>
              <a:t>+</a:t>
            </a:r>
            <a:r>
              <a:rPr lang="en-GB" sz="1800" dirty="0"/>
              <a:t>     Turn left by angle </a:t>
            </a:r>
            <a:r>
              <a:rPr lang="en-GB" sz="1800" i="1" dirty="0"/>
              <a:t>δ (delta)</a:t>
            </a:r>
            <a:endParaRPr lang="en-GB" sz="1800" dirty="0"/>
          </a:p>
          <a:p>
            <a:pPr lvl="1" algn="just">
              <a:lnSpc>
                <a:spcPct val="90000"/>
              </a:lnSpc>
            </a:pPr>
            <a:r>
              <a:rPr lang="en-GB" sz="1800" b="1" i="1" dirty="0">
                <a:solidFill>
                  <a:srgbClr val="FF0000"/>
                </a:solidFill>
              </a:rPr>
              <a:t>−</a:t>
            </a:r>
            <a:r>
              <a:rPr lang="en-GB" sz="1800" i="1" dirty="0"/>
              <a:t>     </a:t>
            </a:r>
            <a:r>
              <a:rPr lang="en-GB" sz="1800" dirty="0"/>
              <a:t>Turn right by angle </a:t>
            </a:r>
            <a:r>
              <a:rPr lang="en-GB" sz="1800" i="1" dirty="0"/>
              <a:t>δ</a:t>
            </a:r>
          </a:p>
          <a:p>
            <a:pPr lvl="1" algn="just">
              <a:lnSpc>
                <a:spcPct val="90000"/>
              </a:lnSpc>
            </a:pPr>
            <a:endParaRPr lang="en-GB" sz="1800" dirty="0"/>
          </a:p>
        </p:txBody>
      </p:sp>
      <p:sp>
        <p:nvSpPr>
          <p:cNvPr id="4" name="Title 1"/>
          <p:cNvSpPr txBox="1">
            <a:spLocks/>
          </p:cNvSpPr>
          <p:nvPr/>
        </p:nvSpPr>
        <p:spPr>
          <a:xfrm>
            <a:off x="1432560" y="1066800"/>
            <a:ext cx="7406640" cy="765282"/>
          </a:xfrm>
          <a:prstGeom prst="rect">
            <a:avLst/>
          </a:prstGeom>
        </p:spPr>
        <p:txBody>
          <a:bodyPr anchor="b">
            <a:normAutofit/>
          </a:bodyPr>
          <a:lstStyle>
            <a:lvl1pPr algn="l" rtl="0" eaLnBrk="1" latinLnBrk="0" hangingPunct="1">
              <a:spcBef>
                <a:spcPct val="0"/>
              </a:spcBef>
              <a:buNone/>
              <a:defRPr kumimoji="0" sz="4300" kern="1200">
                <a:solidFill>
                  <a:schemeClr val="tx2">
                    <a:satMod val="130000"/>
                  </a:schemeClr>
                </a:solidFill>
                <a:effectLst>
                  <a:outerShdw blurRad="50000" dist="30000" dir="5400000" algn="tl" rotWithShape="0">
                    <a:srgbClr val="000000">
                      <a:alpha val="30000"/>
                    </a:srgbClr>
                  </a:outerShdw>
                </a:effectLst>
                <a:latin typeface="+mj-lt"/>
                <a:ea typeface="+mj-ea"/>
                <a:cs typeface="+mj-cs"/>
              </a:defRPr>
            </a:lvl1pPr>
            <a:extLst/>
          </a:lstStyle>
          <a:p>
            <a:r>
              <a:rPr lang="en-GB" dirty="0"/>
              <a:t>L-System – Modelling Plants </a:t>
            </a:r>
          </a:p>
        </p:txBody>
      </p:sp>
      <p:pic>
        <p:nvPicPr>
          <p:cNvPr id="3" name="Picture 2" descr="A picture containing line chart&#10;&#10;Description automatically generated">
            <a:extLst>
              <a:ext uri="{FF2B5EF4-FFF2-40B4-BE49-F238E27FC236}">
                <a16:creationId xmlns:a16="http://schemas.microsoft.com/office/drawing/2014/main" id="{8DF72603-7A99-FCD6-5BC7-0825DAEFF1F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385560" y="3200400"/>
            <a:ext cx="2590800" cy="3313183"/>
          </a:xfrm>
          <a:prstGeom prst="rect">
            <a:avLst/>
          </a:prstGeom>
        </p:spPr>
      </p:pic>
      <p:sp>
        <p:nvSpPr>
          <p:cNvPr id="5" name="TextBox 4">
            <a:extLst>
              <a:ext uri="{FF2B5EF4-FFF2-40B4-BE49-F238E27FC236}">
                <a16:creationId xmlns:a16="http://schemas.microsoft.com/office/drawing/2014/main" id="{EA8BF53D-FF82-C359-6702-F29E782A3415}"/>
              </a:ext>
            </a:extLst>
          </p:cNvPr>
          <p:cNvSpPr txBox="1"/>
          <p:nvPr/>
        </p:nvSpPr>
        <p:spPr>
          <a:xfrm>
            <a:off x="6320458" y="2054576"/>
            <a:ext cx="2808302" cy="861774"/>
          </a:xfrm>
          <a:prstGeom prst="rect">
            <a:avLst/>
          </a:prstGeom>
          <a:noFill/>
        </p:spPr>
        <p:txBody>
          <a:bodyPr wrap="square" rtlCol="0">
            <a:spAutoFit/>
          </a:bodyPr>
          <a:lstStyle/>
          <a:p>
            <a:r>
              <a:rPr lang="en-GB" sz="1600" dirty="0"/>
              <a:t>n = 5, X, δ</a:t>
            </a:r>
            <a:r>
              <a:rPr lang="en-GB" sz="1600" dirty="0">
                <a:solidFill>
                  <a:srgbClr val="FF0000"/>
                </a:solidFill>
              </a:rPr>
              <a:t> </a:t>
            </a:r>
            <a:r>
              <a:rPr lang="en-GB" sz="1600" b="0" i="0" dirty="0">
                <a:solidFill>
                  <a:srgbClr val="000000"/>
                </a:solidFill>
                <a:effectLst/>
                <a:latin typeface="Arial Unicode MS"/>
              </a:rPr>
              <a:t>=</a:t>
            </a:r>
            <a:r>
              <a:rPr lang="en-GB" sz="1600" dirty="0"/>
              <a:t>25</a:t>
            </a:r>
          </a:p>
          <a:p>
            <a:r>
              <a:rPr lang="en-GB" sz="1600" dirty="0"/>
              <a:t>X -&gt; F-[[X]+X]+F[+FX]-X</a:t>
            </a:r>
          </a:p>
          <a:p>
            <a:r>
              <a:rPr lang="en-GB" sz="1600" dirty="0"/>
              <a:t>F -&gt; FF </a:t>
            </a:r>
          </a:p>
        </p:txBody>
      </p:sp>
    </p:spTree>
    <p:extLst>
      <p:ext uri="{BB962C8B-B14F-4D97-AF65-F5344CB8AC3E}">
        <p14:creationId xmlns:p14="http://schemas.microsoft.com/office/powerpoint/2010/main" val="191634971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94102D-B5FA-D022-9A35-8188812F8BB2}"/>
            </a:ext>
          </a:extLst>
        </p:cNvPr>
        <p:cNvGrpSpPr/>
        <p:nvPr/>
      </p:nvGrpSpPr>
      <p:grpSpPr>
        <a:xfrm>
          <a:off x="0" y="0"/>
          <a:ext cx="0" cy="0"/>
          <a:chOff x="0" y="0"/>
          <a:chExt cx="0" cy="0"/>
        </a:xfrm>
      </p:grpSpPr>
      <p:sp>
        <p:nvSpPr>
          <p:cNvPr id="2" name="Subtitle 1">
            <a:extLst>
              <a:ext uri="{FF2B5EF4-FFF2-40B4-BE49-F238E27FC236}">
                <a16:creationId xmlns:a16="http://schemas.microsoft.com/office/drawing/2014/main" id="{B67305BF-BD31-2762-AF92-214EA9BF5345}"/>
              </a:ext>
            </a:extLst>
          </p:cNvPr>
          <p:cNvSpPr>
            <a:spLocks noGrp="1"/>
          </p:cNvSpPr>
          <p:nvPr>
            <p:ph type="subTitle" idx="1"/>
          </p:nvPr>
        </p:nvSpPr>
        <p:spPr>
          <a:xfrm>
            <a:off x="1432560" y="2002464"/>
            <a:ext cx="6949440" cy="2340936"/>
          </a:xfrm>
        </p:spPr>
        <p:txBody>
          <a:bodyPr>
            <a:noAutofit/>
          </a:bodyPr>
          <a:lstStyle/>
          <a:p>
            <a:pPr algn="just">
              <a:lnSpc>
                <a:spcPct val="90000"/>
              </a:lnSpc>
            </a:pPr>
            <a:r>
              <a:rPr lang="en-GB" sz="2000" dirty="0"/>
              <a:t>For 3D, </a:t>
            </a:r>
            <a:r>
              <a:rPr lang="en-GB" sz="1800" dirty="0"/>
              <a:t>you can use other symbols to control the changing of direction in 3D such as &amp; Pitch down, ^ for pitch up, \ for roll left, /  for roll right, | for turn around)</a:t>
            </a:r>
          </a:p>
          <a:p>
            <a:pPr algn="just">
              <a:lnSpc>
                <a:spcPct val="90000"/>
              </a:lnSpc>
            </a:pPr>
            <a:endParaRPr lang="fr-FR" sz="2000" dirty="0"/>
          </a:p>
        </p:txBody>
      </p:sp>
      <p:sp>
        <p:nvSpPr>
          <p:cNvPr id="4" name="Title 1">
            <a:extLst>
              <a:ext uri="{FF2B5EF4-FFF2-40B4-BE49-F238E27FC236}">
                <a16:creationId xmlns:a16="http://schemas.microsoft.com/office/drawing/2014/main" id="{F9739C97-C96F-E823-8A98-9CFA3A974D1A}"/>
              </a:ext>
            </a:extLst>
          </p:cNvPr>
          <p:cNvSpPr txBox="1">
            <a:spLocks/>
          </p:cNvSpPr>
          <p:nvPr/>
        </p:nvSpPr>
        <p:spPr>
          <a:xfrm>
            <a:off x="1432560" y="1066800"/>
            <a:ext cx="7406640" cy="765282"/>
          </a:xfrm>
          <a:prstGeom prst="rect">
            <a:avLst/>
          </a:prstGeom>
        </p:spPr>
        <p:txBody>
          <a:bodyPr anchor="b">
            <a:normAutofit/>
          </a:bodyPr>
          <a:lstStyle>
            <a:lvl1pPr algn="l" rtl="0" eaLnBrk="1" latinLnBrk="0" hangingPunct="1">
              <a:spcBef>
                <a:spcPct val="0"/>
              </a:spcBef>
              <a:buNone/>
              <a:defRPr kumimoji="0" sz="4300" kern="1200">
                <a:solidFill>
                  <a:schemeClr val="tx2">
                    <a:satMod val="130000"/>
                  </a:schemeClr>
                </a:solidFill>
                <a:effectLst>
                  <a:outerShdw blurRad="50000" dist="30000" dir="5400000" algn="tl" rotWithShape="0">
                    <a:srgbClr val="000000">
                      <a:alpha val="30000"/>
                    </a:srgbClr>
                  </a:outerShdw>
                </a:effectLst>
                <a:latin typeface="+mj-lt"/>
                <a:ea typeface="+mj-ea"/>
                <a:cs typeface="+mj-cs"/>
              </a:defRPr>
            </a:lvl1pPr>
            <a:extLst/>
          </a:lstStyle>
          <a:p>
            <a:r>
              <a:rPr lang="en-GB" dirty="0"/>
              <a:t>L-System – Modelling Plants </a:t>
            </a:r>
          </a:p>
        </p:txBody>
      </p:sp>
      <p:pic>
        <p:nvPicPr>
          <p:cNvPr id="1026" name="Picture 2" descr="What is the difference between Roll Pitch Yaw: Aircraft Motions">
            <a:extLst>
              <a:ext uri="{FF2B5EF4-FFF2-40B4-BE49-F238E27FC236}">
                <a16:creationId xmlns:a16="http://schemas.microsoft.com/office/drawing/2014/main" id="{D8C6BD71-5D41-A81A-BCF7-37F4FF603E3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90800" y="3223732"/>
            <a:ext cx="4897120" cy="275463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1527882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a:xfrm>
            <a:off x="1432560" y="1066800"/>
            <a:ext cx="7406640" cy="765282"/>
          </a:xfrm>
          <a:prstGeom prst="rect">
            <a:avLst/>
          </a:prstGeom>
        </p:spPr>
        <p:txBody>
          <a:bodyPr anchor="b">
            <a:normAutofit/>
          </a:bodyPr>
          <a:lstStyle>
            <a:lvl1pPr algn="l" rtl="0" eaLnBrk="1" latinLnBrk="0" hangingPunct="1">
              <a:spcBef>
                <a:spcPct val="0"/>
              </a:spcBef>
              <a:buNone/>
              <a:defRPr kumimoji="0" sz="4300" kern="1200">
                <a:solidFill>
                  <a:schemeClr val="tx2">
                    <a:satMod val="130000"/>
                  </a:schemeClr>
                </a:solidFill>
                <a:effectLst>
                  <a:outerShdw blurRad="50000" dist="30000" dir="5400000" algn="tl" rotWithShape="0">
                    <a:srgbClr val="000000">
                      <a:alpha val="30000"/>
                    </a:srgbClr>
                  </a:outerShdw>
                </a:effectLst>
                <a:latin typeface="+mj-lt"/>
                <a:ea typeface="+mj-ea"/>
                <a:cs typeface="+mj-cs"/>
              </a:defRPr>
            </a:lvl1pPr>
            <a:extLst/>
          </a:lstStyle>
          <a:p>
            <a:r>
              <a:rPr lang="en-GB" dirty="0"/>
              <a:t>L-System – Branching</a:t>
            </a:r>
          </a:p>
        </p:txBody>
      </p:sp>
      <p:pic>
        <p:nvPicPr>
          <p:cNvPr id="6146" name="Picture 2" descr="http://www.csit.parkland.edu/%7Embrandyberry/CS2Java/Lessons/Stack_Queue/images/StackPushPop.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76400" y="4985353"/>
            <a:ext cx="5155883" cy="1577371"/>
          </a:xfrm>
          <a:prstGeom prst="rect">
            <a:avLst/>
          </a:prstGeom>
          <a:noFill/>
          <a:extLst>
            <a:ext uri="{909E8E84-426E-40DD-AFC4-6F175D3DCCD1}">
              <a14:hiddenFill xmlns:a14="http://schemas.microsoft.com/office/drawing/2010/main">
                <a:solidFill>
                  <a:srgbClr val="FFFFFF"/>
                </a:solidFill>
              </a14:hiddenFill>
            </a:ext>
          </a:extLst>
        </p:spPr>
      </p:pic>
      <p:pic>
        <p:nvPicPr>
          <p:cNvPr id="6148" name="Picture 4" descr="http://i.stack.imgur.com/CrqR8.png"/>
          <p:cNvPicPr>
            <a:picLocks noChangeAspect="1" noChangeArrowheads="1"/>
          </p:cNvPicPr>
          <p:nvPr/>
        </p:nvPicPr>
        <p:blipFill rotWithShape="1">
          <a:blip r:embed="rId3">
            <a:extLst>
              <a:ext uri="{28A0092B-C50C-407E-A947-70E740481C1C}">
                <a14:useLocalDpi xmlns:a14="http://schemas.microsoft.com/office/drawing/2010/main" val="0"/>
              </a:ext>
            </a:extLst>
          </a:blip>
          <a:srcRect l="9495" t="12485" r="7571"/>
          <a:stretch/>
        </p:blipFill>
        <p:spPr bwMode="auto">
          <a:xfrm>
            <a:off x="7121768" y="2362024"/>
            <a:ext cx="2022232" cy="2133951"/>
          </a:xfrm>
          <a:prstGeom prst="rect">
            <a:avLst/>
          </a:prstGeom>
          <a:noFill/>
          <a:extLst>
            <a:ext uri="{909E8E84-426E-40DD-AFC4-6F175D3DCCD1}">
              <a14:hiddenFill xmlns:a14="http://schemas.microsoft.com/office/drawing/2010/main">
                <a:solidFill>
                  <a:srgbClr val="FFFFFF"/>
                </a:solidFill>
              </a14:hiddenFill>
            </a:ext>
          </a:extLst>
        </p:spPr>
      </p:pic>
      <p:sp>
        <p:nvSpPr>
          <p:cNvPr id="2" name="Subtitle 1"/>
          <p:cNvSpPr>
            <a:spLocks noGrp="1"/>
          </p:cNvSpPr>
          <p:nvPr>
            <p:ph type="subTitle" idx="1"/>
          </p:nvPr>
        </p:nvSpPr>
        <p:spPr>
          <a:xfrm>
            <a:off x="1432560" y="1850064"/>
            <a:ext cx="5577840" cy="4626936"/>
          </a:xfrm>
        </p:spPr>
        <p:txBody>
          <a:bodyPr>
            <a:noAutofit/>
          </a:bodyPr>
          <a:lstStyle/>
          <a:p>
            <a:pPr algn="just">
              <a:lnSpc>
                <a:spcPct val="90000"/>
              </a:lnSpc>
            </a:pPr>
            <a:r>
              <a:rPr lang="en-GB" sz="2000" dirty="0"/>
              <a:t>Additional symbols to allow for axial branching:</a:t>
            </a:r>
          </a:p>
          <a:p>
            <a:pPr lvl="1" algn="just">
              <a:lnSpc>
                <a:spcPct val="90000"/>
              </a:lnSpc>
            </a:pPr>
            <a:r>
              <a:rPr lang="en-GB" sz="1600" b="1" dirty="0">
                <a:solidFill>
                  <a:srgbClr val="FF0000"/>
                </a:solidFill>
              </a:rPr>
              <a:t>[</a:t>
            </a:r>
            <a:r>
              <a:rPr lang="en-GB" sz="1600" dirty="0"/>
              <a:t>     Push the current state onto a pushdown </a:t>
            </a:r>
            <a:r>
              <a:rPr lang="en-GB" sz="1600" b="1" dirty="0"/>
              <a:t>stack</a:t>
            </a:r>
            <a:r>
              <a:rPr lang="en-GB" sz="1600" dirty="0"/>
              <a:t>. The information saved on the stack contains the current position and orientation, and possibly other attributes such as the </a:t>
            </a:r>
            <a:r>
              <a:rPr lang="en-GB" sz="1600" dirty="0" err="1"/>
              <a:t>color</a:t>
            </a:r>
            <a:r>
              <a:rPr lang="en-GB" sz="1600" dirty="0"/>
              <a:t> and width of branch.</a:t>
            </a:r>
          </a:p>
          <a:p>
            <a:pPr lvl="1" algn="just">
              <a:lnSpc>
                <a:spcPct val="90000"/>
              </a:lnSpc>
            </a:pPr>
            <a:r>
              <a:rPr lang="en-GB" sz="1600" b="1" dirty="0">
                <a:solidFill>
                  <a:srgbClr val="FF0000"/>
                </a:solidFill>
              </a:rPr>
              <a:t>]</a:t>
            </a:r>
            <a:r>
              <a:rPr lang="en-GB" sz="1600" dirty="0"/>
              <a:t>     Pop a state from the stack and make it the current state of growing. Restore previous branching position, start to grow from a different direction. </a:t>
            </a:r>
          </a:p>
          <a:p>
            <a:pPr algn="just">
              <a:lnSpc>
                <a:spcPct val="90000"/>
              </a:lnSpc>
            </a:pPr>
            <a:endParaRPr lang="en-GB" sz="1600" dirty="0"/>
          </a:p>
          <a:p>
            <a:pPr algn="just">
              <a:lnSpc>
                <a:spcPct val="90000"/>
              </a:lnSpc>
            </a:pPr>
            <a:r>
              <a:rPr lang="en-GB" sz="1800" b="1" dirty="0"/>
              <a:t>Stack data structure</a:t>
            </a:r>
          </a:p>
        </p:txBody>
      </p:sp>
    </p:spTree>
    <p:extLst>
      <p:ext uri="{BB962C8B-B14F-4D97-AF65-F5344CB8AC3E}">
        <p14:creationId xmlns:p14="http://schemas.microsoft.com/office/powerpoint/2010/main" val="238582317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a:xfrm>
            <a:off x="1432560" y="1066800"/>
            <a:ext cx="7406640" cy="765282"/>
          </a:xfrm>
          <a:prstGeom prst="rect">
            <a:avLst/>
          </a:prstGeom>
        </p:spPr>
        <p:txBody>
          <a:bodyPr anchor="b">
            <a:normAutofit/>
          </a:bodyPr>
          <a:lstStyle>
            <a:lvl1pPr algn="l" rtl="0" eaLnBrk="1" latinLnBrk="0" hangingPunct="1">
              <a:spcBef>
                <a:spcPct val="0"/>
              </a:spcBef>
              <a:buNone/>
              <a:defRPr kumimoji="0" sz="4300" kern="1200">
                <a:solidFill>
                  <a:schemeClr val="tx2">
                    <a:satMod val="130000"/>
                  </a:schemeClr>
                </a:solidFill>
                <a:effectLst>
                  <a:outerShdw blurRad="50000" dist="30000" dir="5400000" algn="tl" rotWithShape="0">
                    <a:srgbClr val="000000">
                      <a:alpha val="30000"/>
                    </a:srgbClr>
                  </a:outerShdw>
                </a:effectLst>
                <a:latin typeface="+mj-lt"/>
                <a:ea typeface="+mj-ea"/>
                <a:cs typeface="+mj-cs"/>
              </a:defRPr>
            </a:lvl1pPr>
            <a:extLst/>
          </a:lstStyle>
          <a:p>
            <a:r>
              <a:rPr lang="en-GB"/>
              <a:t>L-System – Modeling Plants </a:t>
            </a:r>
          </a:p>
        </p:txBody>
      </p:sp>
      <p:pic>
        <p:nvPicPr>
          <p:cNvPr id="6146" name="Picture 2" descr="http://www.csit.parkland.edu/%7Embrandyberry/CS2Java/Lessons/Stack_Queue/images/StackPushPop.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0" y="3718620"/>
            <a:ext cx="4648200" cy="1422052"/>
          </a:xfrm>
          <a:prstGeom prst="rect">
            <a:avLst/>
          </a:prstGeom>
          <a:noFill/>
          <a:extLst>
            <a:ext uri="{909E8E84-426E-40DD-AFC4-6F175D3DCCD1}">
              <a14:hiddenFill xmlns:a14="http://schemas.microsoft.com/office/drawing/2010/main">
                <a:solidFill>
                  <a:srgbClr val="FFFFFF"/>
                </a:solidFill>
              </a14:hiddenFill>
            </a:ext>
          </a:extLst>
        </p:spPr>
      </p:pic>
      <p:sp>
        <p:nvSpPr>
          <p:cNvPr id="2" name="Subtitle 1"/>
          <p:cNvSpPr>
            <a:spLocks noGrp="1"/>
          </p:cNvSpPr>
          <p:nvPr>
            <p:ph type="subTitle" idx="1"/>
          </p:nvPr>
        </p:nvSpPr>
        <p:spPr>
          <a:xfrm>
            <a:off x="1432560" y="1850064"/>
            <a:ext cx="5196840" cy="4626936"/>
          </a:xfrm>
        </p:spPr>
        <p:txBody>
          <a:bodyPr>
            <a:noAutofit/>
          </a:bodyPr>
          <a:lstStyle/>
          <a:p>
            <a:pPr algn="just">
              <a:lnSpc>
                <a:spcPct val="90000"/>
              </a:lnSpc>
            </a:pPr>
            <a:r>
              <a:rPr lang="en-GB" sz="2000" dirty="0"/>
              <a:t>Using Lists as Stacks</a:t>
            </a:r>
            <a:r>
              <a:rPr lang="en-GB" sz="1600" dirty="0"/>
              <a:t> </a:t>
            </a:r>
          </a:p>
          <a:p>
            <a:pPr algn="just">
              <a:lnSpc>
                <a:spcPct val="90000"/>
              </a:lnSpc>
            </a:pPr>
            <a:r>
              <a:rPr lang="en-GB" sz="1600" dirty="0"/>
              <a:t>The list methods make it very easy to use a list as a stack, where the last element added is the first element retrieved (“last-in, first-out”). To add an item to the top of the stack, use append(). To retrieve an item from the top of the stack, use pop() without an explicit index. For example:</a:t>
            </a:r>
          </a:p>
        </p:txBody>
      </p:sp>
      <p:sp>
        <p:nvSpPr>
          <p:cNvPr id="6" name="Rounded Rectangle 5"/>
          <p:cNvSpPr/>
          <p:nvPr/>
        </p:nvSpPr>
        <p:spPr>
          <a:xfrm>
            <a:off x="6705600" y="1917919"/>
            <a:ext cx="2286000" cy="4787681"/>
          </a:xfrm>
          <a:prstGeom prst="roundRect">
            <a:avLst>
              <a:gd name="adj" fmla="val 10450"/>
            </a:avLst>
          </a:prstGeom>
        </p:spPr>
        <p:style>
          <a:lnRef idx="1">
            <a:schemeClr val="accent2"/>
          </a:lnRef>
          <a:fillRef idx="2">
            <a:schemeClr val="accent2"/>
          </a:fillRef>
          <a:effectRef idx="1">
            <a:schemeClr val="accent2"/>
          </a:effectRef>
          <a:fontRef idx="minor">
            <a:schemeClr val="dk1"/>
          </a:fontRef>
        </p:style>
        <p:txBody>
          <a:bodyPr rtlCol="0" anchor="ctr"/>
          <a:lstStyle/>
          <a:p>
            <a:r>
              <a:rPr lang="en-GB" sz="1600" dirty="0"/>
              <a:t>&gt;&gt;&gt; stack = []</a:t>
            </a:r>
          </a:p>
          <a:p>
            <a:r>
              <a:rPr lang="en-GB" sz="1600" dirty="0"/>
              <a:t>&gt;&gt;&gt; </a:t>
            </a:r>
            <a:r>
              <a:rPr lang="en-GB" sz="1600" dirty="0" err="1"/>
              <a:t>stack.append</a:t>
            </a:r>
            <a:r>
              <a:rPr lang="en-GB" sz="1600" dirty="0"/>
              <a:t>(1) </a:t>
            </a:r>
          </a:p>
          <a:p>
            <a:r>
              <a:rPr lang="en-GB" sz="1600" dirty="0"/>
              <a:t>&gt;&gt;&gt; </a:t>
            </a:r>
            <a:r>
              <a:rPr lang="en-GB" sz="1600" dirty="0" err="1"/>
              <a:t>stack.append</a:t>
            </a:r>
            <a:r>
              <a:rPr lang="en-GB" sz="1600" dirty="0"/>
              <a:t>(2) </a:t>
            </a:r>
          </a:p>
          <a:p>
            <a:r>
              <a:rPr lang="en-GB" sz="1600" dirty="0"/>
              <a:t>&gt;&gt;&gt; </a:t>
            </a:r>
            <a:r>
              <a:rPr lang="en-GB" sz="1600" dirty="0" err="1"/>
              <a:t>stack.append</a:t>
            </a:r>
            <a:r>
              <a:rPr lang="en-GB" sz="1600" dirty="0"/>
              <a:t>(3) </a:t>
            </a:r>
          </a:p>
          <a:p>
            <a:r>
              <a:rPr lang="en-GB" sz="1600" dirty="0"/>
              <a:t>&gt;&gt;&gt; stack </a:t>
            </a:r>
          </a:p>
          <a:p>
            <a:r>
              <a:rPr lang="en-GB" sz="1600" dirty="0"/>
              <a:t>[1, 2, 3] </a:t>
            </a:r>
          </a:p>
          <a:p>
            <a:r>
              <a:rPr lang="en-GB" sz="1600" dirty="0"/>
              <a:t>&gt;&gt;&gt; </a:t>
            </a:r>
            <a:r>
              <a:rPr lang="en-GB" sz="1600" dirty="0" err="1"/>
              <a:t>stack.pop</a:t>
            </a:r>
            <a:r>
              <a:rPr lang="en-GB" sz="1600" dirty="0"/>
              <a:t>()</a:t>
            </a:r>
          </a:p>
          <a:p>
            <a:r>
              <a:rPr lang="en-GB" sz="1600" dirty="0"/>
              <a:t>3 </a:t>
            </a:r>
          </a:p>
          <a:p>
            <a:r>
              <a:rPr lang="en-GB" sz="1600" dirty="0"/>
              <a:t>&gt;&gt;&gt; stack </a:t>
            </a:r>
          </a:p>
          <a:p>
            <a:r>
              <a:rPr lang="en-GB" sz="1600" dirty="0"/>
              <a:t>[1, 2] </a:t>
            </a:r>
          </a:p>
          <a:p>
            <a:r>
              <a:rPr lang="en-GB" sz="1600" dirty="0"/>
              <a:t>&gt;&gt;&gt; </a:t>
            </a:r>
            <a:r>
              <a:rPr lang="en-GB" sz="1600" dirty="0" err="1"/>
              <a:t>stack.append</a:t>
            </a:r>
            <a:r>
              <a:rPr lang="en-GB" sz="1600" dirty="0"/>
              <a:t>(4) </a:t>
            </a:r>
          </a:p>
          <a:p>
            <a:r>
              <a:rPr lang="en-GB" sz="1600" dirty="0"/>
              <a:t>&gt;&gt;&gt; </a:t>
            </a:r>
            <a:r>
              <a:rPr lang="en-GB" sz="1600" dirty="0" err="1"/>
              <a:t>stack.pop</a:t>
            </a:r>
            <a:r>
              <a:rPr lang="en-GB" sz="1600" dirty="0"/>
              <a:t>() </a:t>
            </a:r>
          </a:p>
          <a:p>
            <a:r>
              <a:rPr lang="en-GB" sz="1600" dirty="0"/>
              <a:t>4 </a:t>
            </a:r>
          </a:p>
          <a:p>
            <a:r>
              <a:rPr lang="en-GB" sz="1600" dirty="0"/>
              <a:t>&gt;&gt;&gt; </a:t>
            </a:r>
            <a:r>
              <a:rPr lang="en-GB" sz="1600" dirty="0" err="1"/>
              <a:t>stack.pop</a:t>
            </a:r>
            <a:r>
              <a:rPr lang="en-GB" sz="1600" dirty="0"/>
              <a:t>() </a:t>
            </a:r>
          </a:p>
          <a:p>
            <a:r>
              <a:rPr lang="en-GB" sz="1600" dirty="0"/>
              <a:t>2 </a:t>
            </a:r>
          </a:p>
          <a:p>
            <a:r>
              <a:rPr lang="en-GB" sz="1600" dirty="0"/>
              <a:t>&gt;&gt;&gt; </a:t>
            </a:r>
            <a:r>
              <a:rPr lang="en-GB" sz="1600" dirty="0" err="1"/>
              <a:t>stack.pop</a:t>
            </a:r>
            <a:r>
              <a:rPr lang="en-GB" sz="1600" dirty="0"/>
              <a:t>() </a:t>
            </a:r>
          </a:p>
          <a:p>
            <a:r>
              <a:rPr lang="en-GB" sz="1600" dirty="0"/>
              <a:t>1</a:t>
            </a:r>
          </a:p>
          <a:p>
            <a:r>
              <a:rPr lang="en-GB" sz="1600" dirty="0"/>
              <a:t>&gt;&gt;&gt; stack </a:t>
            </a:r>
          </a:p>
          <a:p>
            <a:r>
              <a:rPr lang="en-GB" sz="1600" dirty="0"/>
              <a:t>[]</a:t>
            </a:r>
          </a:p>
        </p:txBody>
      </p:sp>
    </p:spTree>
    <p:extLst>
      <p:ext uri="{BB962C8B-B14F-4D97-AF65-F5344CB8AC3E}">
        <p14:creationId xmlns:p14="http://schemas.microsoft.com/office/powerpoint/2010/main" val="78053191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a:xfrm>
            <a:off x="1432560" y="1066800"/>
            <a:ext cx="7406640" cy="765282"/>
          </a:xfrm>
          <a:prstGeom prst="rect">
            <a:avLst/>
          </a:prstGeom>
        </p:spPr>
        <p:txBody>
          <a:bodyPr anchor="b">
            <a:normAutofit/>
          </a:bodyPr>
          <a:lstStyle>
            <a:lvl1pPr algn="l" rtl="0" eaLnBrk="1" latinLnBrk="0" hangingPunct="1">
              <a:spcBef>
                <a:spcPct val="0"/>
              </a:spcBef>
              <a:buNone/>
              <a:defRPr kumimoji="0" sz="4300" kern="1200">
                <a:solidFill>
                  <a:schemeClr val="tx2">
                    <a:satMod val="130000"/>
                  </a:schemeClr>
                </a:solidFill>
                <a:effectLst>
                  <a:outerShdw blurRad="50000" dist="30000" dir="5400000" algn="tl" rotWithShape="0">
                    <a:srgbClr val="000000">
                      <a:alpha val="30000"/>
                    </a:srgbClr>
                  </a:outerShdw>
                </a:effectLst>
                <a:latin typeface="+mj-lt"/>
                <a:ea typeface="+mj-ea"/>
                <a:cs typeface="+mj-cs"/>
              </a:defRPr>
            </a:lvl1pPr>
            <a:extLst/>
          </a:lstStyle>
          <a:p>
            <a:r>
              <a:rPr lang="en-GB" dirty="0"/>
              <a:t>L-System – 3D Example </a:t>
            </a:r>
          </a:p>
        </p:txBody>
      </p:sp>
      <p:sp>
        <p:nvSpPr>
          <p:cNvPr id="2" name="Subtitle 1"/>
          <p:cNvSpPr>
            <a:spLocks noGrp="1"/>
          </p:cNvSpPr>
          <p:nvPr>
            <p:ph type="subTitle" idx="1"/>
          </p:nvPr>
        </p:nvSpPr>
        <p:spPr>
          <a:xfrm>
            <a:off x="1432560" y="1850064"/>
            <a:ext cx="7025640" cy="4626936"/>
          </a:xfrm>
        </p:spPr>
        <p:txBody>
          <a:bodyPr>
            <a:noAutofit/>
          </a:bodyPr>
          <a:lstStyle/>
          <a:p>
            <a:pPr algn="just">
              <a:lnSpc>
                <a:spcPct val="90000"/>
              </a:lnSpc>
            </a:pPr>
            <a:r>
              <a:rPr lang="en-GB" sz="2000" dirty="0"/>
              <a:t>Production (rule) p4 specifies the leaf as a filled polygon with six edges. Its boundary is formed from the edges f enclosed between the braces { and }</a:t>
            </a:r>
          </a:p>
          <a:p>
            <a:pPr algn="just">
              <a:lnSpc>
                <a:spcPct val="90000"/>
              </a:lnSpc>
            </a:pPr>
            <a:r>
              <a:rPr lang="en-GB" sz="2000" dirty="0"/>
              <a:t>The symbols</a:t>
            </a:r>
            <a:r>
              <a:rPr lang="en-GB" sz="2000" dirty="0">
                <a:solidFill>
                  <a:srgbClr val="FF0000"/>
                </a:solidFill>
              </a:rPr>
              <a:t> ! </a:t>
            </a:r>
            <a:r>
              <a:rPr lang="en-GB" sz="2000" dirty="0"/>
              <a:t>are used to decrement the diameter of segments and increment the current index to the </a:t>
            </a:r>
            <a:r>
              <a:rPr lang="en-GB" sz="2000" dirty="0" err="1"/>
              <a:t>color</a:t>
            </a:r>
            <a:r>
              <a:rPr lang="en-GB" sz="2000" dirty="0"/>
              <a:t> table</a:t>
            </a:r>
          </a:p>
        </p:txBody>
      </p:sp>
      <p:pic>
        <p:nvPicPr>
          <p:cNvPr id="7" name="Picture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638800" y="4114800"/>
            <a:ext cx="3006949" cy="23733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00200" y="4006056"/>
            <a:ext cx="4171950" cy="1295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74768523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a:xfrm>
            <a:off x="1432560" y="1066800"/>
            <a:ext cx="7406640" cy="765282"/>
          </a:xfrm>
          <a:prstGeom prst="rect">
            <a:avLst/>
          </a:prstGeom>
        </p:spPr>
        <p:txBody>
          <a:bodyPr anchor="b">
            <a:normAutofit/>
          </a:bodyPr>
          <a:lstStyle>
            <a:lvl1pPr algn="l" rtl="0" eaLnBrk="1" latinLnBrk="0" hangingPunct="1">
              <a:spcBef>
                <a:spcPct val="0"/>
              </a:spcBef>
              <a:buNone/>
              <a:defRPr kumimoji="0" sz="4300" kern="1200">
                <a:solidFill>
                  <a:schemeClr val="tx2">
                    <a:satMod val="130000"/>
                  </a:schemeClr>
                </a:solidFill>
                <a:effectLst>
                  <a:outerShdw blurRad="50000" dist="30000" dir="5400000" algn="tl" rotWithShape="0">
                    <a:srgbClr val="000000">
                      <a:alpha val="30000"/>
                    </a:srgbClr>
                  </a:outerShdw>
                </a:effectLst>
                <a:latin typeface="+mj-lt"/>
                <a:ea typeface="+mj-ea"/>
                <a:cs typeface="+mj-cs"/>
              </a:defRPr>
            </a:lvl1pPr>
            <a:extLst/>
          </a:lstStyle>
          <a:p>
            <a:r>
              <a:rPr lang="en-GB" dirty="0"/>
              <a:t>L-System – 3D Example </a:t>
            </a:r>
          </a:p>
        </p:txBody>
      </p:sp>
      <p:pic>
        <p:nvPicPr>
          <p:cNvPr id="9" name="Picture 5"/>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596170" y="2286000"/>
            <a:ext cx="2878085" cy="18327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218" name="Picture 2" descr="File:Dragon trees.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96170" y="4166615"/>
            <a:ext cx="3352800" cy="2405635"/>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p:cNvSpPr/>
          <p:nvPr/>
        </p:nvSpPr>
        <p:spPr>
          <a:xfrm>
            <a:off x="5100711" y="6202918"/>
            <a:ext cx="3681457" cy="369332"/>
          </a:xfrm>
          <a:prstGeom prst="rect">
            <a:avLst/>
          </a:prstGeom>
        </p:spPr>
        <p:txBody>
          <a:bodyPr wrap="none">
            <a:spAutoFit/>
          </a:bodyPr>
          <a:lstStyle/>
          <a:p>
            <a:r>
              <a:rPr lang="en-GB" dirty="0"/>
              <a:t>http://en.wikipedia.org/wiki/L-system</a:t>
            </a:r>
          </a:p>
        </p:txBody>
      </p:sp>
    </p:spTree>
    <p:extLst>
      <p:ext uri="{BB962C8B-B14F-4D97-AF65-F5344CB8AC3E}">
        <p14:creationId xmlns:p14="http://schemas.microsoft.com/office/powerpoint/2010/main" val="153121428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29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62600" y="1905000"/>
            <a:ext cx="2814637" cy="28498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Title 1"/>
          <p:cNvSpPr txBox="1">
            <a:spLocks/>
          </p:cNvSpPr>
          <p:nvPr/>
        </p:nvSpPr>
        <p:spPr>
          <a:xfrm>
            <a:off x="1432560" y="1066800"/>
            <a:ext cx="7406640" cy="765282"/>
          </a:xfrm>
          <a:prstGeom prst="rect">
            <a:avLst/>
          </a:prstGeom>
        </p:spPr>
        <p:txBody>
          <a:bodyPr anchor="b">
            <a:normAutofit/>
          </a:bodyPr>
          <a:lstStyle>
            <a:lvl1pPr algn="l" rtl="0" eaLnBrk="1" latinLnBrk="0" hangingPunct="1">
              <a:spcBef>
                <a:spcPct val="0"/>
              </a:spcBef>
              <a:buNone/>
              <a:defRPr kumimoji="0" sz="4300" kern="1200">
                <a:solidFill>
                  <a:schemeClr val="tx2">
                    <a:satMod val="130000"/>
                  </a:schemeClr>
                </a:solidFill>
                <a:effectLst>
                  <a:outerShdw blurRad="50000" dist="30000" dir="5400000" algn="tl" rotWithShape="0">
                    <a:srgbClr val="000000">
                      <a:alpha val="30000"/>
                    </a:srgbClr>
                  </a:outerShdw>
                </a:effectLst>
                <a:latin typeface="+mj-lt"/>
                <a:ea typeface="+mj-ea"/>
                <a:cs typeface="+mj-cs"/>
              </a:defRPr>
            </a:lvl1pPr>
            <a:extLst/>
          </a:lstStyle>
          <a:p>
            <a:r>
              <a:rPr lang="en-GB"/>
              <a:t>Exercise</a:t>
            </a:r>
            <a:endParaRPr lang="en-US"/>
          </a:p>
        </p:txBody>
      </p:sp>
      <p:sp>
        <p:nvSpPr>
          <p:cNvPr id="7" name="Subtitle 1"/>
          <p:cNvSpPr>
            <a:spLocks noGrp="1"/>
          </p:cNvSpPr>
          <p:nvPr>
            <p:ph type="subTitle" idx="1"/>
          </p:nvPr>
        </p:nvSpPr>
        <p:spPr>
          <a:xfrm>
            <a:off x="1432560" y="1850064"/>
            <a:ext cx="7406640" cy="3560136"/>
          </a:xfrm>
        </p:spPr>
        <p:txBody>
          <a:bodyPr>
            <a:noAutofit/>
          </a:bodyPr>
          <a:lstStyle/>
          <a:p>
            <a:r>
              <a:rPr lang="en-GB" sz="2000"/>
              <a:t>iterations = 5</a:t>
            </a:r>
          </a:p>
          <a:p>
            <a:r>
              <a:rPr lang="en-GB" sz="2000"/>
              <a:t>axiom = "X"</a:t>
            </a:r>
          </a:p>
          <a:p>
            <a:r>
              <a:rPr lang="en-GB" sz="2000" err="1"/>
              <a:t>stepLength</a:t>
            </a:r>
            <a:r>
              <a:rPr lang="en-GB" sz="2000"/>
              <a:t> = 0.1</a:t>
            </a:r>
          </a:p>
          <a:p>
            <a:r>
              <a:rPr lang="en-GB" sz="2000" err="1"/>
              <a:t>rotateAngle</a:t>
            </a:r>
            <a:r>
              <a:rPr lang="en-GB" sz="2000"/>
              <a:t> = 25</a:t>
            </a:r>
          </a:p>
          <a:p>
            <a:r>
              <a:rPr lang="en-GB" sz="2000"/>
              <a:t>Rules:</a:t>
            </a:r>
          </a:p>
          <a:p>
            <a:pPr lvl="1" algn="l"/>
            <a:r>
              <a:rPr lang="en-GB" sz="2200"/>
              <a:t>X =&gt; F-[[X]+X]+F[+FX]-X</a:t>
            </a:r>
          </a:p>
          <a:p>
            <a:pPr lvl="1" algn="l"/>
            <a:r>
              <a:rPr lang="en-GB" sz="2200"/>
              <a:t>F =&gt; FF</a:t>
            </a:r>
          </a:p>
        </p:txBody>
      </p:sp>
    </p:spTree>
    <p:extLst>
      <p:ext uri="{BB962C8B-B14F-4D97-AF65-F5344CB8AC3E}">
        <p14:creationId xmlns:p14="http://schemas.microsoft.com/office/powerpoint/2010/main" val="85095046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290"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198518" y="304801"/>
            <a:ext cx="1407319" cy="14249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Title 1"/>
          <p:cNvSpPr txBox="1">
            <a:spLocks/>
          </p:cNvSpPr>
          <p:nvPr/>
        </p:nvSpPr>
        <p:spPr>
          <a:xfrm>
            <a:off x="1432560" y="1066800"/>
            <a:ext cx="7406640" cy="765282"/>
          </a:xfrm>
          <a:prstGeom prst="rect">
            <a:avLst/>
          </a:prstGeom>
        </p:spPr>
        <p:txBody>
          <a:bodyPr anchor="b">
            <a:normAutofit/>
          </a:bodyPr>
          <a:lstStyle>
            <a:lvl1pPr algn="l" rtl="0" eaLnBrk="1" latinLnBrk="0" hangingPunct="1">
              <a:spcBef>
                <a:spcPct val="0"/>
              </a:spcBef>
              <a:buNone/>
              <a:defRPr kumimoji="0" sz="4300" kern="1200">
                <a:solidFill>
                  <a:schemeClr val="tx2">
                    <a:satMod val="130000"/>
                  </a:schemeClr>
                </a:solidFill>
                <a:effectLst>
                  <a:outerShdw blurRad="50000" dist="30000" dir="5400000" algn="tl" rotWithShape="0">
                    <a:srgbClr val="000000">
                      <a:alpha val="30000"/>
                    </a:srgbClr>
                  </a:outerShdw>
                </a:effectLst>
                <a:latin typeface="+mj-lt"/>
                <a:ea typeface="+mj-ea"/>
                <a:cs typeface="+mj-cs"/>
              </a:defRPr>
            </a:lvl1pPr>
            <a:extLst/>
          </a:lstStyle>
          <a:p>
            <a:r>
              <a:rPr lang="en-GB"/>
              <a:t>Exercise – step 1</a:t>
            </a:r>
            <a:endParaRPr lang="en-US"/>
          </a:p>
        </p:txBody>
      </p:sp>
      <p:sp>
        <p:nvSpPr>
          <p:cNvPr id="7" name="Subtitle 1"/>
          <p:cNvSpPr>
            <a:spLocks noGrp="1"/>
          </p:cNvSpPr>
          <p:nvPr>
            <p:ph type="subTitle" idx="1"/>
          </p:nvPr>
        </p:nvSpPr>
        <p:spPr>
          <a:xfrm>
            <a:off x="1432560" y="1850064"/>
            <a:ext cx="7406640" cy="4626936"/>
          </a:xfrm>
        </p:spPr>
        <p:txBody>
          <a:bodyPr>
            <a:noAutofit/>
          </a:bodyPr>
          <a:lstStyle/>
          <a:p>
            <a:pPr algn="just"/>
            <a:r>
              <a:rPr lang="en-GB" sz="1600" b="1" dirty="0"/>
              <a:t>Modular programming</a:t>
            </a:r>
            <a:r>
              <a:rPr lang="en-GB" sz="1600" dirty="0"/>
              <a:t> is a software design technique that emphasizes separating the functionality of a program into independent, interchangeable </a:t>
            </a:r>
            <a:r>
              <a:rPr lang="en-GB" sz="1600" b="1" dirty="0"/>
              <a:t>modules</a:t>
            </a:r>
            <a:r>
              <a:rPr lang="en-GB" sz="1600" dirty="0"/>
              <a:t>, such that each contains everything necessary to execute only one aspect of the desired functionality.</a:t>
            </a:r>
          </a:p>
          <a:p>
            <a:pPr algn="just"/>
            <a:r>
              <a:rPr lang="en-GB" sz="1600" dirty="0"/>
              <a:t>If your project contains several python files, only one file have the statement like the followings, all other files will only contain function definitions, </a:t>
            </a:r>
          </a:p>
          <a:p>
            <a:pPr algn="just"/>
            <a:r>
              <a:rPr lang="en-GB" sz="1400" dirty="0"/>
              <a:t>When the Python interpreter reads a source file, it executes all of the code found in it. Before executing the code, it will define a few </a:t>
            </a:r>
            <a:r>
              <a:rPr lang="en-GB" sz="1400" b="1" dirty="0">
                <a:solidFill>
                  <a:srgbClr val="FF0000"/>
                </a:solidFill>
              </a:rPr>
              <a:t>special variables</a:t>
            </a:r>
            <a:r>
              <a:rPr lang="en-GB" sz="1400" dirty="0"/>
              <a:t>. For example, if the python interpreter is running that module (the source file) as the main program, it sets the special </a:t>
            </a:r>
            <a:r>
              <a:rPr lang="en-GB" sz="1400" b="1" dirty="0"/>
              <a:t>__name__ </a:t>
            </a:r>
            <a:r>
              <a:rPr lang="en-GB" sz="1400" dirty="0"/>
              <a:t>variable to have a value </a:t>
            </a:r>
            <a:r>
              <a:rPr lang="en-GB" sz="1400" b="1" dirty="0"/>
              <a:t>"__main__". </a:t>
            </a:r>
            <a:r>
              <a:rPr lang="en-GB" sz="1400" dirty="0"/>
              <a:t>If this file is being imported from another module, </a:t>
            </a:r>
            <a:r>
              <a:rPr lang="en-GB" sz="1400" b="1" i="1" dirty="0"/>
              <a:t>__name__ will be set to the module's name</a:t>
            </a:r>
            <a:r>
              <a:rPr lang="en-GB" sz="1400" dirty="0"/>
              <a:t>.</a:t>
            </a:r>
          </a:p>
          <a:p>
            <a:pPr algn="just"/>
            <a:r>
              <a:rPr lang="en-GB" sz="1400" dirty="0"/>
              <a:t>One of the reasons for doing this is that sometimes you write a module (a .</a:t>
            </a:r>
            <a:r>
              <a:rPr lang="en-GB" sz="1400" dirty="0" err="1"/>
              <a:t>py</a:t>
            </a:r>
            <a:r>
              <a:rPr lang="en-GB" sz="1400" dirty="0"/>
              <a:t> file) where it can be executed directly. Alternatively, it can also be imported and used in another module. By doing the main check, you can have that code only execute when you want to run the module as a program and not have it execute when someone just wants to import your module and call your functions themselves.</a:t>
            </a:r>
          </a:p>
        </p:txBody>
      </p:sp>
      <p:sp>
        <p:nvSpPr>
          <p:cNvPr id="5" name="Rounded Rectangle 4"/>
          <p:cNvSpPr/>
          <p:nvPr/>
        </p:nvSpPr>
        <p:spPr>
          <a:xfrm>
            <a:off x="1519237" y="5562599"/>
            <a:ext cx="7086600" cy="1025769"/>
          </a:xfrm>
          <a:prstGeom prst="roundRect">
            <a:avLst>
              <a:gd name="adj" fmla="val 10450"/>
            </a:avLst>
          </a:prstGeom>
        </p:spPr>
        <p:style>
          <a:lnRef idx="1">
            <a:schemeClr val="accent2"/>
          </a:lnRef>
          <a:fillRef idx="2">
            <a:schemeClr val="accent2"/>
          </a:fillRef>
          <a:effectRef idx="1">
            <a:schemeClr val="accent2"/>
          </a:effectRef>
          <a:fontRef idx="minor">
            <a:schemeClr val="dk1"/>
          </a:fontRef>
        </p:style>
        <p:txBody>
          <a:bodyPr rtlCol="0" anchor="ctr"/>
          <a:lstStyle/>
          <a:p>
            <a:r>
              <a:rPr lang="en-GB" sz="1600" dirty="0"/>
              <a:t># main program, start with the function </a:t>
            </a:r>
            <a:r>
              <a:rPr lang="en-GB" sz="1600" dirty="0" err="1"/>
              <a:t>buildTree</a:t>
            </a:r>
            <a:r>
              <a:rPr lang="en-GB" sz="1600" dirty="0"/>
              <a:t>()</a:t>
            </a:r>
          </a:p>
          <a:p>
            <a:r>
              <a:rPr lang="en-GB" sz="1600" dirty="0"/>
              <a:t>if __name__ == "__main__":</a:t>
            </a:r>
          </a:p>
          <a:p>
            <a:r>
              <a:rPr lang="en-GB" sz="1600" dirty="0"/>
              <a:t>    </a:t>
            </a:r>
            <a:r>
              <a:rPr lang="en-GB" sz="1600" dirty="0" err="1"/>
              <a:t>buildTree</a:t>
            </a:r>
            <a:r>
              <a:rPr lang="en-GB" sz="1600" dirty="0"/>
              <a:t>()</a:t>
            </a:r>
          </a:p>
        </p:txBody>
      </p:sp>
    </p:spTree>
    <p:extLst>
      <p:ext uri="{BB962C8B-B14F-4D97-AF65-F5344CB8AC3E}">
        <p14:creationId xmlns:p14="http://schemas.microsoft.com/office/powerpoint/2010/main" val="240599923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290"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198518" y="304801"/>
            <a:ext cx="1407319" cy="14249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Title 1"/>
          <p:cNvSpPr txBox="1">
            <a:spLocks/>
          </p:cNvSpPr>
          <p:nvPr/>
        </p:nvSpPr>
        <p:spPr>
          <a:xfrm>
            <a:off x="1432560" y="1066800"/>
            <a:ext cx="7406640" cy="765282"/>
          </a:xfrm>
          <a:prstGeom prst="rect">
            <a:avLst/>
          </a:prstGeom>
        </p:spPr>
        <p:txBody>
          <a:bodyPr anchor="b">
            <a:normAutofit/>
          </a:bodyPr>
          <a:lstStyle>
            <a:lvl1pPr algn="l" rtl="0" eaLnBrk="1" latinLnBrk="0" hangingPunct="1">
              <a:spcBef>
                <a:spcPct val="0"/>
              </a:spcBef>
              <a:buNone/>
              <a:defRPr kumimoji="0" sz="4300" kern="1200">
                <a:solidFill>
                  <a:schemeClr val="tx2">
                    <a:satMod val="130000"/>
                  </a:schemeClr>
                </a:solidFill>
                <a:effectLst>
                  <a:outerShdw blurRad="50000" dist="30000" dir="5400000" algn="tl" rotWithShape="0">
                    <a:srgbClr val="000000">
                      <a:alpha val="30000"/>
                    </a:srgbClr>
                  </a:outerShdw>
                </a:effectLst>
                <a:latin typeface="+mj-lt"/>
                <a:ea typeface="+mj-ea"/>
                <a:cs typeface="+mj-cs"/>
              </a:defRPr>
            </a:lvl1pPr>
            <a:extLst/>
          </a:lstStyle>
          <a:p>
            <a:r>
              <a:rPr lang="en-GB"/>
              <a:t>Exercise – step 2</a:t>
            </a:r>
            <a:endParaRPr lang="en-US"/>
          </a:p>
        </p:txBody>
      </p:sp>
      <p:sp>
        <p:nvSpPr>
          <p:cNvPr id="5" name="Rounded Rectangle 4"/>
          <p:cNvSpPr/>
          <p:nvPr/>
        </p:nvSpPr>
        <p:spPr>
          <a:xfrm>
            <a:off x="1519237" y="1832082"/>
            <a:ext cx="7086600" cy="4873517"/>
          </a:xfrm>
          <a:prstGeom prst="roundRect">
            <a:avLst>
              <a:gd name="adj" fmla="val 3980"/>
            </a:avLst>
          </a:prstGeom>
        </p:spPr>
        <p:style>
          <a:lnRef idx="1">
            <a:schemeClr val="accent2"/>
          </a:lnRef>
          <a:fillRef idx="2">
            <a:schemeClr val="accent2"/>
          </a:fillRef>
          <a:effectRef idx="1">
            <a:schemeClr val="accent2"/>
          </a:effectRef>
          <a:fontRef idx="minor">
            <a:schemeClr val="dk1"/>
          </a:fontRef>
        </p:style>
        <p:txBody>
          <a:bodyPr rtlCol="0" anchor="ctr"/>
          <a:lstStyle/>
          <a:p>
            <a:r>
              <a:rPr lang="en-GB" dirty="0" err="1"/>
              <a:t>def</a:t>
            </a:r>
            <a:r>
              <a:rPr lang="en-GB" dirty="0"/>
              <a:t> </a:t>
            </a:r>
            <a:r>
              <a:rPr lang="en-GB" b="1" dirty="0" err="1">
                <a:solidFill>
                  <a:srgbClr val="FF0000"/>
                </a:solidFill>
              </a:rPr>
              <a:t>buildTree</a:t>
            </a:r>
            <a:r>
              <a:rPr lang="en-GB" dirty="0"/>
              <a:t>():</a:t>
            </a:r>
          </a:p>
          <a:p>
            <a:r>
              <a:rPr lang="en-GB" dirty="0"/>
              <a:t>    ''' add the rules, initialise the control parameters, such as </a:t>
            </a:r>
          </a:p>
          <a:p>
            <a:r>
              <a:rPr lang="en-GB" dirty="0"/>
              <a:t>    iteration numbers, branch rotation angle, step size of growing '''</a:t>
            </a:r>
          </a:p>
          <a:p>
            <a:r>
              <a:rPr lang="en-GB" dirty="0"/>
              <a:t>    </a:t>
            </a:r>
          </a:p>
          <a:p>
            <a:r>
              <a:rPr lang="en-GB" dirty="0"/>
              <a:t>    # clear up the scene</a:t>
            </a:r>
          </a:p>
          <a:p>
            <a:r>
              <a:rPr lang="en-GB" dirty="0"/>
              <a:t>    ...</a:t>
            </a:r>
          </a:p>
          <a:p>
            <a:endParaRPr lang="en-GB" dirty="0"/>
          </a:p>
          <a:p>
            <a:r>
              <a:rPr lang="en-GB" dirty="0"/>
              <a:t>    # add the rules to the rule dictionary</a:t>
            </a:r>
          </a:p>
          <a:p>
            <a:r>
              <a:rPr lang="en-GB" dirty="0"/>
              <a:t>    </a:t>
            </a:r>
            <a:r>
              <a:rPr lang="en-GB" dirty="0" err="1"/>
              <a:t>ruleDictionary</a:t>
            </a:r>
            <a:r>
              <a:rPr lang="en-GB" dirty="0"/>
              <a:t> = {} </a:t>
            </a:r>
          </a:p>
          <a:p>
            <a:r>
              <a:rPr lang="en-GB" dirty="0"/>
              <a:t>    </a:t>
            </a:r>
            <a:r>
              <a:rPr lang="en-GB" b="1" dirty="0" err="1">
                <a:solidFill>
                  <a:srgbClr val="FF0000"/>
                </a:solidFill>
              </a:rPr>
              <a:t>addRule</a:t>
            </a:r>
            <a:r>
              <a:rPr lang="en-GB" dirty="0"/>
              <a:t>(</a:t>
            </a:r>
            <a:r>
              <a:rPr lang="en-GB" dirty="0" err="1"/>
              <a:t>ruleDictionary</a:t>
            </a:r>
            <a:r>
              <a:rPr lang="en-GB" dirty="0"/>
              <a:t>, "X", "F-[[X]+X]+F[+FX]-X" )</a:t>
            </a:r>
          </a:p>
          <a:p>
            <a:r>
              <a:rPr lang="en-GB" dirty="0"/>
              <a:t>    </a:t>
            </a:r>
            <a:r>
              <a:rPr lang="en-GB" b="1" dirty="0" err="1">
                <a:solidFill>
                  <a:srgbClr val="FF0000"/>
                </a:solidFill>
              </a:rPr>
              <a:t>addRule</a:t>
            </a:r>
            <a:r>
              <a:rPr lang="en-GB" dirty="0"/>
              <a:t>(</a:t>
            </a:r>
            <a:r>
              <a:rPr lang="en-GB" dirty="0" err="1"/>
              <a:t>ruleDictionary</a:t>
            </a:r>
            <a:r>
              <a:rPr lang="en-GB" dirty="0"/>
              <a:t>, "F", "FF" )</a:t>
            </a:r>
          </a:p>
          <a:p>
            <a:endParaRPr lang="en-GB" dirty="0"/>
          </a:p>
          <a:p>
            <a:r>
              <a:rPr lang="en-GB" dirty="0"/>
              <a:t>    # set growing parameters</a:t>
            </a:r>
          </a:p>
          <a:p>
            <a:r>
              <a:rPr lang="en-GB" dirty="0"/>
              <a:t>    iterations = 5</a:t>
            </a:r>
          </a:p>
          <a:p>
            <a:r>
              <a:rPr lang="en-GB" dirty="0"/>
              <a:t>    </a:t>
            </a:r>
            <a:r>
              <a:rPr lang="en-GB" dirty="0" err="1"/>
              <a:t>stepLength</a:t>
            </a:r>
            <a:r>
              <a:rPr lang="en-GB" dirty="0"/>
              <a:t> = 0.1</a:t>
            </a:r>
          </a:p>
          <a:p>
            <a:r>
              <a:rPr lang="en-GB" dirty="0"/>
              <a:t>    </a:t>
            </a:r>
            <a:r>
              <a:rPr lang="en-GB" dirty="0" err="1"/>
              <a:t>rotateAngle</a:t>
            </a:r>
            <a:r>
              <a:rPr lang="en-GB" dirty="0"/>
              <a:t> = 25</a:t>
            </a:r>
          </a:p>
        </p:txBody>
      </p:sp>
    </p:spTree>
    <p:extLst>
      <p:ext uri="{BB962C8B-B14F-4D97-AF65-F5344CB8AC3E}">
        <p14:creationId xmlns:p14="http://schemas.microsoft.com/office/powerpoint/2010/main" val="327774140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290"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198518" y="304801"/>
            <a:ext cx="1407319" cy="14249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Title 1"/>
          <p:cNvSpPr txBox="1">
            <a:spLocks/>
          </p:cNvSpPr>
          <p:nvPr/>
        </p:nvSpPr>
        <p:spPr>
          <a:xfrm>
            <a:off x="1432560" y="1066800"/>
            <a:ext cx="7406640" cy="765282"/>
          </a:xfrm>
          <a:prstGeom prst="rect">
            <a:avLst/>
          </a:prstGeom>
        </p:spPr>
        <p:txBody>
          <a:bodyPr anchor="b">
            <a:normAutofit/>
          </a:bodyPr>
          <a:lstStyle>
            <a:lvl1pPr algn="l" rtl="0" eaLnBrk="1" latinLnBrk="0" hangingPunct="1">
              <a:spcBef>
                <a:spcPct val="0"/>
              </a:spcBef>
              <a:buNone/>
              <a:defRPr kumimoji="0" sz="4300" kern="1200">
                <a:solidFill>
                  <a:schemeClr val="tx2">
                    <a:satMod val="130000"/>
                  </a:schemeClr>
                </a:solidFill>
                <a:effectLst>
                  <a:outerShdw blurRad="50000" dist="30000" dir="5400000" algn="tl" rotWithShape="0">
                    <a:srgbClr val="000000">
                      <a:alpha val="30000"/>
                    </a:srgbClr>
                  </a:outerShdw>
                </a:effectLst>
                <a:latin typeface="+mj-lt"/>
                <a:ea typeface="+mj-ea"/>
                <a:cs typeface="+mj-cs"/>
              </a:defRPr>
            </a:lvl1pPr>
            <a:extLst/>
          </a:lstStyle>
          <a:p>
            <a:r>
              <a:rPr lang="en-GB"/>
              <a:t>Exercise – step 2</a:t>
            </a:r>
            <a:endParaRPr lang="en-US"/>
          </a:p>
        </p:txBody>
      </p:sp>
      <p:sp>
        <p:nvSpPr>
          <p:cNvPr id="5" name="Rounded Rectangle 4"/>
          <p:cNvSpPr/>
          <p:nvPr/>
        </p:nvSpPr>
        <p:spPr>
          <a:xfrm>
            <a:off x="1519237" y="1832083"/>
            <a:ext cx="7086600" cy="3197117"/>
          </a:xfrm>
          <a:prstGeom prst="roundRect">
            <a:avLst>
              <a:gd name="adj" fmla="val 3980"/>
            </a:avLst>
          </a:prstGeom>
        </p:spPr>
        <p:style>
          <a:lnRef idx="1">
            <a:schemeClr val="accent2"/>
          </a:lnRef>
          <a:fillRef idx="2">
            <a:schemeClr val="accent2"/>
          </a:fillRef>
          <a:effectRef idx="1">
            <a:schemeClr val="accent2"/>
          </a:effectRef>
          <a:fontRef idx="minor">
            <a:schemeClr val="dk1"/>
          </a:fontRef>
        </p:style>
        <p:txBody>
          <a:bodyPr rtlCol="0" anchor="ctr"/>
          <a:lstStyle/>
          <a:p>
            <a:r>
              <a:rPr lang="en-GB" dirty="0"/>
              <a:t>    # create the action string</a:t>
            </a:r>
          </a:p>
          <a:p>
            <a:r>
              <a:rPr lang="en-GB" dirty="0"/>
              <a:t>    axiom = "X"</a:t>
            </a:r>
          </a:p>
          <a:p>
            <a:r>
              <a:rPr lang="en-GB" dirty="0"/>
              <a:t>    </a:t>
            </a:r>
            <a:r>
              <a:rPr lang="en-GB" dirty="0" err="1"/>
              <a:t>actionString</a:t>
            </a:r>
            <a:r>
              <a:rPr lang="en-GB" dirty="0"/>
              <a:t> = ""	# the final action string to build the tree</a:t>
            </a:r>
          </a:p>
          <a:p>
            <a:r>
              <a:rPr lang="en-GB" dirty="0"/>
              <a:t>    </a:t>
            </a:r>
            <a:r>
              <a:rPr lang="en-GB" dirty="0" err="1"/>
              <a:t>finalString</a:t>
            </a:r>
            <a:r>
              <a:rPr lang="en-GB" dirty="0"/>
              <a:t>=</a:t>
            </a:r>
            <a:r>
              <a:rPr lang="en-GB" b="1" dirty="0">
                <a:solidFill>
                  <a:srgbClr val="FF0000"/>
                </a:solidFill>
              </a:rPr>
              <a:t>iterate</a:t>
            </a:r>
            <a:r>
              <a:rPr lang="en-GB" dirty="0"/>
              <a:t>(axiom, iterations, </a:t>
            </a:r>
            <a:r>
              <a:rPr lang="en-GB" dirty="0" err="1"/>
              <a:t>ruleDictionary</a:t>
            </a:r>
            <a:r>
              <a:rPr lang="en-GB" dirty="0"/>
              <a:t>)</a:t>
            </a:r>
          </a:p>
          <a:p>
            <a:r>
              <a:rPr lang="en-GB" dirty="0"/>
              <a:t>	</a:t>
            </a:r>
          </a:p>
          <a:p>
            <a:r>
              <a:rPr lang="en-GB" dirty="0"/>
              <a:t>    # create the 3D model</a:t>
            </a:r>
          </a:p>
          <a:p>
            <a:r>
              <a:rPr lang="en-GB" dirty="0"/>
              <a:t>    </a:t>
            </a:r>
            <a:r>
              <a:rPr lang="en-GB" dirty="0" err="1"/>
              <a:t>modelGroup</a:t>
            </a:r>
            <a:r>
              <a:rPr lang="en-GB" dirty="0"/>
              <a:t> = </a:t>
            </a:r>
            <a:r>
              <a:rPr lang="en-GB" b="1" dirty="0" err="1">
                <a:solidFill>
                  <a:srgbClr val="FF0000"/>
                </a:solidFill>
              </a:rPr>
              <a:t>createModel</a:t>
            </a:r>
            <a:r>
              <a:rPr lang="en-GB" dirty="0"/>
              <a:t>(</a:t>
            </a:r>
            <a:r>
              <a:rPr lang="en-GB" dirty="0" err="1"/>
              <a:t>finalString</a:t>
            </a:r>
            <a:r>
              <a:rPr lang="en-GB" dirty="0"/>
              <a:t>, </a:t>
            </a:r>
            <a:r>
              <a:rPr lang="en-GB" dirty="0" err="1"/>
              <a:t>stepLength</a:t>
            </a:r>
            <a:r>
              <a:rPr lang="en-GB" dirty="0"/>
              <a:t>, </a:t>
            </a:r>
            <a:r>
              <a:rPr lang="en-GB" dirty="0" err="1"/>
              <a:t>rotateAngle</a:t>
            </a:r>
            <a:r>
              <a:rPr lang="en-GB" dirty="0"/>
              <a:t>)</a:t>
            </a:r>
          </a:p>
          <a:p>
            <a:endParaRPr lang="en-GB" dirty="0"/>
          </a:p>
          <a:p>
            <a:r>
              <a:rPr lang="en-GB" dirty="0"/>
              <a:t>    # set the </a:t>
            </a:r>
            <a:r>
              <a:rPr lang="en-GB" dirty="0" err="1"/>
              <a:t>color</a:t>
            </a:r>
            <a:r>
              <a:rPr lang="en-GB" dirty="0"/>
              <a:t> to green</a:t>
            </a:r>
          </a:p>
          <a:p>
            <a:r>
              <a:rPr lang="en-GB" dirty="0"/>
              <a:t>    </a:t>
            </a:r>
            <a:r>
              <a:rPr lang="en-GB" dirty="0" err="1"/>
              <a:t>setMaterial</a:t>
            </a:r>
            <a:r>
              <a:rPr lang="en-GB" dirty="0"/>
              <a:t>(</a:t>
            </a:r>
            <a:r>
              <a:rPr lang="en-GB" dirty="0" err="1"/>
              <a:t>modelGroup</a:t>
            </a:r>
            <a:r>
              <a:rPr lang="en-GB" dirty="0"/>
              <a:t>)</a:t>
            </a:r>
          </a:p>
        </p:txBody>
      </p:sp>
    </p:spTree>
    <p:extLst>
      <p:ext uri="{BB962C8B-B14F-4D97-AF65-F5344CB8AC3E}">
        <p14:creationId xmlns:p14="http://schemas.microsoft.com/office/powerpoint/2010/main" val="241548952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290"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198518" y="304801"/>
            <a:ext cx="1407319" cy="14249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Title 1"/>
          <p:cNvSpPr txBox="1">
            <a:spLocks/>
          </p:cNvSpPr>
          <p:nvPr/>
        </p:nvSpPr>
        <p:spPr>
          <a:xfrm>
            <a:off x="1432560" y="1066800"/>
            <a:ext cx="7406640" cy="765282"/>
          </a:xfrm>
          <a:prstGeom prst="rect">
            <a:avLst/>
          </a:prstGeom>
        </p:spPr>
        <p:txBody>
          <a:bodyPr anchor="b">
            <a:normAutofit/>
          </a:bodyPr>
          <a:lstStyle>
            <a:lvl1pPr algn="l" rtl="0" eaLnBrk="1" latinLnBrk="0" hangingPunct="1">
              <a:spcBef>
                <a:spcPct val="0"/>
              </a:spcBef>
              <a:buNone/>
              <a:defRPr kumimoji="0" sz="4300" kern="1200">
                <a:solidFill>
                  <a:schemeClr val="tx2">
                    <a:satMod val="130000"/>
                  </a:schemeClr>
                </a:solidFill>
                <a:effectLst>
                  <a:outerShdw blurRad="50000" dist="30000" dir="5400000" algn="tl" rotWithShape="0">
                    <a:srgbClr val="000000">
                      <a:alpha val="30000"/>
                    </a:srgbClr>
                  </a:outerShdw>
                </a:effectLst>
                <a:latin typeface="+mj-lt"/>
                <a:ea typeface="+mj-ea"/>
                <a:cs typeface="+mj-cs"/>
              </a:defRPr>
            </a:lvl1pPr>
            <a:extLst/>
          </a:lstStyle>
          <a:p>
            <a:r>
              <a:rPr lang="en-GB"/>
              <a:t>Exercise – step 3</a:t>
            </a:r>
            <a:endParaRPr lang="en-US"/>
          </a:p>
        </p:txBody>
      </p:sp>
      <p:sp>
        <p:nvSpPr>
          <p:cNvPr id="5" name="Rounded Rectangle 4"/>
          <p:cNvSpPr/>
          <p:nvPr/>
        </p:nvSpPr>
        <p:spPr>
          <a:xfrm>
            <a:off x="1519237" y="1832083"/>
            <a:ext cx="7086600" cy="1901717"/>
          </a:xfrm>
          <a:prstGeom prst="roundRect">
            <a:avLst>
              <a:gd name="adj" fmla="val 3980"/>
            </a:avLst>
          </a:prstGeom>
        </p:spPr>
        <p:style>
          <a:lnRef idx="1">
            <a:schemeClr val="accent2"/>
          </a:lnRef>
          <a:fillRef idx="2">
            <a:schemeClr val="accent2"/>
          </a:fillRef>
          <a:effectRef idx="1">
            <a:schemeClr val="accent2"/>
          </a:effectRef>
          <a:fontRef idx="minor">
            <a:schemeClr val="dk1"/>
          </a:fontRef>
        </p:style>
        <p:txBody>
          <a:bodyPr rtlCol="0" anchor="ctr"/>
          <a:lstStyle/>
          <a:p>
            <a:r>
              <a:rPr lang="en-GB" dirty="0"/>
              <a:t>def </a:t>
            </a:r>
            <a:r>
              <a:rPr lang="en-GB" dirty="0" err="1"/>
              <a:t>addRule</a:t>
            </a:r>
            <a:r>
              <a:rPr lang="en-GB" dirty="0"/>
              <a:t>(</a:t>
            </a:r>
            <a:r>
              <a:rPr lang="en-GB" dirty="0" err="1"/>
              <a:t>ruleDict</a:t>
            </a:r>
            <a:r>
              <a:rPr lang="en-GB" dirty="0"/>
              <a:t>, </a:t>
            </a:r>
            <a:r>
              <a:rPr lang="en-GB" dirty="0" err="1"/>
              <a:t>replaceStr</a:t>
            </a:r>
            <a:r>
              <a:rPr lang="en-GB" dirty="0"/>
              <a:t>, </a:t>
            </a:r>
            <a:r>
              <a:rPr lang="en-GB" dirty="0" err="1"/>
              <a:t>newStr</a:t>
            </a:r>
            <a:r>
              <a:rPr lang="en-GB" dirty="0"/>
              <a:t> ):</a:t>
            </a:r>
          </a:p>
          <a:p>
            <a:r>
              <a:rPr lang="en-GB" sz="1600" dirty="0"/>
              <a:t>    </a:t>
            </a:r>
            <a:r>
              <a:rPr lang="en-GB" sz="1600" dirty="0">
                <a:solidFill>
                  <a:schemeClr val="accent5">
                    <a:lumMod val="60000"/>
                    <a:lumOff val="40000"/>
                  </a:schemeClr>
                </a:solidFill>
              </a:rPr>
              <a:t>''' add a new rule to the </a:t>
            </a:r>
            <a:r>
              <a:rPr lang="en-GB" sz="1600" dirty="0" err="1">
                <a:solidFill>
                  <a:schemeClr val="accent5">
                    <a:lumMod val="60000"/>
                    <a:lumOff val="40000"/>
                  </a:schemeClr>
                </a:solidFill>
              </a:rPr>
              <a:t>ruleDict</a:t>
            </a:r>
            <a:endParaRPr lang="en-GB" sz="1600" dirty="0">
              <a:solidFill>
                <a:schemeClr val="accent5">
                  <a:lumMod val="60000"/>
                  <a:lumOff val="40000"/>
                </a:schemeClr>
              </a:solidFill>
            </a:endParaRPr>
          </a:p>
          <a:p>
            <a:r>
              <a:rPr lang="en-GB" sz="1600" dirty="0">
                <a:solidFill>
                  <a:schemeClr val="accent5">
                    <a:lumMod val="60000"/>
                    <a:lumOff val="40000"/>
                  </a:schemeClr>
                </a:solidFill>
              </a:rPr>
              <a:t>    </a:t>
            </a:r>
            <a:r>
              <a:rPr lang="en-GB" sz="1600" dirty="0" err="1">
                <a:solidFill>
                  <a:schemeClr val="accent5">
                    <a:lumMod val="60000"/>
                    <a:lumOff val="40000"/>
                  </a:schemeClr>
                </a:solidFill>
              </a:rPr>
              <a:t>ruleDict</a:t>
            </a:r>
            <a:r>
              <a:rPr lang="en-GB" sz="1600" dirty="0">
                <a:solidFill>
                  <a:schemeClr val="accent5">
                    <a:lumMod val="60000"/>
                    <a:lumOff val="40000"/>
                  </a:schemeClr>
                </a:solidFill>
              </a:rPr>
              <a:t>	: the dictionary holding the rules</a:t>
            </a:r>
          </a:p>
          <a:p>
            <a:r>
              <a:rPr lang="en-GB" sz="1600" dirty="0">
                <a:solidFill>
                  <a:schemeClr val="accent5">
                    <a:lumMod val="60000"/>
                    <a:lumOff val="40000"/>
                  </a:schemeClr>
                </a:solidFill>
              </a:rPr>
              <a:t>    </a:t>
            </a:r>
            <a:r>
              <a:rPr lang="en-GB" sz="1600" dirty="0" err="1">
                <a:solidFill>
                  <a:schemeClr val="accent5">
                    <a:lumMod val="60000"/>
                    <a:lumOff val="40000"/>
                  </a:schemeClr>
                </a:solidFill>
              </a:rPr>
              <a:t>replaceStr</a:t>
            </a:r>
            <a:r>
              <a:rPr lang="en-GB" sz="1600" dirty="0">
                <a:solidFill>
                  <a:schemeClr val="accent5">
                    <a:lumMod val="60000"/>
                    <a:lumOff val="40000"/>
                  </a:schemeClr>
                </a:solidFill>
              </a:rPr>
              <a:t>	: the old character to be replaced</a:t>
            </a:r>
          </a:p>
          <a:p>
            <a:r>
              <a:rPr lang="en-GB" sz="1600" dirty="0">
                <a:solidFill>
                  <a:schemeClr val="accent5">
                    <a:lumMod val="60000"/>
                    <a:lumOff val="40000"/>
                  </a:schemeClr>
                </a:solidFill>
              </a:rPr>
              <a:t>    </a:t>
            </a:r>
            <a:r>
              <a:rPr lang="en-GB" sz="1600" dirty="0" err="1">
                <a:solidFill>
                  <a:schemeClr val="accent5">
                    <a:lumMod val="60000"/>
                    <a:lumOff val="40000"/>
                  </a:schemeClr>
                </a:solidFill>
              </a:rPr>
              <a:t>newStr</a:t>
            </a:r>
            <a:r>
              <a:rPr lang="en-GB" sz="1600" dirty="0">
                <a:solidFill>
                  <a:schemeClr val="accent5">
                    <a:lumMod val="60000"/>
                    <a:lumOff val="40000"/>
                  </a:schemeClr>
                </a:solidFill>
              </a:rPr>
              <a:t>		: the new string replacing the old one</a:t>
            </a:r>
          </a:p>
          <a:p>
            <a:r>
              <a:rPr lang="en-GB" sz="1600" dirty="0">
                <a:solidFill>
                  <a:schemeClr val="accent5">
                    <a:lumMod val="60000"/>
                    <a:lumOff val="40000"/>
                  </a:schemeClr>
                </a:solidFill>
              </a:rPr>
              <a:t>    ''' </a:t>
            </a:r>
          </a:p>
          <a:p>
            <a:r>
              <a:rPr lang="en-GB" sz="1600" dirty="0">
                <a:solidFill>
                  <a:schemeClr val="accent5">
                    <a:lumMod val="60000"/>
                    <a:lumOff val="40000"/>
                  </a:schemeClr>
                </a:solidFill>
              </a:rPr>
              <a:t>    </a:t>
            </a:r>
            <a:r>
              <a:rPr lang="en-GB" sz="1600" dirty="0" err="1">
                <a:solidFill>
                  <a:schemeClr val="tx1"/>
                </a:solidFill>
              </a:rPr>
              <a:t>ruleDict</a:t>
            </a:r>
            <a:r>
              <a:rPr lang="en-GB" sz="1600" dirty="0">
                <a:solidFill>
                  <a:schemeClr val="tx1"/>
                </a:solidFill>
              </a:rPr>
              <a:t>[ </a:t>
            </a:r>
            <a:r>
              <a:rPr lang="en-GB" sz="1600" dirty="0" err="1">
                <a:solidFill>
                  <a:schemeClr val="tx1"/>
                </a:solidFill>
              </a:rPr>
              <a:t>replaceStr</a:t>
            </a:r>
            <a:r>
              <a:rPr lang="en-GB" sz="1600" dirty="0">
                <a:solidFill>
                  <a:schemeClr val="tx1"/>
                </a:solidFill>
              </a:rPr>
              <a:t> ] = </a:t>
            </a:r>
            <a:r>
              <a:rPr lang="en-GB" sz="1600" dirty="0" err="1">
                <a:solidFill>
                  <a:schemeClr val="tx1"/>
                </a:solidFill>
              </a:rPr>
              <a:t>newStr</a:t>
            </a:r>
            <a:endParaRPr lang="en-GB" sz="1600" dirty="0">
              <a:solidFill>
                <a:schemeClr val="tx1"/>
              </a:solidFill>
            </a:endParaRPr>
          </a:p>
        </p:txBody>
      </p:sp>
    </p:spTree>
    <p:extLst>
      <p:ext uri="{BB962C8B-B14F-4D97-AF65-F5344CB8AC3E}">
        <p14:creationId xmlns:p14="http://schemas.microsoft.com/office/powerpoint/2010/main" val="141988055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290"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198518" y="304801"/>
            <a:ext cx="1407319" cy="14249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Title 1"/>
          <p:cNvSpPr txBox="1">
            <a:spLocks/>
          </p:cNvSpPr>
          <p:nvPr/>
        </p:nvSpPr>
        <p:spPr>
          <a:xfrm>
            <a:off x="1432560" y="1066800"/>
            <a:ext cx="7406640" cy="765282"/>
          </a:xfrm>
          <a:prstGeom prst="rect">
            <a:avLst/>
          </a:prstGeom>
        </p:spPr>
        <p:txBody>
          <a:bodyPr anchor="b">
            <a:normAutofit/>
          </a:bodyPr>
          <a:lstStyle>
            <a:lvl1pPr algn="l" rtl="0" eaLnBrk="1" latinLnBrk="0" hangingPunct="1">
              <a:spcBef>
                <a:spcPct val="0"/>
              </a:spcBef>
              <a:buNone/>
              <a:defRPr kumimoji="0" sz="4300" kern="1200">
                <a:solidFill>
                  <a:schemeClr val="tx2">
                    <a:satMod val="130000"/>
                  </a:schemeClr>
                </a:solidFill>
                <a:effectLst>
                  <a:outerShdw blurRad="50000" dist="30000" dir="5400000" algn="tl" rotWithShape="0">
                    <a:srgbClr val="000000">
                      <a:alpha val="30000"/>
                    </a:srgbClr>
                  </a:outerShdw>
                </a:effectLst>
                <a:latin typeface="+mj-lt"/>
                <a:ea typeface="+mj-ea"/>
                <a:cs typeface="+mj-cs"/>
              </a:defRPr>
            </a:lvl1pPr>
            <a:extLst/>
          </a:lstStyle>
          <a:p>
            <a:r>
              <a:rPr lang="en-GB"/>
              <a:t>Exercise – step 4</a:t>
            </a:r>
            <a:endParaRPr lang="en-US"/>
          </a:p>
        </p:txBody>
      </p:sp>
      <p:sp>
        <p:nvSpPr>
          <p:cNvPr id="5" name="Rounded Rectangle 4"/>
          <p:cNvSpPr/>
          <p:nvPr/>
        </p:nvSpPr>
        <p:spPr>
          <a:xfrm>
            <a:off x="1519237" y="1832083"/>
            <a:ext cx="7086600" cy="2054117"/>
          </a:xfrm>
          <a:prstGeom prst="roundRect">
            <a:avLst>
              <a:gd name="adj" fmla="val 3980"/>
            </a:avLst>
          </a:prstGeom>
        </p:spPr>
        <p:style>
          <a:lnRef idx="1">
            <a:schemeClr val="accent2"/>
          </a:lnRef>
          <a:fillRef idx="2">
            <a:schemeClr val="accent2"/>
          </a:fillRef>
          <a:effectRef idx="1">
            <a:schemeClr val="accent2"/>
          </a:effectRef>
          <a:fontRef idx="minor">
            <a:schemeClr val="dk1"/>
          </a:fontRef>
        </p:style>
        <p:txBody>
          <a:bodyPr rtlCol="0" anchor="ctr"/>
          <a:lstStyle/>
          <a:p>
            <a:r>
              <a:rPr lang="en-GB" dirty="0"/>
              <a:t>def iterate(</a:t>
            </a:r>
            <a:r>
              <a:rPr lang="en-GB" dirty="0" err="1"/>
              <a:t>baseString</a:t>
            </a:r>
            <a:r>
              <a:rPr lang="en-GB" dirty="0"/>
              <a:t>, </a:t>
            </a:r>
            <a:r>
              <a:rPr lang="en-GB" dirty="0" err="1"/>
              <a:t>numIterations</a:t>
            </a:r>
            <a:r>
              <a:rPr lang="en-GB" dirty="0"/>
              <a:t>, </a:t>
            </a:r>
            <a:r>
              <a:rPr lang="en-GB" dirty="0" err="1"/>
              <a:t>ruleDict</a:t>
            </a:r>
            <a:r>
              <a:rPr lang="en-GB" dirty="0"/>
              <a:t>):</a:t>
            </a:r>
          </a:p>
          <a:p>
            <a:r>
              <a:rPr lang="en-GB" sz="1600" dirty="0">
                <a:solidFill>
                  <a:schemeClr val="accent5">
                    <a:lumMod val="60000"/>
                    <a:lumOff val="40000"/>
                  </a:schemeClr>
                </a:solidFill>
              </a:rPr>
              <a:t>    ''' following the rules, replace old characters with new ones</a:t>
            </a:r>
          </a:p>
          <a:p>
            <a:r>
              <a:rPr lang="en-GB" sz="1600" dirty="0">
                <a:solidFill>
                  <a:schemeClr val="accent5">
                    <a:lumMod val="60000"/>
                    <a:lumOff val="40000"/>
                  </a:schemeClr>
                </a:solidFill>
              </a:rPr>
              <a:t>    </a:t>
            </a:r>
            <a:r>
              <a:rPr lang="en-GB" sz="1600" dirty="0" err="1">
                <a:solidFill>
                  <a:schemeClr val="accent5">
                    <a:lumMod val="60000"/>
                    <a:lumOff val="40000"/>
                  </a:schemeClr>
                </a:solidFill>
              </a:rPr>
              <a:t>baseString</a:t>
            </a:r>
            <a:r>
              <a:rPr lang="en-GB" sz="1600" dirty="0">
                <a:solidFill>
                  <a:schemeClr val="accent5">
                    <a:lumMod val="60000"/>
                    <a:lumOff val="40000"/>
                  </a:schemeClr>
                </a:solidFill>
              </a:rPr>
              <a:t>	: start string</a:t>
            </a:r>
          </a:p>
          <a:p>
            <a:r>
              <a:rPr lang="en-GB" sz="1600" dirty="0">
                <a:solidFill>
                  <a:schemeClr val="accent5">
                    <a:lumMod val="60000"/>
                    <a:lumOff val="40000"/>
                  </a:schemeClr>
                </a:solidFill>
              </a:rPr>
              <a:t>    </a:t>
            </a:r>
            <a:r>
              <a:rPr lang="en-GB" sz="1600" dirty="0" err="1">
                <a:solidFill>
                  <a:schemeClr val="accent5">
                    <a:lumMod val="60000"/>
                    <a:lumOff val="40000"/>
                  </a:schemeClr>
                </a:solidFill>
              </a:rPr>
              <a:t>numIterations</a:t>
            </a:r>
            <a:r>
              <a:rPr lang="en-GB" sz="1600" dirty="0">
                <a:solidFill>
                  <a:schemeClr val="accent5">
                    <a:lumMod val="60000"/>
                    <a:lumOff val="40000"/>
                  </a:schemeClr>
                </a:solidFill>
              </a:rPr>
              <a:t>	: how many times the rules will be used</a:t>
            </a:r>
          </a:p>
          <a:p>
            <a:r>
              <a:rPr lang="en-GB" sz="1600" dirty="0">
                <a:solidFill>
                  <a:schemeClr val="accent5">
                    <a:lumMod val="60000"/>
                    <a:lumOff val="40000"/>
                  </a:schemeClr>
                </a:solidFill>
              </a:rPr>
              <a:t>    </a:t>
            </a:r>
            <a:r>
              <a:rPr lang="en-GB" sz="1600" dirty="0" err="1">
                <a:solidFill>
                  <a:schemeClr val="accent5">
                    <a:lumMod val="60000"/>
                    <a:lumOff val="40000"/>
                  </a:schemeClr>
                </a:solidFill>
              </a:rPr>
              <a:t>ruleDict</a:t>
            </a:r>
            <a:r>
              <a:rPr lang="en-GB" sz="1600" dirty="0">
                <a:solidFill>
                  <a:schemeClr val="accent5">
                    <a:lumMod val="60000"/>
                    <a:lumOff val="40000"/>
                  </a:schemeClr>
                </a:solidFill>
              </a:rPr>
              <a:t>	: the dictionary holding the rules</a:t>
            </a:r>
          </a:p>
          <a:p>
            <a:r>
              <a:rPr lang="en-GB" sz="1600" dirty="0">
                <a:solidFill>
                  <a:schemeClr val="accent5">
                    <a:lumMod val="60000"/>
                    <a:lumOff val="40000"/>
                  </a:schemeClr>
                </a:solidFill>
              </a:rPr>
              <a:t>    return		: return the final expanded string</a:t>
            </a:r>
          </a:p>
          <a:p>
            <a:r>
              <a:rPr lang="en-GB" sz="1600" dirty="0">
                <a:solidFill>
                  <a:schemeClr val="accent5">
                    <a:lumMod val="60000"/>
                    <a:lumOff val="40000"/>
                  </a:schemeClr>
                </a:solidFill>
              </a:rPr>
              <a:t>    '''</a:t>
            </a:r>
          </a:p>
        </p:txBody>
      </p:sp>
      <p:sp>
        <p:nvSpPr>
          <p:cNvPr id="2" name="Rectangle 1"/>
          <p:cNvSpPr/>
          <p:nvPr/>
        </p:nvSpPr>
        <p:spPr>
          <a:xfrm>
            <a:off x="1592580" y="4038600"/>
            <a:ext cx="7086600" cy="2739211"/>
          </a:xfrm>
          <a:prstGeom prst="rect">
            <a:avLst/>
          </a:prstGeom>
        </p:spPr>
        <p:txBody>
          <a:bodyPr wrap="square">
            <a:spAutoFit/>
          </a:bodyPr>
          <a:lstStyle/>
          <a:p>
            <a:r>
              <a:rPr lang="en-GB" sz="1600" dirty="0" err="1"/>
              <a:t>baseString</a:t>
            </a:r>
            <a:r>
              <a:rPr lang="en-GB" sz="1600" dirty="0"/>
              <a:t> "X"</a:t>
            </a:r>
          </a:p>
          <a:p>
            <a:r>
              <a:rPr lang="en-GB" sz="1600" dirty="0" err="1"/>
              <a:t>ruleDict</a:t>
            </a:r>
            <a:r>
              <a:rPr lang="en-GB" sz="1600" dirty="0"/>
              <a:t>: </a:t>
            </a:r>
            <a:r>
              <a:rPr lang="en-GB" dirty="0"/>
              <a:t>{"X" : "F-[[X]+X]+F[+FX]-X",  "F" : "FF"}</a:t>
            </a:r>
          </a:p>
          <a:p>
            <a:r>
              <a:rPr lang="en-GB" dirty="0" err="1"/>
              <a:t>actionString</a:t>
            </a:r>
            <a:endParaRPr lang="en-GB" dirty="0"/>
          </a:p>
          <a:p>
            <a:pPr marL="457200" indent="-457200">
              <a:buAutoNum type="arabicParenR"/>
            </a:pPr>
            <a:r>
              <a:rPr lang="en-GB" sz="1200" dirty="0"/>
              <a:t>"X"</a:t>
            </a:r>
          </a:p>
          <a:p>
            <a:pPr marL="457200" indent="-457200">
              <a:buAutoNum type="arabicParenR"/>
            </a:pPr>
            <a:r>
              <a:rPr lang="en-GB" sz="1200" dirty="0"/>
              <a:t>"F-[[X]+X]+F[+FX]-X"</a:t>
            </a:r>
          </a:p>
          <a:p>
            <a:pPr marL="457200" indent="-457200">
              <a:buAutoNum type="arabicParenR"/>
            </a:pPr>
            <a:r>
              <a:rPr lang="en-GB" sz="1200" dirty="0"/>
              <a:t>"FF-[[F-[[X]+X]+F[+FX]-X]+F-[[X]+X]+F[+FX]-X]+FF[+FFF-[[X]+X]+F[+FX]-X]-F-[[X]+X]+F[+FX]-X"</a:t>
            </a:r>
          </a:p>
          <a:p>
            <a:endParaRPr lang="en-GB" dirty="0"/>
          </a:p>
          <a:p>
            <a:r>
              <a:rPr lang="en-GB" dirty="0"/>
              <a:t>You need to use the Python dictionary get() method to find the matching replacing string</a:t>
            </a:r>
          </a:p>
          <a:p>
            <a:r>
              <a:rPr lang="en-GB" dirty="0">
                <a:hlinkClick r:id="rId3"/>
              </a:rPr>
              <a:t>http://www.tutorialspoint.com/python/dictionary_get.htm</a:t>
            </a:r>
            <a:r>
              <a:rPr lang="en-GB" dirty="0"/>
              <a:t> </a:t>
            </a:r>
          </a:p>
        </p:txBody>
      </p:sp>
    </p:spTree>
    <p:extLst>
      <p:ext uri="{BB962C8B-B14F-4D97-AF65-F5344CB8AC3E}">
        <p14:creationId xmlns:p14="http://schemas.microsoft.com/office/powerpoint/2010/main" val="152785472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290"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198518" y="304801"/>
            <a:ext cx="1407319" cy="14249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Title 1"/>
          <p:cNvSpPr txBox="1">
            <a:spLocks/>
          </p:cNvSpPr>
          <p:nvPr/>
        </p:nvSpPr>
        <p:spPr>
          <a:xfrm>
            <a:off x="1432560" y="1066800"/>
            <a:ext cx="7406640" cy="765282"/>
          </a:xfrm>
          <a:prstGeom prst="rect">
            <a:avLst/>
          </a:prstGeom>
        </p:spPr>
        <p:txBody>
          <a:bodyPr anchor="b">
            <a:normAutofit/>
          </a:bodyPr>
          <a:lstStyle>
            <a:lvl1pPr algn="l" rtl="0" eaLnBrk="1" latinLnBrk="0" hangingPunct="1">
              <a:spcBef>
                <a:spcPct val="0"/>
              </a:spcBef>
              <a:buNone/>
              <a:defRPr kumimoji="0" sz="4300" kern="1200">
                <a:solidFill>
                  <a:schemeClr val="tx2">
                    <a:satMod val="130000"/>
                  </a:schemeClr>
                </a:solidFill>
                <a:effectLst>
                  <a:outerShdw blurRad="50000" dist="30000" dir="5400000" algn="tl" rotWithShape="0">
                    <a:srgbClr val="000000">
                      <a:alpha val="30000"/>
                    </a:srgbClr>
                  </a:outerShdw>
                </a:effectLst>
                <a:latin typeface="+mj-lt"/>
                <a:ea typeface="+mj-ea"/>
                <a:cs typeface="+mj-cs"/>
              </a:defRPr>
            </a:lvl1pPr>
            <a:extLst/>
          </a:lstStyle>
          <a:p>
            <a:r>
              <a:rPr lang="en-GB"/>
              <a:t>Exercise – step 5</a:t>
            </a:r>
            <a:endParaRPr lang="en-US"/>
          </a:p>
        </p:txBody>
      </p:sp>
      <p:sp>
        <p:nvSpPr>
          <p:cNvPr id="5" name="Rounded Rectangle 4"/>
          <p:cNvSpPr/>
          <p:nvPr/>
        </p:nvSpPr>
        <p:spPr>
          <a:xfrm>
            <a:off x="1519237" y="1832083"/>
            <a:ext cx="7086600" cy="1901717"/>
          </a:xfrm>
          <a:prstGeom prst="roundRect">
            <a:avLst>
              <a:gd name="adj" fmla="val 3980"/>
            </a:avLst>
          </a:prstGeom>
        </p:spPr>
        <p:style>
          <a:lnRef idx="1">
            <a:schemeClr val="accent2"/>
          </a:lnRef>
          <a:fillRef idx="2">
            <a:schemeClr val="accent2"/>
          </a:fillRef>
          <a:effectRef idx="1">
            <a:schemeClr val="accent2"/>
          </a:effectRef>
          <a:fontRef idx="minor">
            <a:schemeClr val="dk1"/>
          </a:fontRef>
        </p:style>
        <p:txBody>
          <a:bodyPr rtlCol="0" anchor="ctr"/>
          <a:lstStyle/>
          <a:p>
            <a:r>
              <a:rPr lang="en-GB" dirty="0"/>
              <a:t>def </a:t>
            </a:r>
            <a:r>
              <a:rPr lang="en-GB" dirty="0" err="1"/>
              <a:t>calculateVector</a:t>
            </a:r>
            <a:r>
              <a:rPr lang="en-GB" dirty="0"/>
              <a:t>( length, rotation ):</a:t>
            </a:r>
          </a:p>
          <a:p>
            <a:r>
              <a:rPr lang="en-GB" sz="1400" dirty="0">
                <a:solidFill>
                  <a:schemeClr val="accent5">
                    <a:lumMod val="60000"/>
                    <a:lumOff val="40000"/>
                  </a:schemeClr>
                </a:solidFill>
              </a:rPr>
              <a:t>    '''calculate the vector from the start point to the end point for each branch</a:t>
            </a:r>
          </a:p>
          <a:p>
            <a:r>
              <a:rPr lang="en-GB" sz="1400" dirty="0">
                <a:solidFill>
                  <a:schemeClr val="accent5">
                    <a:lumMod val="60000"/>
                    <a:lumOff val="40000"/>
                  </a:schemeClr>
                </a:solidFill>
              </a:rPr>
              <a:t>    length	: step size for growing</a:t>
            </a:r>
          </a:p>
          <a:p>
            <a:r>
              <a:rPr lang="en-GB" sz="1400" dirty="0">
                <a:solidFill>
                  <a:schemeClr val="accent5">
                    <a:lumMod val="60000"/>
                    <a:lumOff val="40000"/>
                  </a:schemeClr>
                </a:solidFill>
              </a:rPr>
              <a:t>    rotation	: the rotation angle for branching</a:t>
            </a:r>
          </a:p>
          <a:p>
            <a:r>
              <a:rPr lang="en-GB" sz="1400" dirty="0">
                <a:solidFill>
                  <a:schemeClr val="accent5">
                    <a:lumMod val="60000"/>
                    <a:lumOff val="40000"/>
                  </a:schemeClr>
                </a:solidFill>
              </a:rPr>
              <a:t>    return	: return the vector from start point to end point</a:t>
            </a:r>
          </a:p>
          <a:p>
            <a:r>
              <a:rPr lang="en-GB" sz="1400" dirty="0">
                <a:solidFill>
                  <a:schemeClr val="accent5">
                    <a:lumMod val="60000"/>
                    <a:lumOff val="40000"/>
                  </a:schemeClr>
                </a:solidFill>
              </a:rPr>
              <a:t>    '''   </a:t>
            </a:r>
          </a:p>
          <a:p>
            <a:r>
              <a:rPr lang="en-GB" sz="1400" dirty="0">
                <a:solidFill>
                  <a:schemeClr val="accent5">
                    <a:lumMod val="60000"/>
                    <a:lumOff val="40000"/>
                  </a:schemeClr>
                </a:solidFill>
              </a:rPr>
              <a:t>    </a:t>
            </a:r>
            <a:r>
              <a:rPr lang="en-GB" sz="1400" dirty="0">
                <a:solidFill>
                  <a:schemeClr val="tx1"/>
                </a:solidFill>
              </a:rPr>
              <a:t>radians = </a:t>
            </a:r>
            <a:r>
              <a:rPr lang="en-GB" sz="1400" dirty="0" err="1">
                <a:solidFill>
                  <a:schemeClr val="tx1"/>
                </a:solidFill>
              </a:rPr>
              <a:t>math.pi</a:t>
            </a:r>
            <a:r>
              <a:rPr lang="en-GB" sz="1400" dirty="0">
                <a:solidFill>
                  <a:schemeClr val="tx1"/>
                </a:solidFill>
              </a:rPr>
              <a:t> * rotation / 180</a:t>
            </a:r>
          </a:p>
          <a:p>
            <a:r>
              <a:rPr lang="en-GB" sz="1400" dirty="0">
                <a:solidFill>
                  <a:schemeClr val="tx1"/>
                </a:solidFill>
              </a:rPr>
              <a:t>    return [length* </a:t>
            </a:r>
            <a:r>
              <a:rPr lang="en-GB" sz="1400" dirty="0" err="1">
                <a:solidFill>
                  <a:schemeClr val="tx1"/>
                </a:solidFill>
              </a:rPr>
              <a:t>math.sin</a:t>
            </a:r>
            <a:r>
              <a:rPr lang="en-GB" sz="1400" dirty="0">
                <a:solidFill>
                  <a:schemeClr val="tx1"/>
                </a:solidFill>
              </a:rPr>
              <a:t>(radians), length* </a:t>
            </a:r>
            <a:r>
              <a:rPr lang="en-GB" sz="1400" dirty="0" err="1">
                <a:solidFill>
                  <a:schemeClr val="tx1"/>
                </a:solidFill>
              </a:rPr>
              <a:t>math.cos</a:t>
            </a:r>
            <a:r>
              <a:rPr lang="en-GB" sz="1400" dirty="0">
                <a:solidFill>
                  <a:schemeClr val="tx1"/>
                </a:solidFill>
              </a:rPr>
              <a:t>(radians), 0.0]	</a:t>
            </a:r>
          </a:p>
        </p:txBody>
      </p:sp>
      <p:sp>
        <p:nvSpPr>
          <p:cNvPr id="7" name="Rounded Rectangle 6"/>
          <p:cNvSpPr/>
          <p:nvPr/>
        </p:nvSpPr>
        <p:spPr>
          <a:xfrm>
            <a:off x="495300" y="3886200"/>
            <a:ext cx="8153400" cy="2362200"/>
          </a:xfrm>
          <a:prstGeom prst="roundRect">
            <a:avLst>
              <a:gd name="adj" fmla="val 3980"/>
            </a:avLst>
          </a:prstGeom>
        </p:spPr>
        <p:style>
          <a:lnRef idx="1">
            <a:schemeClr val="accent2"/>
          </a:lnRef>
          <a:fillRef idx="2">
            <a:schemeClr val="accent2"/>
          </a:fillRef>
          <a:effectRef idx="1">
            <a:schemeClr val="accent2"/>
          </a:effectRef>
          <a:fontRef idx="minor">
            <a:schemeClr val="dk1"/>
          </a:fontRef>
        </p:style>
        <p:txBody>
          <a:bodyPr rtlCol="0" anchor="ctr"/>
          <a:lstStyle/>
          <a:p>
            <a:r>
              <a:rPr lang="en-GB" sz="1600" dirty="0"/>
              <a:t>def </a:t>
            </a:r>
            <a:r>
              <a:rPr lang="en-GB" sz="1600" dirty="0" err="1"/>
              <a:t>createBranch</a:t>
            </a:r>
            <a:r>
              <a:rPr lang="en-GB" sz="1600" dirty="0"/>
              <a:t>(</a:t>
            </a:r>
            <a:r>
              <a:rPr lang="en-GB" sz="1600" dirty="0" err="1"/>
              <a:t>startPoint</a:t>
            </a:r>
            <a:r>
              <a:rPr lang="en-GB" sz="1600" dirty="0"/>
              <a:t>, length, angle):</a:t>
            </a:r>
          </a:p>
          <a:p>
            <a:r>
              <a:rPr lang="en-GB" sz="1200" dirty="0">
                <a:solidFill>
                  <a:schemeClr val="accent5">
                    <a:lumMod val="60000"/>
                    <a:lumOff val="40000"/>
                  </a:schemeClr>
                </a:solidFill>
              </a:rPr>
              <a:t>   ''' create a cylinder for each branch</a:t>
            </a:r>
          </a:p>
          <a:p>
            <a:r>
              <a:rPr lang="en-GB" sz="1200" dirty="0">
                <a:solidFill>
                  <a:schemeClr val="accent5">
                    <a:lumMod val="60000"/>
                    <a:lumOff val="40000"/>
                  </a:schemeClr>
                </a:solidFill>
              </a:rPr>
              <a:t>    </a:t>
            </a:r>
            <a:r>
              <a:rPr lang="en-GB" sz="1200" dirty="0" err="1">
                <a:solidFill>
                  <a:schemeClr val="accent5">
                    <a:lumMod val="60000"/>
                    <a:lumOff val="40000"/>
                  </a:schemeClr>
                </a:solidFill>
              </a:rPr>
              <a:t>startPoint</a:t>
            </a:r>
            <a:r>
              <a:rPr lang="en-GB" sz="1200" dirty="0">
                <a:solidFill>
                  <a:schemeClr val="accent5">
                    <a:lumMod val="60000"/>
                    <a:lumOff val="40000"/>
                  </a:schemeClr>
                </a:solidFill>
              </a:rPr>
              <a:t>	    : </a:t>
            </a:r>
            <a:r>
              <a:rPr lang="en-GB" sz="1200" dirty="0" err="1">
                <a:solidFill>
                  <a:schemeClr val="accent5">
                    <a:lumMod val="60000"/>
                    <a:lumOff val="40000"/>
                  </a:schemeClr>
                </a:solidFill>
              </a:rPr>
              <a:t>startPoint</a:t>
            </a:r>
            <a:r>
              <a:rPr lang="en-GB" sz="1200" dirty="0">
                <a:solidFill>
                  <a:schemeClr val="accent5">
                    <a:lumMod val="60000"/>
                    <a:lumOff val="40000"/>
                  </a:schemeClr>
                </a:solidFill>
              </a:rPr>
              <a:t>, base point for the new cylinder</a:t>
            </a:r>
          </a:p>
          <a:p>
            <a:r>
              <a:rPr lang="en-GB" sz="1200" dirty="0">
                <a:solidFill>
                  <a:schemeClr val="accent5">
                    <a:lumMod val="60000"/>
                    <a:lumOff val="40000"/>
                  </a:schemeClr>
                </a:solidFill>
              </a:rPr>
              <a:t>    length	    : step size for growing</a:t>
            </a:r>
          </a:p>
          <a:p>
            <a:r>
              <a:rPr lang="en-GB" sz="1200" dirty="0">
                <a:solidFill>
                  <a:schemeClr val="accent5">
                    <a:lumMod val="60000"/>
                    <a:lumOff val="40000"/>
                  </a:schemeClr>
                </a:solidFill>
              </a:rPr>
              <a:t>    angle	    : the rotation angle for branching, used for calculating the axis of the cylinder</a:t>
            </a:r>
          </a:p>
          <a:p>
            <a:r>
              <a:rPr lang="en-GB" sz="1200" dirty="0">
                <a:solidFill>
                  <a:schemeClr val="accent5">
                    <a:lumMod val="60000"/>
                    <a:lumOff val="40000"/>
                  </a:schemeClr>
                </a:solidFill>
              </a:rPr>
              <a:t>    return	    : return the created object</a:t>
            </a:r>
          </a:p>
          <a:p>
            <a:r>
              <a:rPr lang="en-GB" sz="1200" dirty="0">
                <a:solidFill>
                  <a:schemeClr val="accent5">
                    <a:lumMod val="60000"/>
                    <a:lumOff val="40000"/>
                  </a:schemeClr>
                </a:solidFill>
              </a:rPr>
              <a:t>    '''   </a:t>
            </a:r>
          </a:p>
          <a:p>
            <a:r>
              <a:rPr lang="en-GB" sz="1200" dirty="0">
                <a:solidFill>
                  <a:schemeClr val="tx1"/>
                </a:solidFill>
              </a:rPr>
              <a:t>    radians = angle * </a:t>
            </a:r>
            <a:r>
              <a:rPr lang="en-GB" sz="1200" dirty="0" err="1">
                <a:solidFill>
                  <a:schemeClr val="tx1"/>
                </a:solidFill>
              </a:rPr>
              <a:t>math.pi</a:t>
            </a:r>
            <a:r>
              <a:rPr lang="en-GB" sz="1200" dirty="0">
                <a:solidFill>
                  <a:schemeClr val="tx1"/>
                </a:solidFill>
              </a:rPr>
              <a:t> /180.0</a:t>
            </a:r>
          </a:p>
          <a:p>
            <a:r>
              <a:rPr lang="en-GB" sz="1200" dirty="0">
                <a:solidFill>
                  <a:schemeClr val="tx1"/>
                </a:solidFill>
              </a:rPr>
              <a:t>    branch = </a:t>
            </a:r>
            <a:r>
              <a:rPr lang="en-GB" sz="1200" dirty="0" err="1">
                <a:solidFill>
                  <a:schemeClr val="tx1"/>
                </a:solidFill>
              </a:rPr>
              <a:t>cmds.polyCylinder</a:t>
            </a:r>
            <a:r>
              <a:rPr lang="en-GB" sz="1200" dirty="0">
                <a:solidFill>
                  <a:schemeClr val="tx1"/>
                </a:solidFill>
              </a:rPr>
              <a:t>(axis=[</a:t>
            </a:r>
            <a:r>
              <a:rPr lang="en-GB" sz="1200" dirty="0" err="1">
                <a:solidFill>
                  <a:schemeClr val="tx1"/>
                </a:solidFill>
              </a:rPr>
              <a:t>math.sin</a:t>
            </a:r>
            <a:r>
              <a:rPr lang="en-GB" sz="1200" dirty="0">
                <a:solidFill>
                  <a:schemeClr val="tx1"/>
                </a:solidFill>
              </a:rPr>
              <a:t>(radians), </a:t>
            </a:r>
            <a:r>
              <a:rPr lang="en-GB" sz="1200" dirty="0" err="1">
                <a:solidFill>
                  <a:schemeClr val="tx1"/>
                </a:solidFill>
              </a:rPr>
              <a:t>math.cos</a:t>
            </a:r>
            <a:r>
              <a:rPr lang="en-GB" sz="1200" dirty="0">
                <a:solidFill>
                  <a:schemeClr val="tx1"/>
                </a:solidFill>
              </a:rPr>
              <a:t>(radians), 0.0], r=length/5.0, height=length)</a:t>
            </a:r>
          </a:p>
          <a:p>
            <a:r>
              <a:rPr lang="en-GB" sz="1200" dirty="0">
                <a:solidFill>
                  <a:schemeClr val="tx1"/>
                </a:solidFill>
              </a:rPr>
              <a:t>    </a:t>
            </a:r>
            <a:r>
              <a:rPr lang="en-GB" sz="1200" dirty="0" err="1">
                <a:solidFill>
                  <a:schemeClr val="tx1"/>
                </a:solidFill>
              </a:rPr>
              <a:t>cmds.move</a:t>
            </a:r>
            <a:r>
              <a:rPr lang="en-GB" sz="1200" dirty="0">
                <a:solidFill>
                  <a:schemeClr val="tx1"/>
                </a:solidFill>
              </a:rPr>
              <a:t>(</a:t>
            </a:r>
            <a:r>
              <a:rPr lang="en-GB" sz="1200" dirty="0" err="1">
                <a:solidFill>
                  <a:schemeClr val="tx1"/>
                </a:solidFill>
              </a:rPr>
              <a:t>startPoint</a:t>
            </a:r>
            <a:r>
              <a:rPr lang="en-GB" sz="1200" dirty="0">
                <a:solidFill>
                  <a:schemeClr val="tx1"/>
                </a:solidFill>
              </a:rPr>
              <a:t>[0] + 0.5*length*</a:t>
            </a:r>
            <a:r>
              <a:rPr lang="en-GB" sz="1200" dirty="0" err="1">
                <a:solidFill>
                  <a:schemeClr val="tx1"/>
                </a:solidFill>
              </a:rPr>
              <a:t>math.sin</a:t>
            </a:r>
            <a:r>
              <a:rPr lang="en-GB" sz="1200" dirty="0">
                <a:solidFill>
                  <a:schemeClr val="tx1"/>
                </a:solidFill>
              </a:rPr>
              <a:t>(radians), </a:t>
            </a:r>
            <a:r>
              <a:rPr lang="en-GB" sz="1200" dirty="0" err="1">
                <a:solidFill>
                  <a:schemeClr val="tx1"/>
                </a:solidFill>
              </a:rPr>
              <a:t>startPoint</a:t>
            </a:r>
            <a:r>
              <a:rPr lang="en-GB" sz="1200" dirty="0">
                <a:solidFill>
                  <a:schemeClr val="tx1"/>
                </a:solidFill>
              </a:rPr>
              <a:t>[1] + 0.5*length*</a:t>
            </a:r>
            <a:r>
              <a:rPr lang="en-GB" sz="1200" dirty="0" err="1">
                <a:solidFill>
                  <a:schemeClr val="tx1"/>
                </a:solidFill>
              </a:rPr>
              <a:t>math.cos</a:t>
            </a:r>
            <a:r>
              <a:rPr lang="en-GB" sz="1200" dirty="0">
                <a:solidFill>
                  <a:schemeClr val="tx1"/>
                </a:solidFill>
              </a:rPr>
              <a:t>(radians),</a:t>
            </a:r>
            <a:r>
              <a:rPr lang="en-GB" sz="1200" dirty="0" err="1">
                <a:solidFill>
                  <a:schemeClr val="tx1"/>
                </a:solidFill>
              </a:rPr>
              <a:t>startPoint</a:t>
            </a:r>
            <a:r>
              <a:rPr lang="en-GB" sz="1200" dirty="0">
                <a:solidFill>
                  <a:schemeClr val="tx1"/>
                </a:solidFill>
              </a:rPr>
              <a:t>[2]+0.0)</a:t>
            </a:r>
          </a:p>
          <a:p>
            <a:r>
              <a:rPr lang="en-GB" sz="1200" dirty="0">
                <a:solidFill>
                  <a:schemeClr val="tx1"/>
                </a:solidFill>
              </a:rPr>
              <a:t>    return branch[0]</a:t>
            </a:r>
            <a:endParaRPr lang="en-GB" sz="1050" dirty="0">
              <a:solidFill>
                <a:schemeClr val="tx1"/>
              </a:solidFill>
            </a:endParaRPr>
          </a:p>
        </p:txBody>
      </p:sp>
      <p:sp>
        <p:nvSpPr>
          <p:cNvPr id="9" name="Cylinder 8">
            <a:extLst>
              <a:ext uri="{FF2B5EF4-FFF2-40B4-BE49-F238E27FC236}">
                <a16:creationId xmlns:a16="http://schemas.microsoft.com/office/drawing/2014/main" id="{61C431AA-A7C2-4B62-822B-FB48C072F698}"/>
              </a:ext>
            </a:extLst>
          </p:cNvPr>
          <p:cNvSpPr/>
          <p:nvPr/>
        </p:nvSpPr>
        <p:spPr>
          <a:xfrm rot="3957202">
            <a:off x="6207060" y="487254"/>
            <a:ext cx="106518" cy="1143000"/>
          </a:xfrm>
          <a:prstGeom prst="ca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10" name="Straight Arrow Connector 9">
            <a:extLst>
              <a:ext uri="{FF2B5EF4-FFF2-40B4-BE49-F238E27FC236}">
                <a16:creationId xmlns:a16="http://schemas.microsoft.com/office/drawing/2014/main" id="{4C97E491-2E21-42D0-825F-63D6933A1700}"/>
              </a:ext>
            </a:extLst>
          </p:cNvPr>
          <p:cNvCxnSpPr>
            <a:cxnSpLocks/>
            <a:stCxn id="9" idx="3"/>
          </p:cNvCxnSpPr>
          <p:nvPr/>
        </p:nvCxnSpPr>
        <p:spPr>
          <a:xfrm flipH="1" flipV="1">
            <a:off x="5716715" y="704856"/>
            <a:ext cx="21702" cy="586773"/>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20B31F3F-E0C9-432F-8482-E5A96BCA4903}"/>
              </a:ext>
            </a:extLst>
          </p:cNvPr>
          <p:cNvCxnSpPr>
            <a:cxnSpLocks/>
            <a:stCxn id="9" idx="3"/>
          </p:cNvCxnSpPr>
          <p:nvPr/>
        </p:nvCxnSpPr>
        <p:spPr>
          <a:xfrm flipV="1">
            <a:off x="5738417" y="735034"/>
            <a:ext cx="1263626" cy="556595"/>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2" name="Arc 11">
            <a:extLst>
              <a:ext uri="{FF2B5EF4-FFF2-40B4-BE49-F238E27FC236}">
                <a16:creationId xmlns:a16="http://schemas.microsoft.com/office/drawing/2014/main" id="{C32A0BEF-D92C-4A3B-AAA0-4192706DBDFF}"/>
              </a:ext>
            </a:extLst>
          </p:cNvPr>
          <p:cNvSpPr/>
          <p:nvPr/>
        </p:nvSpPr>
        <p:spPr>
          <a:xfrm>
            <a:off x="5512850" y="975291"/>
            <a:ext cx="430980" cy="434010"/>
          </a:xfrm>
          <a:prstGeom prst="arc">
            <a:avLst>
              <a:gd name="adj1" fmla="val 16200000"/>
              <a:gd name="adj2" fmla="val 149239"/>
            </a:avLst>
          </a:prstGeom>
          <a:ln w="3810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dirty="0"/>
          </a:p>
        </p:txBody>
      </p:sp>
      <p:sp>
        <p:nvSpPr>
          <p:cNvPr id="14" name="TextBox 13">
            <a:extLst>
              <a:ext uri="{FF2B5EF4-FFF2-40B4-BE49-F238E27FC236}">
                <a16:creationId xmlns:a16="http://schemas.microsoft.com/office/drawing/2014/main" id="{3C78514D-17C2-40F4-B378-52833B5BB8BE}"/>
              </a:ext>
            </a:extLst>
          </p:cNvPr>
          <p:cNvSpPr txBox="1"/>
          <p:nvPr/>
        </p:nvSpPr>
        <p:spPr>
          <a:xfrm>
            <a:off x="5815987" y="755861"/>
            <a:ext cx="553420" cy="276999"/>
          </a:xfrm>
          <a:prstGeom prst="rect">
            <a:avLst/>
          </a:prstGeom>
          <a:noFill/>
        </p:spPr>
        <p:txBody>
          <a:bodyPr wrap="square" rtlCol="0">
            <a:spAutoFit/>
          </a:bodyPr>
          <a:lstStyle/>
          <a:p>
            <a:r>
              <a:rPr lang="en-GB" sz="1200" dirty="0"/>
              <a:t>angle</a:t>
            </a:r>
          </a:p>
        </p:txBody>
      </p:sp>
      <p:cxnSp>
        <p:nvCxnSpPr>
          <p:cNvPr id="15" name="Straight Arrow Connector 14">
            <a:extLst>
              <a:ext uri="{FF2B5EF4-FFF2-40B4-BE49-F238E27FC236}">
                <a16:creationId xmlns:a16="http://schemas.microsoft.com/office/drawing/2014/main" id="{C80788C1-3A16-4286-B2D5-8BD177865E40}"/>
              </a:ext>
            </a:extLst>
          </p:cNvPr>
          <p:cNvCxnSpPr>
            <a:cxnSpLocks/>
            <a:stCxn id="9" idx="3"/>
          </p:cNvCxnSpPr>
          <p:nvPr/>
        </p:nvCxnSpPr>
        <p:spPr>
          <a:xfrm>
            <a:off x="5738417" y="1291629"/>
            <a:ext cx="1261981" cy="10337"/>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3982596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290"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198518" y="304801"/>
            <a:ext cx="1407319" cy="14249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Title 1"/>
          <p:cNvSpPr txBox="1">
            <a:spLocks/>
          </p:cNvSpPr>
          <p:nvPr/>
        </p:nvSpPr>
        <p:spPr>
          <a:xfrm>
            <a:off x="1432560" y="1066800"/>
            <a:ext cx="7406640" cy="765282"/>
          </a:xfrm>
          <a:prstGeom prst="rect">
            <a:avLst/>
          </a:prstGeom>
        </p:spPr>
        <p:txBody>
          <a:bodyPr anchor="b">
            <a:normAutofit/>
          </a:bodyPr>
          <a:lstStyle>
            <a:lvl1pPr algn="l" rtl="0" eaLnBrk="1" latinLnBrk="0" hangingPunct="1">
              <a:spcBef>
                <a:spcPct val="0"/>
              </a:spcBef>
              <a:buNone/>
              <a:defRPr kumimoji="0" sz="4300" kern="1200">
                <a:solidFill>
                  <a:schemeClr val="tx2">
                    <a:satMod val="130000"/>
                  </a:schemeClr>
                </a:solidFill>
                <a:effectLst>
                  <a:outerShdw blurRad="50000" dist="30000" dir="5400000" algn="tl" rotWithShape="0">
                    <a:srgbClr val="000000">
                      <a:alpha val="30000"/>
                    </a:srgbClr>
                  </a:outerShdw>
                </a:effectLst>
                <a:latin typeface="+mj-lt"/>
                <a:ea typeface="+mj-ea"/>
                <a:cs typeface="+mj-cs"/>
              </a:defRPr>
            </a:lvl1pPr>
            <a:extLst/>
          </a:lstStyle>
          <a:p>
            <a:r>
              <a:rPr lang="en-GB"/>
              <a:t>Exercise – step 6</a:t>
            </a:r>
            <a:endParaRPr lang="en-US"/>
          </a:p>
        </p:txBody>
      </p:sp>
      <p:sp>
        <p:nvSpPr>
          <p:cNvPr id="5" name="Rounded Rectangle 4"/>
          <p:cNvSpPr/>
          <p:nvPr/>
        </p:nvSpPr>
        <p:spPr>
          <a:xfrm>
            <a:off x="1519237" y="1832083"/>
            <a:ext cx="7086600" cy="4568717"/>
          </a:xfrm>
          <a:prstGeom prst="roundRect">
            <a:avLst>
              <a:gd name="adj" fmla="val 3980"/>
            </a:avLst>
          </a:prstGeom>
        </p:spPr>
        <p:style>
          <a:lnRef idx="1">
            <a:schemeClr val="accent2"/>
          </a:lnRef>
          <a:fillRef idx="2">
            <a:schemeClr val="accent2"/>
          </a:fillRef>
          <a:effectRef idx="1">
            <a:schemeClr val="accent2"/>
          </a:effectRef>
          <a:fontRef idx="minor">
            <a:schemeClr val="dk1"/>
          </a:fontRef>
        </p:style>
        <p:txBody>
          <a:bodyPr rtlCol="0" anchor="ctr"/>
          <a:lstStyle/>
          <a:p>
            <a:r>
              <a:rPr lang="en-GB" err="1"/>
              <a:t>def</a:t>
            </a:r>
            <a:r>
              <a:rPr lang="en-GB"/>
              <a:t> </a:t>
            </a:r>
            <a:r>
              <a:rPr lang="en-GB" err="1"/>
              <a:t>createModel</a:t>
            </a:r>
            <a:r>
              <a:rPr lang="en-GB"/>
              <a:t>( </a:t>
            </a:r>
            <a:r>
              <a:rPr lang="en-GB" err="1"/>
              <a:t>actionString</a:t>
            </a:r>
            <a:r>
              <a:rPr lang="en-GB"/>
              <a:t>, length, turn):</a:t>
            </a:r>
          </a:p>
          <a:p>
            <a:r>
              <a:rPr lang="en-GB" sz="1400">
                <a:solidFill>
                  <a:schemeClr val="accent5">
                    <a:lumMod val="60000"/>
                    <a:lumOff val="40000"/>
                  </a:schemeClr>
                </a:solidFill>
              </a:rPr>
              <a:t>    ''' create the 3D model based on the </a:t>
            </a:r>
            <a:r>
              <a:rPr lang="en-GB" sz="1400" err="1">
                <a:solidFill>
                  <a:schemeClr val="accent5">
                    <a:lumMod val="60000"/>
                    <a:lumOff val="40000"/>
                  </a:schemeClr>
                </a:solidFill>
              </a:rPr>
              <a:t>actionString</a:t>
            </a:r>
            <a:r>
              <a:rPr lang="en-GB" sz="1400">
                <a:solidFill>
                  <a:schemeClr val="accent5">
                    <a:lumMod val="60000"/>
                    <a:lumOff val="40000"/>
                  </a:schemeClr>
                </a:solidFill>
              </a:rPr>
              <a:t>, following the characters in the string, </a:t>
            </a:r>
          </a:p>
          <a:p>
            <a:r>
              <a:rPr lang="en-GB" sz="1400">
                <a:solidFill>
                  <a:schemeClr val="accent5">
                    <a:lumMod val="60000"/>
                    <a:lumOff val="40000"/>
                  </a:schemeClr>
                </a:solidFill>
              </a:rPr>
              <a:t>    one by one, grow the branches, and finally group all branches together into one group</a:t>
            </a:r>
          </a:p>
          <a:p>
            <a:r>
              <a:rPr lang="en-GB" sz="1400">
                <a:solidFill>
                  <a:schemeClr val="accent5">
                    <a:lumMod val="60000"/>
                    <a:lumOff val="40000"/>
                  </a:schemeClr>
                </a:solidFill>
              </a:rPr>
              <a:t>    </a:t>
            </a:r>
            <a:r>
              <a:rPr lang="en-GB" sz="1400" err="1">
                <a:solidFill>
                  <a:schemeClr val="accent5">
                    <a:lumMod val="60000"/>
                    <a:lumOff val="40000"/>
                  </a:schemeClr>
                </a:solidFill>
              </a:rPr>
              <a:t>actionString</a:t>
            </a:r>
            <a:r>
              <a:rPr lang="en-GB" sz="1400">
                <a:solidFill>
                  <a:schemeClr val="accent5">
                    <a:lumMod val="60000"/>
                    <a:lumOff val="40000"/>
                  </a:schemeClr>
                </a:solidFill>
              </a:rPr>
              <a:t>: instructions on how to construct the model, "F-[[X]+X]+F[+FX]-X"</a:t>
            </a:r>
          </a:p>
          <a:p>
            <a:r>
              <a:rPr lang="en-GB" sz="1400">
                <a:solidFill>
                  <a:schemeClr val="accent5">
                    <a:lumMod val="60000"/>
                    <a:lumOff val="40000"/>
                  </a:schemeClr>
                </a:solidFill>
              </a:rPr>
              <a:t>    length	   : step size for growing</a:t>
            </a:r>
          </a:p>
          <a:p>
            <a:r>
              <a:rPr lang="en-GB" sz="1400">
                <a:solidFill>
                  <a:schemeClr val="accent5">
                    <a:lumMod val="60000"/>
                    <a:lumOff val="40000"/>
                  </a:schemeClr>
                </a:solidFill>
              </a:rPr>
              <a:t>    turn	   : the rotation angle for branching</a:t>
            </a:r>
          </a:p>
          <a:p>
            <a:r>
              <a:rPr lang="en-GB" sz="1400">
                <a:solidFill>
                  <a:schemeClr val="accent5">
                    <a:lumMod val="60000"/>
                    <a:lumOff val="40000"/>
                  </a:schemeClr>
                </a:solidFill>
              </a:rPr>
              <a:t>    return	   : return the group of all the branches</a:t>
            </a:r>
          </a:p>
          <a:p>
            <a:r>
              <a:rPr lang="en-GB" sz="1400">
                <a:solidFill>
                  <a:schemeClr val="accent5">
                    <a:lumMod val="60000"/>
                    <a:lumOff val="40000"/>
                  </a:schemeClr>
                </a:solidFill>
              </a:rPr>
              <a:t>    '''</a:t>
            </a:r>
          </a:p>
          <a:p>
            <a:r>
              <a:rPr lang="en-GB">
                <a:solidFill>
                  <a:schemeClr val="tx1"/>
                </a:solidFill>
              </a:rPr>
              <a:t>    </a:t>
            </a:r>
            <a:r>
              <a:rPr lang="en-GB" err="1">
                <a:solidFill>
                  <a:schemeClr val="tx1"/>
                </a:solidFill>
              </a:rPr>
              <a:t>inputString</a:t>
            </a:r>
            <a:r>
              <a:rPr lang="en-GB">
                <a:solidFill>
                  <a:schemeClr val="tx1"/>
                </a:solidFill>
              </a:rPr>
              <a:t> = </a:t>
            </a:r>
            <a:r>
              <a:rPr lang="en-GB" err="1">
                <a:solidFill>
                  <a:schemeClr val="tx1"/>
                </a:solidFill>
              </a:rPr>
              <a:t>actionString</a:t>
            </a:r>
            <a:endParaRPr lang="en-GB">
              <a:solidFill>
                <a:schemeClr val="tx1"/>
              </a:solidFill>
            </a:endParaRPr>
          </a:p>
          <a:p>
            <a:r>
              <a:rPr lang="en-GB">
                <a:solidFill>
                  <a:schemeClr val="tx1"/>
                </a:solidFill>
              </a:rPr>
              <a:t>    index = 0		# Where at the input string we start from</a:t>
            </a:r>
          </a:p>
          <a:p>
            <a:r>
              <a:rPr lang="en-GB">
                <a:solidFill>
                  <a:schemeClr val="tx1"/>
                </a:solidFill>
              </a:rPr>
              <a:t>    angle = 0		# Degrees, nor radians</a:t>
            </a:r>
          </a:p>
          <a:p>
            <a:r>
              <a:rPr lang="en-GB">
                <a:solidFill>
                  <a:schemeClr val="tx1"/>
                </a:solidFill>
              </a:rPr>
              <a:t>    </a:t>
            </a:r>
            <a:r>
              <a:rPr lang="en-GB" err="1">
                <a:solidFill>
                  <a:schemeClr val="tx1"/>
                </a:solidFill>
              </a:rPr>
              <a:t>currentPoint</a:t>
            </a:r>
            <a:r>
              <a:rPr lang="en-GB">
                <a:solidFill>
                  <a:schemeClr val="tx1"/>
                </a:solidFill>
              </a:rPr>
              <a:t> = [0.0, 0.0, 0.0]	# Start from origin</a:t>
            </a:r>
          </a:p>
          <a:p>
            <a:r>
              <a:rPr lang="en-GB">
                <a:solidFill>
                  <a:schemeClr val="tx1"/>
                </a:solidFill>
              </a:rPr>
              <a:t>    </a:t>
            </a:r>
            <a:r>
              <a:rPr lang="en-GB" err="1">
                <a:solidFill>
                  <a:schemeClr val="tx1"/>
                </a:solidFill>
              </a:rPr>
              <a:t>coordinateStack</a:t>
            </a:r>
            <a:r>
              <a:rPr lang="en-GB">
                <a:solidFill>
                  <a:schemeClr val="tx1"/>
                </a:solidFill>
              </a:rPr>
              <a:t> = []	# Stack where to store coordinates</a:t>
            </a:r>
          </a:p>
          <a:p>
            <a:r>
              <a:rPr lang="en-GB">
                <a:solidFill>
                  <a:schemeClr val="tx1"/>
                </a:solidFill>
              </a:rPr>
              <a:t>    </a:t>
            </a:r>
            <a:r>
              <a:rPr lang="en-GB" err="1">
                <a:solidFill>
                  <a:schemeClr val="tx1"/>
                </a:solidFill>
              </a:rPr>
              <a:t>angleStack</a:t>
            </a:r>
            <a:r>
              <a:rPr lang="en-GB">
                <a:solidFill>
                  <a:schemeClr val="tx1"/>
                </a:solidFill>
              </a:rPr>
              <a:t> = []		# Stack to store angles</a:t>
            </a:r>
          </a:p>
          <a:p>
            <a:r>
              <a:rPr lang="en-GB">
                <a:solidFill>
                  <a:schemeClr val="tx1"/>
                </a:solidFill>
              </a:rPr>
              <a:t>    </a:t>
            </a:r>
            <a:r>
              <a:rPr lang="en-GB" err="1">
                <a:solidFill>
                  <a:schemeClr val="tx1"/>
                </a:solidFill>
              </a:rPr>
              <a:t>branchList</a:t>
            </a:r>
            <a:r>
              <a:rPr lang="en-GB">
                <a:solidFill>
                  <a:schemeClr val="tx1"/>
                </a:solidFill>
              </a:rPr>
              <a:t> = []</a:t>
            </a:r>
          </a:p>
        </p:txBody>
      </p:sp>
    </p:spTree>
    <p:extLst>
      <p:ext uri="{BB962C8B-B14F-4D97-AF65-F5344CB8AC3E}">
        <p14:creationId xmlns:p14="http://schemas.microsoft.com/office/powerpoint/2010/main" val="55008398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290"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198518" y="304801"/>
            <a:ext cx="1407319" cy="14249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Title 1"/>
          <p:cNvSpPr txBox="1">
            <a:spLocks/>
          </p:cNvSpPr>
          <p:nvPr/>
        </p:nvSpPr>
        <p:spPr>
          <a:xfrm>
            <a:off x="1432560" y="1066800"/>
            <a:ext cx="7406640" cy="765282"/>
          </a:xfrm>
          <a:prstGeom prst="rect">
            <a:avLst/>
          </a:prstGeom>
        </p:spPr>
        <p:txBody>
          <a:bodyPr anchor="b">
            <a:normAutofit/>
          </a:bodyPr>
          <a:lstStyle>
            <a:lvl1pPr algn="l" rtl="0" eaLnBrk="1" latinLnBrk="0" hangingPunct="1">
              <a:spcBef>
                <a:spcPct val="0"/>
              </a:spcBef>
              <a:buNone/>
              <a:defRPr kumimoji="0" sz="4300" kern="1200">
                <a:solidFill>
                  <a:schemeClr val="tx2">
                    <a:satMod val="130000"/>
                  </a:schemeClr>
                </a:solidFill>
                <a:effectLst>
                  <a:outerShdw blurRad="50000" dist="30000" dir="5400000" algn="tl" rotWithShape="0">
                    <a:srgbClr val="000000">
                      <a:alpha val="30000"/>
                    </a:srgbClr>
                  </a:outerShdw>
                </a:effectLst>
                <a:latin typeface="+mj-lt"/>
                <a:ea typeface="+mj-ea"/>
                <a:cs typeface="+mj-cs"/>
              </a:defRPr>
            </a:lvl1pPr>
            <a:extLst/>
          </a:lstStyle>
          <a:p>
            <a:r>
              <a:rPr lang="en-GB"/>
              <a:t>Exercise – step 6</a:t>
            </a:r>
            <a:endParaRPr lang="en-US"/>
          </a:p>
        </p:txBody>
      </p:sp>
      <p:sp>
        <p:nvSpPr>
          <p:cNvPr id="7" name="Rectangle 6"/>
          <p:cNvSpPr/>
          <p:nvPr/>
        </p:nvSpPr>
        <p:spPr>
          <a:xfrm>
            <a:off x="1519237" y="2286000"/>
            <a:ext cx="7086600" cy="3877985"/>
          </a:xfrm>
          <a:prstGeom prst="rect">
            <a:avLst/>
          </a:prstGeom>
        </p:spPr>
        <p:txBody>
          <a:bodyPr wrap="square">
            <a:spAutoFit/>
          </a:bodyPr>
          <a:lstStyle/>
          <a:p>
            <a:r>
              <a:rPr lang="en-GB" sz="1200"/>
              <a:t>"FF-[[F-[[X]+X]+F[+FX]-X]+F-[[X]+X]+F[+FX]-X]+FF[+FFF-[[X]+X]+F[+FX]-X]-F-[[X]+X]+F[+FX]-X"</a:t>
            </a:r>
          </a:p>
          <a:p>
            <a:endParaRPr lang="en-GB"/>
          </a:p>
          <a:p>
            <a:r>
              <a:rPr lang="en-GB"/>
              <a:t>Parsing through the </a:t>
            </a:r>
            <a:r>
              <a:rPr lang="en-GB" err="1"/>
              <a:t>actionString</a:t>
            </a:r>
            <a:r>
              <a:rPr lang="en-GB"/>
              <a:t> character by character (using for or while loop):</a:t>
            </a:r>
          </a:p>
          <a:p>
            <a:r>
              <a:rPr lang="en-GB"/>
              <a:t>If the current character is :</a:t>
            </a:r>
          </a:p>
          <a:p>
            <a:pPr lvl="1"/>
            <a:r>
              <a:rPr lang="en-GB"/>
              <a:t>"F": call </a:t>
            </a:r>
            <a:r>
              <a:rPr lang="en-GB" err="1"/>
              <a:t>createBranch</a:t>
            </a:r>
            <a:r>
              <a:rPr lang="en-GB"/>
              <a:t>(), add the new branch to </a:t>
            </a:r>
            <a:r>
              <a:rPr lang="en-GB" err="1"/>
              <a:t>branchList</a:t>
            </a:r>
            <a:r>
              <a:rPr lang="en-GB"/>
              <a:t>, update </a:t>
            </a:r>
            <a:r>
              <a:rPr lang="en-GB" err="1"/>
              <a:t>currentPosition</a:t>
            </a:r>
            <a:r>
              <a:rPr lang="en-GB"/>
              <a:t> using </a:t>
            </a:r>
            <a:r>
              <a:rPr lang="en-GB" err="1"/>
              <a:t>calculateVector</a:t>
            </a:r>
            <a:r>
              <a:rPr lang="en-GB"/>
              <a:t>();</a:t>
            </a:r>
          </a:p>
          <a:p>
            <a:pPr lvl="1"/>
            <a:r>
              <a:rPr lang="en-GB"/>
              <a:t>"-":  decrease the current angle by   “turn”</a:t>
            </a:r>
          </a:p>
          <a:p>
            <a:pPr lvl="1"/>
            <a:r>
              <a:rPr lang="en-GB"/>
              <a:t>"+": increase the current angle by   “turn”</a:t>
            </a:r>
          </a:p>
          <a:p>
            <a:pPr lvl="1"/>
            <a:r>
              <a:rPr lang="en-GB"/>
              <a:t>"[":  save current position and angle to stacks</a:t>
            </a:r>
          </a:p>
          <a:p>
            <a:pPr lvl="1"/>
            <a:r>
              <a:rPr lang="en-GB"/>
              <a:t>"]":  pop current position and angle from stacks</a:t>
            </a:r>
          </a:p>
          <a:p>
            <a:r>
              <a:rPr lang="en-GB"/>
              <a:t>Move on to next character in the action string</a:t>
            </a:r>
          </a:p>
          <a:p>
            <a:endParaRPr lang="en-GB"/>
          </a:p>
          <a:p>
            <a:r>
              <a:rPr lang="en-GB"/>
              <a:t>Group all branches into one group, give a name called “tree”</a:t>
            </a:r>
          </a:p>
        </p:txBody>
      </p:sp>
    </p:spTree>
    <p:extLst>
      <p:ext uri="{BB962C8B-B14F-4D97-AF65-F5344CB8AC3E}">
        <p14:creationId xmlns:p14="http://schemas.microsoft.com/office/powerpoint/2010/main" val="267142514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txBox="1">
            <a:spLocks/>
          </p:cNvSpPr>
          <p:nvPr/>
        </p:nvSpPr>
        <p:spPr>
          <a:xfrm>
            <a:off x="1432560" y="1066800"/>
            <a:ext cx="7406640" cy="765282"/>
          </a:xfrm>
          <a:prstGeom prst="rect">
            <a:avLst/>
          </a:prstGeom>
        </p:spPr>
        <p:txBody>
          <a:bodyPr anchor="b">
            <a:normAutofit/>
          </a:bodyPr>
          <a:lstStyle>
            <a:lvl1pPr algn="l" rtl="0" eaLnBrk="1" latinLnBrk="0" hangingPunct="1">
              <a:spcBef>
                <a:spcPct val="0"/>
              </a:spcBef>
              <a:buNone/>
              <a:defRPr kumimoji="0" sz="4300" kern="1200">
                <a:solidFill>
                  <a:schemeClr val="tx2">
                    <a:satMod val="130000"/>
                  </a:schemeClr>
                </a:solidFill>
                <a:effectLst>
                  <a:outerShdw blurRad="50000" dist="30000" dir="5400000" algn="tl" rotWithShape="0">
                    <a:srgbClr val="000000">
                      <a:alpha val="30000"/>
                    </a:srgbClr>
                  </a:outerShdw>
                </a:effectLst>
                <a:latin typeface="+mj-lt"/>
                <a:ea typeface="+mj-ea"/>
                <a:cs typeface="+mj-cs"/>
              </a:defRPr>
            </a:lvl1pPr>
            <a:extLst/>
          </a:lstStyle>
          <a:p>
            <a:r>
              <a:rPr lang="en-GB"/>
              <a:t>Exercise – step 7</a:t>
            </a:r>
            <a:endParaRPr lang="en-US"/>
          </a:p>
        </p:txBody>
      </p:sp>
      <p:sp>
        <p:nvSpPr>
          <p:cNvPr id="7" name="Rectangle 6"/>
          <p:cNvSpPr/>
          <p:nvPr/>
        </p:nvSpPr>
        <p:spPr>
          <a:xfrm>
            <a:off x="1519237" y="2286000"/>
            <a:ext cx="7086600" cy="3477875"/>
          </a:xfrm>
          <a:prstGeom prst="rect">
            <a:avLst/>
          </a:prstGeom>
        </p:spPr>
        <p:txBody>
          <a:bodyPr wrap="square">
            <a:spAutoFit/>
          </a:bodyPr>
          <a:lstStyle/>
          <a:p>
            <a:r>
              <a:rPr lang="en-GB" sz="2400" b="1" dirty="0"/>
              <a:t>Comments: </a:t>
            </a:r>
          </a:p>
          <a:p>
            <a:pPr marL="457200" indent="-457200">
              <a:buAutoNum type="arabicParenR"/>
            </a:pPr>
            <a:r>
              <a:rPr lang="en-GB" sz="2400" dirty="0"/>
              <a:t>Add </a:t>
            </a:r>
            <a:r>
              <a:rPr lang="en-GB" sz="2400" dirty="0" err="1"/>
              <a:t>docstring</a:t>
            </a:r>
            <a:r>
              <a:rPr lang="en-GB" sz="2400" dirty="0"/>
              <a:t> for the whole file</a:t>
            </a:r>
          </a:p>
          <a:p>
            <a:pPr marL="457200" indent="-457200">
              <a:buAutoNum type="arabicParenR"/>
            </a:pPr>
            <a:r>
              <a:rPr lang="en-GB" sz="2400" dirty="0"/>
              <a:t>Add comments (</a:t>
            </a:r>
            <a:r>
              <a:rPr lang="en-GB" sz="2400" dirty="0" err="1"/>
              <a:t>docstring</a:t>
            </a:r>
            <a:r>
              <a:rPr lang="en-GB" sz="2400" dirty="0"/>
              <a:t>) to each function</a:t>
            </a:r>
          </a:p>
          <a:p>
            <a:pPr marL="457200" indent="-457200">
              <a:buAutoNum type="arabicParenR"/>
            </a:pPr>
            <a:r>
              <a:rPr lang="en-GB" sz="2400" dirty="0"/>
              <a:t>Add comments for important flow and statements</a:t>
            </a:r>
          </a:p>
          <a:p>
            <a:endParaRPr lang="en-GB" sz="2400" dirty="0"/>
          </a:p>
          <a:p>
            <a:r>
              <a:rPr lang="en-GB" sz="2400" b="1" dirty="0">
                <a:solidFill>
                  <a:schemeClr val="tx2">
                    <a:lumMod val="40000"/>
                    <a:lumOff val="60000"/>
                  </a:schemeClr>
                </a:solidFill>
              </a:rPr>
              <a:t>Documents </a:t>
            </a:r>
            <a:r>
              <a:rPr lang="en-GB" sz="2400" dirty="0">
                <a:solidFill>
                  <a:schemeClr val="tx2">
                    <a:lumMod val="40000"/>
                    <a:lumOff val="60000"/>
                  </a:schemeClr>
                </a:solidFill>
              </a:rPr>
              <a:t>(not required)</a:t>
            </a:r>
          </a:p>
          <a:p>
            <a:r>
              <a:rPr lang="en-GB" sz="2400" dirty="0">
                <a:solidFill>
                  <a:schemeClr val="tx2">
                    <a:lumMod val="40000"/>
                    <a:lumOff val="60000"/>
                  </a:schemeClr>
                </a:solidFill>
              </a:rPr>
              <a:t>1) Change to the folder of the source code</a:t>
            </a:r>
          </a:p>
          <a:p>
            <a:r>
              <a:rPr lang="en-GB" sz="2400" dirty="0">
                <a:solidFill>
                  <a:schemeClr val="tx2">
                    <a:lumMod val="40000"/>
                    <a:lumOff val="60000"/>
                  </a:schemeClr>
                </a:solidFill>
              </a:rPr>
              <a:t>2) Command line: </a:t>
            </a:r>
            <a:r>
              <a:rPr lang="en-GB" sz="2400" b="1" dirty="0" err="1">
                <a:solidFill>
                  <a:schemeClr val="tx2">
                    <a:lumMod val="40000"/>
                    <a:lumOff val="60000"/>
                  </a:schemeClr>
                </a:solidFill>
              </a:rPr>
              <a:t>pydoc</a:t>
            </a:r>
            <a:r>
              <a:rPr lang="en-GB" sz="2400" dirty="0">
                <a:solidFill>
                  <a:schemeClr val="tx2">
                    <a:lumMod val="40000"/>
                    <a:lumOff val="60000"/>
                  </a:schemeClr>
                </a:solidFill>
              </a:rPr>
              <a:t> -w ./LSystermCylinder.py</a:t>
            </a:r>
          </a:p>
          <a:p>
            <a:r>
              <a:rPr lang="en-GB" sz="2400" dirty="0">
                <a:solidFill>
                  <a:schemeClr val="tx2">
                    <a:lumMod val="40000"/>
                    <a:lumOff val="60000"/>
                  </a:schemeClr>
                </a:solidFill>
              </a:rPr>
              <a:t>3) LSystermCylinder.html is created. </a:t>
            </a:r>
            <a:endParaRPr lang="en-GB" sz="2800" dirty="0">
              <a:solidFill>
                <a:schemeClr val="tx2">
                  <a:lumMod val="40000"/>
                  <a:lumOff val="60000"/>
                </a:schemeClr>
              </a:solidFill>
            </a:endParaRPr>
          </a:p>
        </p:txBody>
      </p:sp>
      <p:pic>
        <p:nvPicPr>
          <p:cNvPr id="1026"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400800" y="380999"/>
            <a:ext cx="2253762" cy="21118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23680641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txBox="1">
            <a:spLocks/>
          </p:cNvSpPr>
          <p:nvPr/>
        </p:nvSpPr>
        <p:spPr>
          <a:xfrm>
            <a:off x="1432560" y="1066800"/>
            <a:ext cx="7406640" cy="765282"/>
          </a:xfrm>
          <a:prstGeom prst="rect">
            <a:avLst/>
          </a:prstGeom>
        </p:spPr>
        <p:txBody>
          <a:bodyPr anchor="b">
            <a:normAutofit/>
          </a:bodyPr>
          <a:lstStyle>
            <a:lvl1pPr algn="l" rtl="0" eaLnBrk="1" latinLnBrk="0" hangingPunct="1">
              <a:spcBef>
                <a:spcPct val="0"/>
              </a:spcBef>
              <a:buNone/>
              <a:defRPr kumimoji="0" sz="4300" kern="1200">
                <a:solidFill>
                  <a:schemeClr val="tx2">
                    <a:satMod val="130000"/>
                  </a:schemeClr>
                </a:solidFill>
                <a:effectLst>
                  <a:outerShdw blurRad="50000" dist="30000" dir="5400000" algn="tl" rotWithShape="0">
                    <a:srgbClr val="000000">
                      <a:alpha val="30000"/>
                    </a:srgbClr>
                  </a:outerShdw>
                </a:effectLst>
                <a:latin typeface="+mj-lt"/>
                <a:ea typeface="+mj-ea"/>
                <a:cs typeface="+mj-cs"/>
              </a:defRPr>
            </a:lvl1pPr>
            <a:extLst/>
          </a:lstStyle>
          <a:p>
            <a:r>
              <a:rPr lang="en-GB"/>
              <a:t>Exercise – work left</a:t>
            </a:r>
            <a:endParaRPr lang="en-US"/>
          </a:p>
        </p:txBody>
      </p:sp>
      <p:sp>
        <p:nvSpPr>
          <p:cNvPr id="7" name="Rectangle 6"/>
          <p:cNvSpPr/>
          <p:nvPr/>
        </p:nvSpPr>
        <p:spPr>
          <a:xfrm>
            <a:off x="1519237" y="2286000"/>
            <a:ext cx="7086600" cy="4278094"/>
          </a:xfrm>
          <a:prstGeom prst="rect">
            <a:avLst/>
          </a:prstGeom>
        </p:spPr>
        <p:txBody>
          <a:bodyPr wrap="square">
            <a:spAutoFit/>
          </a:bodyPr>
          <a:lstStyle/>
          <a:p>
            <a:r>
              <a:rPr lang="en-GB" sz="2400" b="1" dirty="0"/>
              <a:t>Report: </a:t>
            </a:r>
          </a:p>
          <a:p>
            <a:pPr marL="457200" indent="-457200">
              <a:buAutoNum type="arabicParenR"/>
            </a:pPr>
            <a:r>
              <a:rPr lang="en-GB" sz="2000" dirty="0"/>
              <a:t>User manual, instructions on how to execute the code</a:t>
            </a:r>
          </a:p>
          <a:p>
            <a:pPr marL="457200" indent="-457200">
              <a:buAutoNum type="arabicParenR"/>
            </a:pPr>
            <a:r>
              <a:rPr lang="en-GB" sz="2000" dirty="0"/>
              <a:t>Explanation for the algorithm used</a:t>
            </a:r>
          </a:p>
          <a:p>
            <a:pPr marL="457200" indent="-457200">
              <a:buAutoNum type="arabicParenR"/>
            </a:pPr>
            <a:r>
              <a:rPr lang="en-GB" sz="2000" dirty="0"/>
              <a:t>Description about the code structure, flow of controls</a:t>
            </a:r>
          </a:p>
          <a:p>
            <a:pPr marL="457200" indent="-457200">
              <a:buAutoNum type="arabicParenR"/>
            </a:pPr>
            <a:r>
              <a:rPr lang="en-GB" sz="2000" dirty="0"/>
              <a:t>Snapshot pictures of the result</a:t>
            </a:r>
          </a:p>
          <a:p>
            <a:endParaRPr lang="en-GB" sz="2400" dirty="0"/>
          </a:p>
          <a:p>
            <a:r>
              <a:rPr lang="en-GB" sz="2400" b="1" dirty="0"/>
              <a:t>Extension</a:t>
            </a:r>
          </a:p>
          <a:p>
            <a:r>
              <a:rPr lang="en-GB" sz="2000" dirty="0"/>
              <a:t>1) Extension to 3D</a:t>
            </a:r>
          </a:p>
          <a:p>
            <a:r>
              <a:rPr lang="en-GB" sz="2000" dirty="0"/>
              <a:t>2) Use different rules </a:t>
            </a:r>
          </a:p>
          <a:p>
            <a:r>
              <a:rPr lang="en-GB" sz="2000" dirty="0"/>
              <a:t>3) Create leaves or flowers, or different styles of plants</a:t>
            </a:r>
          </a:p>
          <a:p>
            <a:r>
              <a:rPr lang="en-GB" sz="2000" dirty="0"/>
              <a:t>4) Forrest, various styles of plants</a:t>
            </a:r>
          </a:p>
          <a:p>
            <a:r>
              <a:rPr lang="en-GB" sz="2000" dirty="0"/>
              <a:t>5) Animation, growing procedure, wind blow</a:t>
            </a:r>
          </a:p>
          <a:p>
            <a:r>
              <a:rPr lang="en-GB" sz="2000" dirty="0"/>
              <a:t>6) User interface</a:t>
            </a:r>
          </a:p>
        </p:txBody>
      </p:sp>
    </p:spTree>
    <p:extLst>
      <p:ext uri="{BB962C8B-B14F-4D97-AF65-F5344CB8AC3E}">
        <p14:creationId xmlns:p14="http://schemas.microsoft.com/office/powerpoint/2010/main" val="346709886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0E5B4E-ED14-2EF5-6338-AF4857E49F22}"/>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3003CA05-3382-21DC-16AB-AC6CEBF381ED}"/>
              </a:ext>
            </a:extLst>
          </p:cNvPr>
          <p:cNvSpPr txBox="1">
            <a:spLocks/>
          </p:cNvSpPr>
          <p:nvPr/>
        </p:nvSpPr>
        <p:spPr>
          <a:xfrm>
            <a:off x="1432560" y="1066800"/>
            <a:ext cx="7406640" cy="765282"/>
          </a:xfrm>
          <a:prstGeom prst="rect">
            <a:avLst/>
          </a:prstGeom>
        </p:spPr>
        <p:txBody>
          <a:bodyPr anchor="b">
            <a:normAutofit/>
          </a:bodyPr>
          <a:lstStyle>
            <a:lvl1pPr algn="l" rtl="0" eaLnBrk="1" latinLnBrk="0" hangingPunct="1">
              <a:spcBef>
                <a:spcPct val="0"/>
              </a:spcBef>
              <a:buNone/>
              <a:defRPr kumimoji="0" sz="4300" kern="1200">
                <a:solidFill>
                  <a:schemeClr val="tx2">
                    <a:satMod val="130000"/>
                  </a:schemeClr>
                </a:solidFill>
                <a:effectLst>
                  <a:outerShdw blurRad="50000" dist="30000" dir="5400000" algn="tl" rotWithShape="0">
                    <a:srgbClr val="000000">
                      <a:alpha val="30000"/>
                    </a:srgbClr>
                  </a:outerShdw>
                </a:effectLst>
                <a:latin typeface="+mj-lt"/>
                <a:ea typeface="+mj-ea"/>
                <a:cs typeface="+mj-cs"/>
              </a:defRPr>
            </a:lvl1pPr>
            <a:extLst/>
          </a:lstStyle>
          <a:p>
            <a:r>
              <a:rPr lang="en-GB" dirty="0"/>
              <a:t>L-System – Extension to 3D</a:t>
            </a:r>
          </a:p>
        </p:txBody>
      </p:sp>
      <p:pic>
        <p:nvPicPr>
          <p:cNvPr id="5" name="Picture 4" descr="A diagram of a triangle with arrows&#10;&#10;Description automatically generated">
            <a:extLst>
              <a:ext uri="{FF2B5EF4-FFF2-40B4-BE49-F238E27FC236}">
                <a16:creationId xmlns:a16="http://schemas.microsoft.com/office/drawing/2014/main" id="{E7E3C86B-B5A4-E01A-033E-134C07F39D2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343400" y="2035538"/>
            <a:ext cx="3912541" cy="4786902"/>
          </a:xfrm>
          <a:prstGeom prst="rect">
            <a:avLst/>
          </a:prstGeom>
        </p:spPr>
      </p:pic>
      <p:cxnSp>
        <p:nvCxnSpPr>
          <p:cNvPr id="8" name="Straight Arrow Connector 7">
            <a:extLst>
              <a:ext uri="{FF2B5EF4-FFF2-40B4-BE49-F238E27FC236}">
                <a16:creationId xmlns:a16="http://schemas.microsoft.com/office/drawing/2014/main" id="{9E24C75A-09D7-CF0F-50FA-E153C5DCAF5B}"/>
              </a:ext>
            </a:extLst>
          </p:cNvPr>
          <p:cNvCxnSpPr>
            <a:cxnSpLocks/>
          </p:cNvCxnSpPr>
          <p:nvPr/>
        </p:nvCxnSpPr>
        <p:spPr>
          <a:xfrm flipH="1">
            <a:off x="5486400" y="5867400"/>
            <a:ext cx="76200" cy="2286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6056324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71B4D1-D405-F7F1-B5CF-C792BD64A460}"/>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43420494-2D67-6821-1223-7599A3EAA05A}"/>
              </a:ext>
            </a:extLst>
          </p:cNvPr>
          <p:cNvSpPr txBox="1">
            <a:spLocks/>
          </p:cNvSpPr>
          <p:nvPr/>
        </p:nvSpPr>
        <p:spPr>
          <a:xfrm>
            <a:off x="1432560" y="1066800"/>
            <a:ext cx="7406640" cy="765282"/>
          </a:xfrm>
          <a:prstGeom prst="rect">
            <a:avLst/>
          </a:prstGeom>
        </p:spPr>
        <p:txBody>
          <a:bodyPr anchor="b">
            <a:normAutofit/>
          </a:bodyPr>
          <a:lstStyle>
            <a:lvl1pPr algn="l" rtl="0" eaLnBrk="1" latinLnBrk="0" hangingPunct="1">
              <a:spcBef>
                <a:spcPct val="0"/>
              </a:spcBef>
              <a:buNone/>
              <a:defRPr kumimoji="0" sz="4300" kern="1200">
                <a:solidFill>
                  <a:schemeClr val="tx2">
                    <a:satMod val="130000"/>
                  </a:schemeClr>
                </a:solidFill>
                <a:effectLst>
                  <a:outerShdw blurRad="50000" dist="30000" dir="5400000" algn="tl" rotWithShape="0">
                    <a:srgbClr val="000000">
                      <a:alpha val="30000"/>
                    </a:srgbClr>
                  </a:outerShdw>
                </a:effectLst>
                <a:latin typeface="+mj-lt"/>
                <a:ea typeface="+mj-ea"/>
                <a:cs typeface="+mj-cs"/>
              </a:defRPr>
            </a:lvl1pPr>
            <a:extLst/>
          </a:lstStyle>
          <a:p>
            <a:r>
              <a:rPr lang="en-GB" dirty="0"/>
              <a:t>L-System – Plantation on terrain</a:t>
            </a:r>
          </a:p>
        </p:txBody>
      </p:sp>
      <p:pic>
        <p:nvPicPr>
          <p:cNvPr id="1026" name="Picture 2" descr=" ">
            <a:extLst>
              <a:ext uri="{FF2B5EF4-FFF2-40B4-BE49-F238E27FC236}">
                <a16:creationId xmlns:a16="http://schemas.microsoft.com/office/drawing/2014/main" id="{B2F8B27C-E2EF-BD55-1A59-1F621EBD1F8E}"/>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15556"/>
          <a:stretch/>
        </p:blipFill>
        <p:spPr bwMode="auto">
          <a:xfrm>
            <a:off x="1432560" y="2265680"/>
            <a:ext cx="1495425" cy="144780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Image result for plantation on terrian modelling ">
            <a:extLst>
              <a:ext uri="{FF2B5EF4-FFF2-40B4-BE49-F238E27FC236}">
                <a16:creationId xmlns:a16="http://schemas.microsoft.com/office/drawing/2014/main" id="{445D5712-5708-F5A9-52CE-D8B42BB10F1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87040" y="2306320"/>
            <a:ext cx="2223611" cy="1533525"/>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Image result for plantation on terrian modelling ">
            <a:extLst>
              <a:ext uri="{FF2B5EF4-FFF2-40B4-BE49-F238E27FC236}">
                <a16:creationId xmlns:a16="http://schemas.microsoft.com/office/drawing/2014/main" id="{9DC5D3F7-41D5-2A1B-601B-6BBD0709510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77340" y="4187718"/>
            <a:ext cx="2819400" cy="1714500"/>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Image result for tree mountain on terrian modelling ">
            <a:extLst>
              <a:ext uri="{FF2B5EF4-FFF2-40B4-BE49-F238E27FC236}">
                <a16:creationId xmlns:a16="http://schemas.microsoft.com/office/drawing/2014/main" id="{44312AE1-EFFB-51C6-0F07-02E3965BCF8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546600" y="4187718"/>
            <a:ext cx="2762250" cy="1714500"/>
          </a:xfrm>
          <a:prstGeom prst="rect">
            <a:avLst/>
          </a:prstGeom>
          <a:noFill/>
          <a:extLst>
            <a:ext uri="{909E8E84-426E-40DD-AFC4-6F175D3DCCD1}">
              <a14:hiddenFill xmlns:a14="http://schemas.microsoft.com/office/drawing/2010/main">
                <a:solidFill>
                  <a:srgbClr val="FFFFFF"/>
                </a:solidFill>
              </a14:hiddenFill>
            </a:ext>
          </a:extLst>
        </p:spPr>
      </p:pic>
      <p:pic>
        <p:nvPicPr>
          <p:cNvPr id="1036" name="Picture 12" descr="Image result for tree mountain on terrian modelling ">
            <a:extLst>
              <a:ext uri="{FF2B5EF4-FFF2-40B4-BE49-F238E27FC236}">
                <a16:creationId xmlns:a16="http://schemas.microsoft.com/office/drawing/2014/main" id="{2F511C02-46BB-EDB7-3D21-FC04499633F1}"/>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486400" y="2215832"/>
            <a:ext cx="1952625" cy="1714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5386499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ECB3B6-B1C2-166E-17D0-DC9BF33E7ED2}"/>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33B138C7-2E87-BEB5-B07A-BF0202CF951E}"/>
              </a:ext>
            </a:extLst>
          </p:cNvPr>
          <p:cNvSpPr txBox="1">
            <a:spLocks/>
          </p:cNvSpPr>
          <p:nvPr/>
        </p:nvSpPr>
        <p:spPr>
          <a:xfrm>
            <a:off x="1432560" y="1066800"/>
            <a:ext cx="7406640" cy="765282"/>
          </a:xfrm>
          <a:prstGeom prst="rect">
            <a:avLst/>
          </a:prstGeom>
        </p:spPr>
        <p:txBody>
          <a:bodyPr anchor="b">
            <a:normAutofit/>
          </a:bodyPr>
          <a:lstStyle>
            <a:lvl1pPr algn="l" rtl="0" eaLnBrk="1" latinLnBrk="0" hangingPunct="1">
              <a:spcBef>
                <a:spcPct val="0"/>
              </a:spcBef>
              <a:buNone/>
              <a:defRPr kumimoji="0" sz="4300" kern="1200">
                <a:solidFill>
                  <a:schemeClr val="tx2">
                    <a:satMod val="130000"/>
                  </a:schemeClr>
                </a:solidFill>
                <a:effectLst>
                  <a:outerShdw blurRad="50000" dist="30000" dir="5400000" algn="tl" rotWithShape="0">
                    <a:srgbClr val="000000">
                      <a:alpha val="30000"/>
                    </a:srgbClr>
                  </a:outerShdw>
                </a:effectLst>
                <a:latin typeface="+mj-lt"/>
                <a:ea typeface="+mj-ea"/>
                <a:cs typeface="+mj-cs"/>
              </a:defRPr>
            </a:lvl1pPr>
            <a:extLst/>
          </a:lstStyle>
          <a:p>
            <a:r>
              <a:rPr lang="en-GB" dirty="0"/>
              <a:t>L-System – Leaves + flowers</a:t>
            </a:r>
          </a:p>
        </p:txBody>
      </p:sp>
      <p:pic>
        <p:nvPicPr>
          <p:cNvPr id="2050" name="Picture 2" descr="Image result for 3D modelling leaves and flowers Lsystem">
            <a:extLst>
              <a:ext uri="{FF2B5EF4-FFF2-40B4-BE49-F238E27FC236}">
                <a16:creationId xmlns:a16="http://schemas.microsoft.com/office/drawing/2014/main" id="{A5131459-37F6-6EE6-5575-53918A86FCD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12240" y="2286000"/>
            <a:ext cx="3105150" cy="1743075"/>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Modeling Plants with Lindenmayer Systems - Allen Pike">
            <a:extLst>
              <a:ext uri="{FF2B5EF4-FFF2-40B4-BE49-F238E27FC236}">
                <a16:creationId xmlns:a16="http://schemas.microsoft.com/office/drawing/2014/main" id="{83DD1F84-AF51-7E0D-3FAA-A06D44A752F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24400" y="2133600"/>
            <a:ext cx="3505200" cy="3505200"/>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descr="Image result for 3D modelling leaves and flowers on trees Lsystem">
            <a:extLst>
              <a:ext uri="{FF2B5EF4-FFF2-40B4-BE49-F238E27FC236}">
                <a16:creationId xmlns:a16="http://schemas.microsoft.com/office/drawing/2014/main" id="{4E32DB53-1EFD-9610-07BF-2A1F1579DCB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02802" y="4503313"/>
            <a:ext cx="1724025" cy="17240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3261077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5CB1CB-35BC-18D7-ABB4-11F1BDEB2AD5}"/>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C7BAAFA5-F4C6-345A-2C9C-E185549DE467}"/>
              </a:ext>
            </a:extLst>
          </p:cNvPr>
          <p:cNvSpPr txBox="1">
            <a:spLocks/>
          </p:cNvSpPr>
          <p:nvPr/>
        </p:nvSpPr>
        <p:spPr>
          <a:xfrm>
            <a:off x="1432560" y="1066800"/>
            <a:ext cx="7406640" cy="765282"/>
          </a:xfrm>
          <a:prstGeom prst="rect">
            <a:avLst/>
          </a:prstGeom>
        </p:spPr>
        <p:txBody>
          <a:bodyPr anchor="b">
            <a:normAutofit/>
          </a:bodyPr>
          <a:lstStyle>
            <a:lvl1pPr algn="l" rtl="0" eaLnBrk="1" latinLnBrk="0" hangingPunct="1">
              <a:spcBef>
                <a:spcPct val="0"/>
              </a:spcBef>
              <a:buNone/>
              <a:defRPr kumimoji="0" sz="4300" kern="1200">
                <a:solidFill>
                  <a:schemeClr val="tx2">
                    <a:satMod val="130000"/>
                  </a:schemeClr>
                </a:solidFill>
                <a:effectLst>
                  <a:outerShdw blurRad="50000" dist="30000" dir="5400000" algn="tl" rotWithShape="0">
                    <a:srgbClr val="000000">
                      <a:alpha val="30000"/>
                    </a:srgbClr>
                  </a:outerShdw>
                </a:effectLst>
                <a:latin typeface="+mj-lt"/>
                <a:ea typeface="+mj-ea"/>
                <a:cs typeface="+mj-cs"/>
              </a:defRPr>
            </a:lvl1pPr>
            <a:extLst/>
          </a:lstStyle>
          <a:p>
            <a:r>
              <a:rPr lang="en-GB" dirty="0"/>
              <a:t>L-System – Dynamic of the tree</a:t>
            </a:r>
          </a:p>
        </p:txBody>
      </p:sp>
      <p:pic>
        <p:nvPicPr>
          <p:cNvPr id="3074" name="Picture 2" descr="Image result for 3D modelling  Lsystem growth of tree">
            <a:extLst>
              <a:ext uri="{FF2B5EF4-FFF2-40B4-BE49-F238E27FC236}">
                <a16:creationId xmlns:a16="http://schemas.microsoft.com/office/drawing/2014/main" id="{C5AAD6ED-1822-78B1-90DD-DE619599B43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00200" y="2362200"/>
            <a:ext cx="2476500" cy="1714500"/>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descr="Image result for 3D modelling  Lsystem tree 4 seasons">
            <a:extLst>
              <a:ext uri="{FF2B5EF4-FFF2-40B4-BE49-F238E27FC236}">
                <a16:creationId xmlns:a16="http://schemas.microsoft.com/office/drawing/2014/main" id="{4124F240-FC4C-6838-1A5D-11D05BDD6B4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67302" y="2214874"/>
            <a:ext cx="2105025" cy="1714500"/>
          </a:xfrm>
          <a:prstGeom prst="rect">
            <a:avLst/>
          </a:prstGeom>
          <a:noFill/>
          <a:extLst>
            <a:ext uri="{909E8E84-426E-40DD-AFC4-6F175D3DCCD1}">
              <a14:hiddenFill xmlns:a14="http://schemas.microsoft.com/office/drawing/2010/main">
                <a:solidFill>
                  <a:srgbClr val="FFFFFF"/>
                </a:solidFill>
              </a14:hiddenFill>
            </a:ext>
          </a:extLst>
        </p:spPr>
      </p:pic>
      <p:pic>
        <p:nvPicPr>
          <p:cNvPr id="3078" name="Picture 6" descr="Image result for 3D modelling  Lsystem tree 4 seasons">
            <a:extLst>
              <a:ext uri="{FF2B5EF4-FFF2-40B4-BE49-F238E27FC236}">
                <a16:creationId xmlns:a16="http://schemas.microsoft.com/office/drawing/2014/main" id="{A07245F4-1DC2-20BA-55F6-10BABC2510D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47875" y="4571258"/>
            <a:ext cx="1924050" cy="1924050"/>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95FC5180-4BAE-75C7-3E8D-1E23A85114A8}"/>
              </a:ext>
            </a:extLst>
          </p:cNvPr>
          <p:cNvSpPr txBox="1"/>
          <p:nvPr/>
        </p:nvSpPr>
        <p:spPr>
          <a:xfrm>
            <a:off x="1676400" y="4076700"/>
            <a:ext cx="2667000" cy="369332"/>
          </a:xfrm>
          <a:prstGeom prst="rect">
            <a:avLst/>
          </a:prstGeom>
          <a:noFill/>
        </p:spPr>
        <p:txBody>
          <a:bodyPr wrap="square" rtlCol="0">
            <a:spAutoFit/>
          </a:bodyPr>
          <a:lstStyle/>
          <a:p>
            <a:pPr algn="ctr"/>
            <a:r>
              <a:rPr lang="en-GB" dirty="0"/>
              <a:t>Growth of tree</a:t>
            </a:r>
          </a:p>
        </p:txBody>
      </p:sp>
      <p:sp>
        <p:nvSpPr>
          <p:cNvPr id="3" name="TextBox 2">
            <a:extLst>
              <a:ext uri="{FF2B5EF4-FFF2-40B4-BE49-F238E27FC236}">
                <a16:creationId xmlns:a16="http://schemas.microsoft.com/office/drawing/2014/main" id="{6FBCCC18-AED7-D512-C755-C1DABA2DA5C1}"/>
              </a:ext>
            </a:extLst>
          </p:cNvPr>
          <p:cNvSpPr txBox="1"/>
          <p:nvPr/>
        </p:nvSpPr>
        <p:spPr>
          <a:xfrm>
            <a:off x="4800600" y="4091186"/>
            <a:ext cx="2667000" cy="369332"/>
          </a:xfrm>
          <a:prstGeom prst="rect">
            <a:avLst/>
          </a:prstGeom>
          <a:noFill/>
        </p:spPr>
        <p:txBody>
          <a:bodyPr wrap="square" rtlCol="0">
            <a:spAutoFit/>
          </a:bodyPr>
          <a:lstStyle/>
          <a:p>
            <a:pPr algn="ctr"/>
            <a:r>
              <a:rPr lang="en-GB" dirty="0"/>
              <a:t>Different season</a:t>
            </a:r>
          </a:p>
        </p:txBody>
      </p:sp>
      <p:sp>
        <p:nvSpPr>
          <p:cNvPr id="5" name="TextBox 4">
            <a:extLst>
              <a:ext uri="{FF2B5EF4-FFF2-40B4-BE49-F238E27FC236}">
                <a16:creationId xmlns:a16="http://schemas.microsoft.com/office/drawing/2014/main" id="{BA338EEF-EF51-415A-96FC-F2C680357D7E}"/>
              </a:ext>
            </a:extLst>
          </p:cNvPr>
          <p:cNvSpPr txBox="1"/>
          <p:nvPr/>
        </p:nvSpPr>
        <p:spPr>
          <a:xfrm>
            <a:off x="1676400" y="6435868"/>
            <a:ext cx="2667000" cy="369332"/>
          </a:xfrm>
          <a:prstGeom prst="rect">
            <a:avLst/>
          </a:prstGeom>
          <a:noFill/>
        </p:spPr>
        <p:txBody>
          <a:bodyPr wrap="square" rtlCol="0">
            <a:spAutoFit/>
          </a:bodyPr>
          <a:lstStyle/>
          <a:p>
            <a:pPr algn="ctr"/>
            <a:r>
              <a:rPr lang="en-GB" dirty="0"/>
              <a:t>Snow on tree</a:t>
            </a:r>
          </a:p>
        </p:txBody>
      </p:sp>
      <p:pic>
        <p:nvPicPr>
          <p:cNvPr id="3080" name="Picture 8" descr="Image result for 3D modelling  Lsystem tree 4 seasons">
            <a:extLst>
              <a:ext uri="{FF2B5EF4-FFF2-40B4-BE49-F238E27FC236}">
                <a16:creationId xmlns:a16="http://schemas.microsoft.com/office/drawing/2014/main" id="{D5226165-169E-9439-023B-3FC2609C395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981576" y="4571125"/>
            <a:ext cx="2276475" cy="1924050"/>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4E3905B8-2260-91D7-37EF-9625412A01FB}"/>
              </a:ext>
            </a:extLst>
          </p:cNvPr>
          <p:cNvSpPr txBox="1"/>
          <p:nvPr/>
        </p:nvSpPr>
        <p:spPr>
          <a:xfrm>
            <a:off x="4933316" y="6462562"/>
            <a:ext cx="2667000" cy="369332"/>
          </a:xfrm>
          <a:prstGeom prst="rect">
            <a:avLst/>
          </a:prstGeom>
          <a:noFill/>
        </p:spPr>
        <p:txBody>
          <a:bodyPr wrap="square" rtlCol="0">
            <a:spAutoFit/>
          </a:bodyPr>
          <a:lstStyle/>
          <a:p>
            <a:pPr algn="ctr"/>
            <a:r>
              <a:rPr lang="en-GB" dirty="0"/>
              <a:t>Tree falling leaves</a:t>
            </a:r>
          </a:p>
        </p:txBody>
      </p:sp>
    </p:spTree>
    <p:extLst>
      <p:ext uri="{BB962C8B-B14F-4D97-AF65-F5344CB8AC3E}">
        <p14:creationId xmlns:p14="http://schemas.microsoft.com/office/powerpoint/2010/main" val="153728638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a:xfrm>
            <a:off x="1432560" y="1066800"/>
            <a:ext cx="7406640" cy="765282"/>
          </a:xfrm>
          <a:prstGeom prst="rect">
            <a:avLst/>
          </a:prstGeom>
        </p:spPr>
        <p:txBody>
          <a:bodyPr anchor="b">
            <a:normAutofit/>
          </a:bodyPr>
          <a:lstStyle>
            <a:lvl1pPr algn="l" rtl="0" eaLnBrk="1" latinLnBrk="0" hangingPunct="1">
              <a:spcBef>
                <a:spcPct val="0"/>
              </a:spcBef>
              <a:buNone/>
              <a:defRPr kumimoji="0" sz="4300" kern="1200">
                <a:solidFill>
                  <a:schemeClr val="tx2">
                    <a:satMod val="130000"/>
                  </a:schemeClr>
                </a:solidFill>
                <a:effectLst>
                  <a:outerShdw blurRad="50000" dist="30000" dir="5400000" algn="tl" rotWithShape="0">
                    <a:srgbClr val="000000">
                      <a:alpha val="30000"/>
                    </a:srgbClr>
                  </a:outerShdw>
                </a:effectLst>
                <a:latin typeface="+mj-lt"/>
                <a:ea typeface="+mj-ea"/>
                <a:cs typeface="+mj-cs"/>
              </a:defRPr>
            </a:lvl1pPr>
            <a:extLst/>
          </a:lstStyle>
          <a:p>
            <a:r>
              <a:rPr lang="en-GB" dirty="0"/>
              <a:t>L-System – Grow Ivy on mesh</a:t>
            </a: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1" y="2133601"/>
            <a:ext cx="4114800" cy="282342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Rounded Rectangle 4"/>
          <p:cNvSpPr/>
          <p:nvPr/>
        </p:nvSpPr>
        <p:spPr>
          <a:xfrm>
            <a:off x="1524000" y="5191125"/>
            <a:ext cx="6176964" cy="1524000"/>
          </a:xfrm>
          <a:prstGeom prst="roundRect">
            <a:avLst>
              <a:gd name="adj" fmla="val 3980"/>
            </a:avLst>
          </a:prstGeom>
        </p:spPr>
        <p:style>
          <a:lnRef idx="1">
            <a:schemeClr val="accent2"/>
          </a:lnRef>
          <a:fillRef idx="2">
            <a:schemeClr val="accent2"/>
          </a:fillRef>
          <a:effectRef idx="1">
            <a:schemeClr val="accent2"/>
          </a:effectRef>
          <a:fontRef idx="minor">
            <a:schemeClr val="dk1"/>
          </a:fontRef>
        </p:style>
        <p:txBody>
          <a:bodyPr rtlCol="0" anchor="ctr"/>
          <a:lstStyle/>
          <a:p>
            <a:r>
              <a:rPr lang="en-GB" sz="1400" dirty="0" err="1"/>
              <a:t>meshName</a:t>
            </a:r>
            <a:r>
              <a:rPr lang="en-GB" sz="1400" dirty="0"/>
              <a:t> = "pSphereShape1"</a:t>
            </a:r>
          </a:p>
          <a:p>
            <a:r>
              <a:rPr lang="en-GB" sz="1400" dirty="0" err="1"/>
              <a:t>cmds.select</a:t>
            </a:r>
            <a:r>
              <a:rPr lang="en-GB" sz="1400" dirty="0"/>
              <a:t>(</a:t>
            </a:r>
            <a:r>
              <a:rPr lang="en-GB" sz="1400" dirty="0" err="1"/>
              <a:t>meshName</a:t>
            </a:r>
            <a:r>
              <a:rPr lang="en-GB" sz="1400" dirty="0"/>
              <a:t>+".</a:t>
            </a:r>
            <a:r>
              <a:rPr lang="en-GB" sz="1400" dirty="0" err="1"/>
              <a:t>vtx</a:t>
            </a:r>
            <a:r>
              <a:rPr lang="en-GB" sz="1400" dirty="0"/>
              <a:t>[*]")</a:t>
            </a:r>
          </a:p>
          <a:p>
            <a:r>
              <a:rPr lang="en-GB" sz="1400" dirty="0"/>
              <a:t>selection = cmds.ls(selection=True, flatten=True)</a:t>
            </a:r>
          </a:p>
          <a:p>
            <a:r>
              <a:rPr lang="en-GB" sz="1400" dirty="0" err="1"/>
              <a:t>numVertices</a:t>
            </a:r>
            <a:r>
              <a:rPr lang="en-GB" sz="1400" dirty="0"/>
              <a:t> = </a:t>
            </a:r>
            <a:r>
              <a:rPr lang="en-GB" sz="1400" dirty="0" err="1"/>
              <a:t>len</a:t>
            </a:r>
            <a:r>
              <a:rPr lang="en-GB" sz="1400" dirty="0"/>
              <a:t>(selection)</a:t>
            </a:r>
          </a:p>
          <a:p>
            <a:r>
              <a:rPr lang="en-GB" sz="1400" dirty="0"/>
              <a:t>print </a:t>
            </a:r>
            <a:r>
              <a:rPr lang="en-GB" sz="1400" dirty="0" err="1"/>
              <a:t>numVertices</a:t>
            </a:r>
            <a:endParaRPr lang="en-GB" sz="1400" dirty="0"/>
          </a:p>
          <a:p>
            <a:r>
              <a:rPr lang="en-GB" sz="1400" dirty="0"/>
              <a:t>for </a:t>
            </a:r>
            <a:r>
              <a:rPr lang="en-GB" sz="1400" dirty="0" err="1"/>
              <a:t>i</a:t>
            </a:r>
            <a:r>
              <a:rPr lang="en-GB" sz="1400" dirty="0"/>
              <a:t> in range(</a:t>
            </a:r>
            <a:r>
              <a:rPr lang="en-GB" sz="1400" dirty="0" err="1"/>
              <a:t>numVertices</a:t>
            </a:r>
            <a:r>
              <a:rPr lang="en-GB" sz="1400" dirty="0"/>
              <a:t>):</a:t>
            </a:r>
          </a:p>
          <a:p>
            <a:r>
              <a:rPr lang="en-GB" sz="1400" dirty="0"/>
              <a:t>    </a:t>
            </a:r>
            <a:r>
              <a:rPr lang="en-GB" sz="1400" dirty="0" err="1"/>
              <a:t>pos</a:t>
            </a:r>
            <a:r>
              <a:rPr lang="en-GB" sz="1400" dirty="0"/>
              <a:t> = </a:t>
            </a:r>
            <a:r>
              <a:rPr lang="en-GB" sz="1400" dirty="0" err="1"/>
              <a:t>cmds.xform</a:t>
            </a:r>
            <a:r>
              <a:rPr lang="en-GB" sz="1400" dirty="0"/>
              <a:t>(selection[</a:t>
            </a:r>
            <a:r>
              <a:rPr lang="en-GB" sz="1400" dirty="0" err="1"/>
              <a:t>i</a:t>
            </a:r>
            <a:r>
              <a:rPr lang="en-GB" sz="1400" dirty="0"/>
              <a:t>], query=True, translation=True, </a:t>
            </a:r>
            <a:r>
              <a:rPr lang="en-GB" sz="1400" dirty="0" err="1"/>
              <a:t>worldSpace</a:t>
            </a:r>
            <a:r>
              <a:rPr lang="en-GB" sz="1400" dirty="0"/>
              <a:t>=True)</a:t>
            </a:r>
          </a:p>
        </p:txBody>
      </p:sp>
      <p:sp>
        <p:nvSpPr>
          <p:cNvPr id="2" name="TextBox 1"/>
          <p:cNvSpPr txBox="1"/>
          <p:nvPr/>
        </p:nvSpPr>
        <p:spPr>
          <a:xfrm>
            <a:off x="5791200" y="2085242"/>
            <a:ext cx="2590800" cy="1477328"/>
          </a:xfrm>
          <a:prstGeom prst="rect">
            <a:avLst/>
          </a:prstGeom>
          <a:noFill/>
        </p:spPr>
        <p:txBody>
          <a:bodyPr wrap="square" rtlCol="0">
            <a:spAutoFit/>
          </a:bodyPr>
          <a:lstStyle/>
          <a:p>
            <a:r>
              <a:rPr lang="en-GB" dirty="0"/>
              <a:t>Project branches onto the surface, </a:t>
            </a:r>
          </a:p>
          <a:p>
            <a:r>
              <a:rPr lang="en-GB" dirty="0"/>
              <a:t>Apart from </a:t>
            </a:r>
            <a:r>
              <a:rPr lang="en-GB" dirty="0" err="1"/>
              <a:t>LSystem</a:t>
            </a:r>
            <a:r>
              <a:rPr lang="en-GB" dirty="0"/>
              <a:t>, also consider gravity, grow in the up direction </a:t>
            </a:r>
          </a:p>
        </p:txBody>
      </p:sp>
      <p:sp>
        <p:nvSpPr>
          <p:cNvPr id="3" name="TextBox 2"/>
          <p:cNvSpPr txBox="1"/>
          <p:nvPr/>
        </p:nvSpPr>
        <p:spPr>
          <a:xfrm>
            <a:off x="5762531" y="4427746"/>
            <a:ext cx="3124200" cy="646331"/>
          </a:xfrm>
          <a:prstGeom prst="rect">
            <a:avLst/>
          </a:prstGeom>
          <a:noFill/>
        </p:spPr>
        <p:txBody>
          <a:bodyPr wrap="square" rtlCol="0">
            <a:spAutoFit/>
          </a:bodyPr>
          <a:lstStyle/>
          <a:p>
            <a:r>
              <a:rPr lang="en-GB" dirty="0"/>
              <a:t>Get the coordinates of all the mesh vertices</a:t>
            </a:r>
          </a:p>
        </p:txBody>
      </p:sp>
      <p:graphicFrame>
        <p:nvGraphicFramePr>
          <p:cNvPr id="6" name="Table 5">
            <a:extLst>
              <a:ext uri="{FF2B5EF4-FFF2-40B4-BE49-F238E27FC236}">
                <a16:creationId xmlns:a16="http://schemas.microsoft.com/office/drawing/2014/main" id="{22570A15-47EC-4488-8B04-DCA4150C2ED6}"/>
              </a:ext>
            </a:extLst>
          </p:cNvPr>
          <p:cNvGraphicFramePr>
            <a:graphicFrameLocks noGrp="1"/>
          </p:cNvGraphicFramePr>
          <p:nvPr>
            <p:extLst>
              <p:ext uri="{D42A27DB-BD31-4B8C-83A1-F6EECF244321}">
                <p14:modId xmlns:p14="http://schemas.microsoft.com/office/powerpoint/2010/main" val="2403782022"/>
              </p:ext>
            </p:extLst>
          </p:nvPr>
        </p:nvGraphicFramePr>
        <p:xfrm>
          <a:off x="5776111" y="3820582"/>
          <a:ext cx="3822700" cy="335280"/>
        </p:xfrm>
        <a:graphic>
          <a:graphicData uri="http://schemas.openxmlformats.org/drawingml/2006/table">
            <a:tbl>
              <a:tblPr/>
              <a:tblGrid>
                <a:gridCol w="3822700">
                  <a:extLst>
                    <a:ext uri="{9D8B030D-6E8A-4147-A177-3AD203B41FA5}">
                      <a16:colId xmlns:a16="http://schemas.microsoft.com/office/drawing/2014/main" val="3109776653"/>
                    </a:ext>
                  </a:extLst>
                </a:gridCol>
              </a:tblGrid>
              <a:tr h="0">
                <a:tc>
                  <a:txBody>
                    <a:bodyPr/>
                    <a:lstStyle/>
                    <a:p>
                      <a:r>
                        <a:rPr lang="en-GB" sz="1600" noProof="0" dirty="0" err="1"/>
                        <a:t>MFnMesh</a:t>
                      </a:r>
                      <a:r>
                        <a:rPr lang="en-GB" sz="1600" noProof="0" dirty="0"/>
                        <a:t>::</a:t>
                      </a:r>
                      <a:r>
                        <a:rPr lang="en-GB" sz="1600" noProof="0" dirty="0" err="1"/>
                        <a:t>getClosestPointAndNormal</a:t>
                      </a:r>
                      <a:endParaRPr lang="en-GB" sz="1600" noProof="0" dirty="0"/>
                    </a:p>
                  </a:txBody>
                  <a:tcPr anchor="ctr">
                    <a:lnL>
                      <a:noFill/>
                    </a:lnL>
                    <a:lnR>
                      <a:noFill/>
                    </a:lnR>
                    <a:lnT>
                      <a:noFill/>
                    </a:lnT>
                    <a:lnB>
                      <a:noFill/>
                    </a:lnB>
                  </a:tcPr>
                </a:tc>
                <a:extLst>
                  <a:ext uri="{0D108BD9-81ED-4DB2-BD59-A6C34878D82A}">
                    <a16:rowId xmlns:a16="http://schemas.microsoft.com/office/drawing/2014/main" val="1154684809"/>
                  </a:ext>
                </a:extLst>
              </a:tr>
            </a:tbl>
          </a:graphicData>
        </a:graphic>
      </p:graphicFrame>
    </p:spTree>
    <p:extLst>
      <p:ext uri="{BB962C8B-B14F-4D97-AF65-F5344CB8AC3E}">
        <p14:creationId xmlns:p14="http://schemas.microsoft.com/office/powerpoint/2010/main" val="144481367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txBox="1">
            <a:spLocks/>
          </p:cNvSpPr>
          <p:nvPr/>
        </p:nvSpPr>
        <p:spPr>
          <a:xfrm>
            <a:off x="1432560" y="1066800"/>
            <a:ext cx="7406640" cy="765282"/>
          </a:xfrm>
          <a:prstGeom prst="rect">
            <a:avLst/>
          </a:prstGeom>
        </p:spPr>
        <p:txBody>
          <a:bodyPr anchor="b">
            <a:normAutofit fontScale="92500"/>
          </a:bodyPr>
          <a:lstStyle>
            <a:lvl1pPr algn="l" rtl="0" eaLnBrk="1" latinLnBrk="0" hangingPunct="1">
              <a:spcBef>
                <a:spcPct val="0"/>
              </a:spcBef>
              <a:buNone/>
              <a:defRPr kumimoji="0" sz="4300" kern="1200">
                <a:solidFill>
                  <a:schemeClr val="tx2">
                    <a:satMod val="130000"/>
                  </a:schemeClr>
                </a:solidFill>
                <a:effectLst>
                  <a:outerShdw blurRad="50000" dist="30000" dir="5400000" algn="tl" rotWithShape="0">
                    <a:srgbClr val="000000">
                      <a:alpha val="30000"/>
                    </a:srgbClr>
                  </a:outerShdw>
                </a:effectLst>
                <a:latin typeface="+mj-lt"/>
                <a:ea typeface="+mj-ea"/>
                <a:cs typeface="+mj-cs"/>
              </a:defRPr>
            </a:lvl1pPr>
            <a:extLst/>
          </a:lstStyle>
          <a:p>
            <a:r>
              <a:rPr lang="en-GB" dirty="0"/>
              <a:t>Alternative way of implementation</a:t>
            </a:r>
            <a:endParaRPr lang="en-US" dirty="0"/>
          </a:p>
        </p:txBody>
      </p:sp>
      <p:sp>
        <p:nvSpPr>
          <p:cNvPr id="7" name="Rectangle 6"/>
          <p:cNvSpPr/>
          <p:nvPr/>
        </p:nvSpPr>
        <p:spPr>
          <a:xfrm>
            <a:off x="1519237" y="2286000"/>
            <a:ext cx="7086600" cy="1323439"/>
          </a:xfrm>
          <a:prstGeom prst="rect">
            <a:avLst/>
          </a:prstGeom>
        </p:spPr>
        <p:txBody>
          <a:bodyPr wrap="square">
            <a:spAutoFit/>
          </a:bodyPr>
          <a:lstStyle/>
          <a:p>
            <a:pPr algn="just"/>
            <a:r>
              <a:rPr lang="en-GB" sz="2000" dirty="0"/>
              <a:t>No stack, use Maya internal hierarchical structure, not necessary to record the absolute (global space) orientation and location of current point, relative to parent node only, local space (object space) orientation. </a:t>
            </a:r>
            <a:endParaRPr lang="en-GB" dirty="0"/>
          </a:p>
        </p:txBody>
      </p:sp>
      <p:sp>
        <p:nvSpPr>
          <p:cNvPr id="2" name="Cylinder 1">
            <a:extLst>
              <a:ext uri="{FF2B5EF4-FFF2-40B4-BE49-F238E27FC236}">
                <a16:creationId xmlns:a16="http://schemas.microsoft.com/office/drawing/2014/main" id="{F74C0319-FB00-4646-BFD6-18F9364E99F1}"/>
              </a:ext>
            </a:extLst>
          </p:cNvPr>
          <p:cNvSpPr/>
          <p:nvPr/>
        </p:nvSpPr>
        <p:spPr>
          <a:xfrm rot="2009976">
            <a:off x="3657600" y="5181600"/>
            <a:ext cx="228600" cy="1143000"/>
          </a:xfrm>
          <a:prstGeom prst="ca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Cylinder 4">
            <a:extLst>
              <a:ext uri="{FF2B5EF4-FFF2-40B4-BE49-F238E27FC236}">
                <a16:creationId xmlns:a16="http://schemas.microsoft.com/office/drawing/2014/main" id="{4C1552EA-0330-465C-9488-97D0095D03C7}"/>
              </a:ext>
            </a:extLst>
          </p:cNvPr>
          <p:cNvSpPr/>
          <p:nvPr/>
        </p:nvSpPr>
        <p:spPr>
          <a:xfrm rot="3957202">
            <a:off x="4539017" y="4510612"/>
            <a:ext cx="106518" cy="1143000"/>
          </a:xfrm>
          <a:prstGeom prst="ca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4" name="Straight Arrow Connector 3">
            <a:extLst>
              <a:ext uri="{FF2B5EF4-FFF2-40B4-BE49-F238E27FC236}">
                <a16:creationId xmlns:a16="http://schemas.microsoft.com/office/drawing/2014/main" id="{F24E930D-5C97-43C0-B45F-A4AA72C8D239}"/>
              </a:ext>
            </a:extLst>
          </p:cNvPr>
          <p:cNvCxnSpPr>
            <a:stCxn id="5" idx="3"/>
          </p:cNvCxnSpPr>
          <p:nvPr/>
        </p:nvCxnSpPr>
        <p:spPr>
          <a:xfrm flipV="1">
            <a:off x="4070374" y="4267200"/>
            <a:ext cx="806426" cy="1047787"/>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3BC1A4CA-C2FC-420C-A88C-659B9631D3F6}"/>
              </a:ext>
            </a:extLst>
          </p:cNvPr>
          <p:cNvCxnSpPr>
            <a:cxnSpLocks/>
            <a:stCxn id="5" idx="3"/>
          </p:cNvCxnSpPr>
          <p:nvPr/>
        </p:nvCxnSpPr>
        <p:spPr>
          <a:xfrm flipV="1">
            <a:off x="4070374" y="4758392"/>
            <a:ext cx="1263626" cy="556595"/>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2" name="Arc 11">
            <a:extLst>
              <a:ext uri="{FF2B5EF4-FFF2-40B4-BE49-F238E27FC236}">
                <a16:creationId xmlns:a16="http://schemas.microsoft.com/office/drawing/2014/main" id="{80273957-AD5E-4D6E-B699-4B37F91E2D0F}"/>
              </a:ext>
            </a:extLst>
          </p:cNvPr>
          <p:cNvSpPr/>
          <p:nvPr/>
        </p:nvSpPr>
        <p:spPr>
          <a:xfrm>
            <a:off x="4323380" y="4728214"/>
            <a:ext cx="434987" cy="556595"/>
          </a:xfrm>
          <a:prstGeom prst="arc">
            <a:avLst/>
          </a:prstGeom>
          <a:ln w="3810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13" name="TextBox 12">
            <a:extLst>
              <a:ext uri="{FF2B5EF4-FFF2-40B4-BE49-F238E27FC236}">
                <a16:creationId xmlns:a16="http://schemas.microsoft.com/office/drawing/2014/main" id="{EC3EA457-722A-4017-9EF3-24E67C10D3BC}"/>
              </a:ext>
            </a:extLst>
          </p:cNvPr>
          <p:cNvSpPr txBox="1"/>
          <p:nvPr/>
        </p:nvSpPr>
        <p:spPr>
          <a:xfrm>
            <a:off x="2943710" y="5931932"/>
            <a:ext cx="553420" cy="369332"/>
          </a:xfrm>
          <a:prstGeom prst="rect">
            <a:avLst/>
          </a:prstGeom>
          <a:noFill/>
        </p:spPr>
        <p:txBody>
          <a:bodyPr wrap="square" rtlCol="0">
            <a:spAutoFit/>
          </a:bodyPr>
          <a:lstStyle/>
          <a:p>
            <a:r>
              <a:rPr lang="en-GB" dirty="0"/>
              <a:t>B1</a:t>
            </a:r>
          </a:p>
        </p:txBody>
      </p:sp>
      <p:sp>
        <p:nvSpPr>
          <p:cNvPr id="14" name="TextBox 13">
            <a:extLst>
              <a:ext uri="{FF2B5EF4-FFF2-40B4-BE49-F238E27FC236}">
                <a16:creationId xmlns:a16="http://schemas.microsoft.com/office/drawing/2014/main" id="{C6EA90FD-DCF4-40A9-BB2C-7FA1769C97A4}"/>
              </a:ext>
            </a:extLst>
          </p:cNvPr>
          <p:cNvSpPr txBox="1"/>
          <p:nvPr/>
        </p:nvSpPr>
        <p:spPr>
          <a:xfrm>
            <a:off x="4758367" y="5124462"/>
            <a:ext cx="553420" cy="369332"/>
          </a:xfrm>
          <a:prstGeom prst="rect">
            <a:avLst/>
          </a:prstGeom>
          <a:noFill/>
        </p:spPr>
        <p:txBody>
          <a:bodyPr wrap="square" rtlCol="0">
            <a:spAutoFit/>
          </a:bodyPr>
          <a:lstStyle/>
          <a:p>
            <a:r>
              <a:rPr lang="en-GB" dirty="0"/>
              <a:t>B2</a:t>
            </a:r>
          </a:p>
        </p:txBody>
      </p:sp>
    </p:spTree>
    <p:extLst>
      <p:ext uri="{BB962C8B-B14F-4D97-AF65-F5344CB8AC3E}">
        <p14:creationId xmlns:p14="http://schemas.microsoft.com/office/powerpoint/2010/main" val="294726634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a:xfrm>
            <a:off x="1432560" y="1066800"/>
            <a:ext cx="7406640" cy="765282"/>
          </a:xfrm>
          <a:prstGeom prst="rect">
            <a:avLst/>
          </a:prstGeom>
        </p:spPr>
        <p:txBody>
          <a:bodyPr anchor="b">
            <a:normAutofit/>
          </a:bodyPr>
          <a:lstStyle>
            <a:lvl1pPr algn="l" rtl="0" eaLnBrk="1" latinLnBrk="0" hangingPunct="1">
              <a:spcBef>
                <a:spcPct val="0"/>
              </a:spcBef>
              <a:buNone/>
              <a:defRPr kumimoji="0" sz="4300" kern="1200">
                <a:solidFill>
                  <a:schemeClr val="tx2">
                    <a:satMod val="130000"/>
                  </a:schemeClr>
                </a:solidFill>
                <a:effectLst>
                  <a:outerShdw blurRad="50000" dist="30000" dir="5400000" algn="tl" rotWithShape="0">
                    <a:srgbClr val="000000">
                      <a:alpha val="30000"/>
                    </a:srgbClr>
                  </a:outerShdw>
                </a:effectLst>
                <a:latin typeface="+mj-lt"/>
                <a:ea typeface="+mj-ea"/>
                <a:cs typeface="+mj-cs"/>
              </a:defRPr>
            </a:lvl1pPr>
            <a:extLst/>
          </a:lstStyle>
          <a:p>
            <a:r>
              <a:rPr lang="en-GB" dirty="0"/>
              <a:t>L-System – Other Models </a:t>
            </a:r>
          </a:p>
        </p:txBody>
      </p:sp>
      <p:sp>
        <p:nvSpPr>
          <p:cNvPr id="2" name="TextBox 1"/>
          <p:cNvSpPr txBox="1"/>
          <p:nvPr/>
        </p:nvSpPr>
        <p:spPr>
          <a:xfrm>
            <a:off x="1432560" y="2085242"/>
            <a:ext cx="6949440" cy="1200329"/>
          </a:xfrm>
          <a:prstGeom prst="rect">
            <a:avLst/>
          </a:prstGeom>
          <a:noFill/>
        </p:spPr>
        <p:txBody>
          <a:bodyPr wrap="square" rtlCol="0">
            <a:spAutoFit/>
          </a:bodyPr>
          <a:lstStyle/>
          <a:p>
            <a:r>
              <a:rPr lang="en-GB" dirty="0"/>
              <a:t>L-systems have also been used to model the morphology of a variety of organisms and can be used to generate </a:t>
            </a:r>
            <a:r>
              <a:rPr lang="en-GB" b="1" dirty="0">
                <a:solidFill>
                  <a:srgbClr val="FF0000"/>
                </a:solidFill>
              </a:rPr>
              <a:t>self-similar fractals</a:t>
            </a:r>
            <a:r>
              <a:rPr lang="en-GB" dirty="0"/>
              <a:t>. </a:t>
            </a:r>
          </a:p>
          <a:p>
            <a:endParaRPr lang="en-GB" dirty="0"/>
          </a:p>
          <a:p>
            <a:r>
              <a:rPr lang="en-GB" dirty="0"/>
              <a:t>Floor plan for building architecture</a:t>
            </a:r>
          </a:p>
        </p:txBody>
      </p:sp>
      <p:pic>
        <p:nvPicPr>
          <p:cNvPr id="6" name="Picture 2">
            <a:extLst>
              <a:ext uri="{FF2B5EF4-FFF2-40B4-BE49-F238E27FC236}">
                <a16:creationId xmlns:a16="http://schemas.microsoft.com/office/drawing/2014/main" id="{28ED1E3E-347D-4974-8433-09DAFA5A19E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97000" y="4267200"/>
            <a:ext cx="2438400" cy="243840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Image result for &quot;LSystem&quot; maze">
            <a:extLst>
              <a:ext uri="{FF2B5EF4-FFF2-40B4-BE49-F238E27FC236}">
                <a16:creationId xmlns:a16="http://schemas.microsoft.com/office/drawing/2014/main" id="{9627DE81-2774-4B42-B492-8F19798CED13}"/>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3162" t="14667" r="6718" b="4666"/>
          <a:stretch/>
        </p:blipFill>
        <p:spPr bwMode="auto">
          <a:xfrm>
            <a:off x="6282350" y="5318181"/>
            <a:ext cx="2556850" cy="1356924"/>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a:extLst>
              <a:ext uri="{FF2B5EF4-FFF2-40B4-BE49-F238E27FC236}">
                <a16:creationId xmlns:a16="http://schemas.microsoft.com/office/drawing/2014/main" id="{6956B420-80AF-4538-ADDB-FE9BF315F884}"/>
              </a:ext>
            </a:extLst>
          </p:cNvPr>
          <p:cNvPicPr>
            <a:picLocks noChangeAspect="1"/>
          </p:cNvPicPr>
          <p:nvPr/>
        </p:nvPicPr>
        <p:blipFill>
          <a:blip r:embed="rId4"/>
          <a:stretch>
            <a:fillRect/>
          </a:stretch>
        </p:blipFill>
        <p:spPr>
          <a:xfrm>
            <a:off x="3835400" y="4685653"/>
            <a:ext cx="2185189" cy="1989452"/>
          </a:xfrm>
          <a:prstGeom prst="rect">
            <a:avLst/>
          </a:prstGeom>
        </p:spPr>
      </p:pic>
    </p:spTree>
    <p:extLst>
      <p:ext uri="{BB962C8B-B14F-4D97-AF65-F5344CB8AC3E}">
        <p14:creationId xmlns:p14="http://schemas.microsoft.com/office/powerpoint/2010/main" val="4079949357"/>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olstice">
  <a:themeElements>
    <a:clrScheme name="Solstice">
      <a:dk1>
        <a:sysClr val="windowText" lastClr="000000"/>
      </a:dk1>
      <a:lt1>
        <a:sysClr val="window" lastClr="FFFFFF"/>
      </a:lt1>
      <a:dk2>
        <a:srgbClr val="4F271C"/>
      </a:dk2>
      <a:lt2>
        <a:srgbClr val="E7DEC9"/>
      </a:lt2>
      <a:accent1>
        <a:srgbClr val="3891A7"/>
      </a:accent1>
      <a:accent2>
        <a:srgbClr val="FEB80A"/>
      </a:accent2>
      <a:accent3>
        <a:srgbClr val="C32D2E"/>
      </a:accent3>
      <a:accent4>
        <a:srgbClr val="84AA33"/>
      </a:accent4>
      <a:accent5>
        <a:srgbClr val="964305"/>
      </a:accent5>
      <a:accent6>
        <a:srgbClr val="475A8D"/>
      </a:accent6>
      <a:hlink>
        <a:srgbClr val="8DC765"/>
      </a:hlink>
      <a:folHlink>
        <a:srgbClr val="AA8A14"/>
      </a:folHlink>
    </a:clrScheme>
    <a:fontScheme name="Custom 3">
      <a:majorFont>
        <a:latin typeface="Times New Roman"/>
        <a:ea typeface=""/>
        <a:cs typeface=""/>
      </a:majorFont>
      <a:minorFont>
        <a:latin typeface="Times New Roman"/>
        <a:ea typeface=""/>
        <a:cs typeface=""/>
      </a:minorFont>
    </a:fontScheme>
    <a:fmtScheme name="Solstice">
      <a:fillStyleLst>
        <a:solidFill>
          <a:schemeClr val="phClr"/>
        </a:solidFill>
        <a:gradFill rotWithShape="1">
          <a:gsLst>
            <a:gs pos="0">
              <a:schemeClr val="phClr">
                <a:tint val="35000"/>
                <a:satMod val="253000"/>
              </a:schemeClr>
            </a:gs>
            <a:gs pos="50000">
              <a:schemeClr val="phClr">
                <a:tint val="42000"/>
                <a:satMod val="255000"/>
              </a:schemeClr>
            </a:gs>
            <a:gs pos="97000">
              <a:schemeClr val="phClr">
                <a:tint val="53000"/>
                <a:satMod val="260000"/>
              </a:schemeClr>
            </a:gs>
            <a:gs pos="100000">
              <a:schemeClr val="phClr">
                <a:tint val="56000"/>
                <a:satMod val="275000"/>
              </a:schemeClr>
            </a:gs>
          </a:gsLst>
          <a:path path="circle">
            <a:fillToRect l="50000" t="50000" r="50000" b="50000"/>
          </a:path>
        </a:gradFill>
        <a:gradFill rotWithShape="1">
          <a:gsLst>
            <a:gs pos="0">
              <a:schemeClr val="phClr">
                <a:tint val="92000"/>
                <a:satMod val="170000"/>
              </a:schemeClr>
            </a:gs>
            <a:gs pos="15000">
              <a:schemeClr val="phClr">
                <a:tint val="92000"/>
                <a:shade val="99000"/>
                <a:satMod val="170000"/>
              </a:schemeClr>
            </a:gs>
            <a:gs pos="62000">
              <a:schemeClr val="phClr">
                <a:tint val="96000"/>
                <a:shade val="80000"/>
                <a:satMod val="170000"/>
              </a:schemeClr>
            </a:gs>
            <a:gs pos="97000">
              <a:schemeClr val="phClr">
                <a:tint val="98000"/>
                <a:shade val="63000"/>
                <a:satMod val="170000"/>
              </a:schemeClr>
            </a:gs>
            <a:gs pos="100000">
              <a:schemeClr val="phClr">
                <a:shade val="62000"/>
                <a:satMod val="170000"/>
              </a:schemeClr>
            </a:gs>
          </a:gsLst>
          <a:path path="circle">
            <a:fillToRect l="50000" t="50000" r="50000" b="50000"/>
          </a:path>
        </a:gradFill>
      </a:fillStyleLst>
      <a:lnStyleLst>
        <a:ln w="9525" cap="flat" cmpd="sng" algn="ctr">
          <a:solidFill>
            <a:schemeClr val="phClr"/>
          </a:solidFill>
          <a:prstDash val="solid"/>
        </a:ln>
        <a:ln w="25400" cap="flat" cmpd="sng" algn="ctr">
          <a:solidFill>
            <a:schemeClr val="phClr"/>
          </a:solidFill>
          <a:prstDash val="solid"/>
        </a:ln>
        <a:ln w="25400" cap="flat" cmpd="sng" algn="ctr">
          <a:solidFill>
            <a:schemeClr val="phClr"/>
          </a:solidFill>
          <a:prstDash val="solid"/>
        </a:ln>
      </a:lnStyleLst>
      <a:effectStyleLst>
        <a:effectStyle>
          <a:effectLst>
            <a:outerShdw blurRad="63500" dist="25400" dir="5400000" rotWithShape="0">
              <a:srgbClr val="000000">
                <a:alpha val="43137"/>
              </a:srgbClr>
            </a:outerShdw>
          </a:effectLst>
        </a:effectStyle>
        <a:effectStyle>
          <a:effectLst>
            <a:outerShdw blurRad="63500" dist="25400" dir="5400000" rotWithShape="0">
              <a:srgbClr val="000000">
                <a:alpha val="43137"/>
              </a:srgbClr>
            </a:outerShdw>
          </a:effectLst>
          <a:scene3d>
            <a:camera prst="orthographicFront" fov="0">
              <a:rot lat="0" lon="0" rev="0"/>
            </a:camera>
            <a:lightRig rig="brightRoom" dir="tl">
              <a:rot lat="0" lon="0" rev="8700000"/>
            </a:lightRig>
          </a:scene3d>
          <a:sp3d contourW="12700">
            <a:bevelT w="0" h="0"/>
            <a:contourClr>
              <a:schemeClr val="phClr">
                <a:shade val="80000"/>
              </a:schemeClr>
            </a:contourClr>
          </a:sp3d>
        </a:effectStyle>
        <a:effectStyle>
          <a:effectLst>
            <a:outerShdw blurRad="63500" dist="25400" dir="5400000" rotWithShape="0">
              <a:srgbClr val="000000">
                <a:alpha val="43137"/>
              </a:srgbClr>
            </a:outerShdw>
          </a:effectLst>
          <a:scene3d>
            <a:camera prst="orthographicFront" fov="0">
              <a:rot lat="0" lon="0" rev="0"/>
            </a:camera>
            <a:lightRig rig="brightRoom" dir="tl">
              <a:rot lat="0" lon="0" rev="5400000"/>
            </a:lightRig>
          </a:scene3d>
          <a:sp3d contourW="12700">
            <a:bevelT w="25400" h="50800" prst="angle"/>
            <a:contourClr>
              <a:schemeClr val="phClr"/>
            </a:contourClr>
          </a:sp3d>
        </a:effectStyle>
      </a:effectStyleLst>
      <a:bgFillStyleLst>
        <a:solidFill>
          <a:schemeClr val="phClr"/>
        </a:solidFill>
        <a:gradFill rotWithShape="1">
          <a:gsLst>
            <a:gs pos="0">
              <a:schemeClr val="phClr">
                <a:tint val="60000"/>
                <a:satMod val="355000"/>
              </a:schemeClr>
            </a:gs>
            <a:gs pos="40000">
              <a:schemeClr val="phClr">
                <a:tint val="85000"/>
                <a:satMod val="320000"/>
              </a:schemeClr>
            </a:gs>
            <a:gs pos="100000">
              <a:schemeClr val="phClr">
                <a:shade val="55000"/>
                <a:satMod val="300000"/>
              </a:schemeClr>
            </a:gs>
          </a:gsLst>
          <a:path path="circle">
            <a:fillToRect l="-24500" t="-20000" r="124500" b="120000"/>
          </a:path>
        </a:gradFill>
        <a:blipFill>
          <a:blip xmlns:r="http://schemas.openxmlformats.org/officeDocument/2006/relationships" r:embed="rId1">
            <a:duotone>
              <a:schemeClr val="phClr">
                <a:shade val="9000"/>
                <a:satMod val="300000"/>
              </a:schemeClr>
              <a:schemeClr val="phClr">
                <a:tint val="90000"/>
                <a:satMod val="225000"/>
              </a:schemeClr>
            </a:duotone>
          </a:blip>
          <a:tile tx="0" ty="0" sx="90000" sy="90000" flip="xy"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Solstice</Template>
  <TotalTime>3456</TotalTime>
  <Words>9358</Words>
  <Application>Microsoft Office PowerPoint</Application>
  <PresentationFormat>On-screen Show (4:3)</PresentationFormat>
  <Paragraphs>272</Paragraphs>
  <Slides>34</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34</vt:i4>
      </vt:variant>
    </vt:vector>
  </HeadingPairs>
  <TitlesOfParts>
    <vt:vector size="42" baseType="lpstr">
      <vt:lpstr>Arial Unicode MS</vt:lpstr>
      <vt:lpstr>Aptos</vt:lpstr>
      <vt:lpstr>Arial</vt:lpstr>
      <vt:lpstr>Times New Roman</vt:lpstr>
      <vt:lpstr>Verdana</vt:lpstr>
      <vt:lpstr>Wingdings</vt:lpstr>
      <vt:lpstr>Wingdings 2</vt:lpstr>
      <vt:lpstr>Solstice</vt:lpstr>
      <vt:lpstr>L-System</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Functions</dc:title>
  <dc:creator>sam</dc:creator>
  <cp:lastModifiedBy>Xiaosong Yang</cp:lastModifiedBy>
  <cp:revision>440</cp:revision>
  <dcterms:created xsi:type="dcterms:W3CDTF">2006-08-16T00:00:00Z</dcterms:created>
  <dcterms:modified xsi:type="dcterms:W3CDTF">2024-02-24T10:47:48Z</dcterms:modified>
</cp:coreProperties>
</file>