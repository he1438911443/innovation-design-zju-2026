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500" r:id="rId3"/>
    <p:sldId id="419" r:id="rId4"/>
    <p:sldId id="470" r:id="rId5"/>
    <p:sldId id="471" r:id="rId6"/>
    <p:sldId id="472" r:id="rId7"/>
    <p:sldId id="474" r:id="rId8"/>
    <p:sldId id="475" r:id="rId9"/>
    <p:sldId id="476" r:id="rId10"/>
    <p:sldId id="479" r:id="rId11"/>
    <p:sldId id="483" r:id="rId12"/>
    <p:sldId id="487" r:id="rId13"/>
    <p:sldId id="473" r:id="rId14"/>
    <p:sldId id="495" r:id="rId15"/>
    <p:sldId id="498" r:id="rId16"/>
    <p:sldId id="497" r:id="rId17"/>
    <p:sldId id="496" r:id="rId18"/>
    <p:sldId id="439" r:id="rId19"/>
    <p:sldId id="494" r:id="rId20"/>
    <p:sldId id="492" r:id="rId21"/>
    <p:sldId id="499" r:id="rId22"/>
    <p:sldId id="467" r:id="rId23"/>
    <p:sldId id="493" r:id="rId24"/>
    <p:sldId id="489" r:id="rId25"/>
    <p:sldId id="490" r:id="rId26"/>
    <p:sldId id="488" r:id="rId27"/>
    <p:sldId id="49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782" autoAdjust="0"/>
  </p:normalViewPr>
  <p:slideViewPr>
    <p:cSldViewPr>
      <p:cViewPr varScale="1">
        <p:scale>
          <a:sx n="85" d="100"/>
          <a:sy n="85" d="100"/>
        </p:scale>
        <p:origin x="1230"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EA525-330E-40CB-80F1-5B6F59A332C7}" type="datetimeFigureOut">
              <a:rPr lang="en-GB" smtClean="0"/>
              <a:t>09/07/2025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49900-4F2F-48CC-95FC-802A4AF18AC3}" type="slidenum">
              <a:rPr lang="en-GB" smtClean="0"/>
              <a:t>‹#›</a:t>
            </a:fld>
            <a:endParaRPr lang="en-GB"/>
          </a:p>
        </p:txBody>
      </p:sp>
    </p:spTree>
    <p:extLst>
      <p:ext uri="{BB962C8B-B14F-4D97-AF65-F5344CB8AC3E}">
        <p14:creationId xmlns:p14="http://schemas.microsoft.com/office/powerpoint/2010/main" val="2910720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rQ2bnU4dkso"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rQ2bnU4dkso"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"Geodes" - 3D Julia set fractals - YouTube</a:t>
            </a:r>
            <a:endParaRPr lang="en-GB" dirty="0"/>
          </a:p>
        </p:txBody>
      </p:sp>
      <p:sp>
        <p:nvSpPr>
          <p:cNvPr id="4" name="Slide Number Placeholder 3"/>
          <p:cNvSpPr>
            <a:spLocks noGrp="1"/>
          </p:cNvSpPr>
          <p:nvPr>
            <p:ph type="sldNum" sz="quarter" idx="5"/>
          </p:nvPr>
        </p:nvSpPr>
        <p:spPr/>
        <p:txBody>
          <a:bodyPr/>
          <a:lstStyle/>
          <a:p>
            <a:fld id="{88F49900-4F2F-48CC-95FC-802A4AF18AC3}" type="slidenum">
              <a:rPr lang="en-GB" smtClean="0"/>
              <a:t>20</a:t>
            </a:fld>
            <a:endParaRPr lang="en-GB"/>
          </a:p>
        </p:txBody>
      </p:sp>
    </p:spTree>
    <p:extLst>
      <p:ext uri="{BB962C8B-B14F-4D97-AF65-F5344CB8AC3E}">
        <p14:creationId xmlns:p14="http://schemas.microsoft.com/office/powerpoint/2010/main" val="2884357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"Geodes" - 3D Julia set fractals - YouTube</a:t>
            </a:r>
            <a:endParaRPr lang="en-GB" dirty="0"/>
          </a:p>
        </p:txBody>
      </p:sp>
      <p:sp>
        <p:nvSpPr>
          <p:cNvPr id="4" name="Slide Number Placeholder 3"/>
          <p:cNvSpPr>
            <a:spLocks noGrp="1"/>
          </p:cNvSpPr>
          <p:nvPr>
            <p:ph type="sldNum" sz="quarter" idx="5"/>
          </p:nvPr>
        </p:nvSpPr>
        <p:spPr/>
        <p:txBody>
          <a:bodyPr/>
          <a:lstStyle/>
          <a:p>
            <a:fld id="{88F49900-4F2F-48CC-95FC-802A4AF18AC3}" type="slidenum">
              <a:rPr lang="en-GB" smtClean="0"/>
              <a:t>21</a:t>
            </a:fld>
            <a:endParaRPr lang="en-GB"/>
          </a:p>
        </p:txBody>
      </p:sp>
    </p:spTree>
    <p:extLst>
      <p:ext uri="{BB962C8B-B14F-4D97-AF65-F5344CB8AC3E}">
        <p14:creationId xmlns:p14="http://schemas.microsoft.com/office/powerpoint/2010/main" val="3663061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7/9/2025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7/9/2025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taffprofiles.bournemouth.ac.uk/display/xya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pensource.com/article/19/3/python-image-manipulation-tools" TargetMode="External"/><Relationship Id="rId2" Type="http://schemas.openxmlformats.org/officeDocument/2006/relationships/hyperlink" Target="https://neptune.ai/blog/image-processing-python-libraries-for-machine-learning" TargetMode="External"/><Relationship Id="rId1" Type="http://schemas.openxmlformats.org/officeDocument/2006/relationships/slideLayout" Target="../slideLayouts/slideLayout1.xml"/><Relationship Id="rId4" Type="http://schemas.openxmlformats.org/officeDocument/2006/relationships/hyperlink" Target="https://www.analyticsvidhya.com/blog/2021/04/top-python-libraries-for-image-processing-in-202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openimageio.readthedocs.io/en/master/pythonbindings.html"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NCCA/DemoPythonCode/blob/master/Maya/ImageMapExample.py" TargetMode="External"/><Relationship Id="rId2" Type="http://schemas.openxmlformats.org/officeDocument/2006/relationships/hyperlink" Target="https://github.com/NCCA/ScriptingForDCC/blob/master/TerrainFromMap/MayaImage.py"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NCCA/DemoPythonCode/blob/master/Maya/ImageMapExample.py" TargetMode="External"/><Relationship Id="rId2" Type="http://schemas.openxmlformats.org/officeDocument/2006/relationships/hyperlink" Target="https://github.com/NCCA/ScriptingForDCC/blob/master/TerrainFromMap/MayaImage.py"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redblobgames.com/maps/terrain-from-noise/" TargetMode="Externa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youtube.com/watch?v=rQ2bnU4dkso"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Partition_of_a_set" TargetMode="External"/><Relationship Id="rId2" Type="http://schemas.openxmlformats.org/officeDocument/2006/relationships/hyperlink" Target="https://en.wikipedia.org/wiki/Voronoi_diagram" TargetMode="Externa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en.wikipedia.org/wiki/Plane_(geometry)"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066800"/>
            <a:ext cx="7406640" cy="765282"/>
          </a:xfrm>
        </p:spPr>
        <p:txBody>
          <a:bodyPr/>
          <a:lstStyle/>
          <a:p>
            <a:r>
              <a:rPr lang="en-GB" dirty="0"/>
              <a:t>Image</a:t>
            </a:r>
            <a:endParaRPr lang="en-US" dirty="0"/>
          </a:p>
        </p:txBody>
      </p:sp>
      <p:sp>
        <p:nvSpPr>
          <p:cNvPr id="11" name="Subtitle 2"/>
          <p:cNvSpPr>
            <a:spLocks noGrp="1"/>
          </p:cNvSpPr>
          <p:nvPr>
            <p:ph type="subTitle" idx="1"/>
          </p:nvPr>
        </p:nvSpPr>
        <p:spPr>
          <a:xfrm>
            <a:off x="1432560" y="3276600"/>
            <a:ext cx="7406640" cy="3581400"/>
          </a:xfrm>
        </p:spPr>
        <p:txBody>
          <a:bodyPr>
            <a:noAutofit/>
          </a:bodyPr>
          <a:lstStyle/>
          <a:p>
            <a:endParaRPr lang="en-GB" sz="2000" b="1" dirty="0"/>
          </a:p>
          <a:p>
            <a:r>
              <a:rPr lang="en-GB" sz="2000" b="1" dirty="0"/>
              <a:t>Prof Xiaosong Yang</a:t>
            </a:r>
          </a:p>
          <a:p>
            <a:endParaRPr lang="en-GB" sz="2000" b="1" dirty="0"/>
          </a:p>
          <a:p>
            <a:r>
              <a:rPr lang="en-GB" sz="1600" dirty="0"/>
              <a:t>Professor in Computer Animation</a:t>
            </a:r>
          </a:p>
          <a:p>
            <a:endParaRPr lang="en-GB" sz="1600" dirty="0"/>
          </a:p>
          <a:p>
            <a:pPr>
              <a:spcBef>
                <a:spcPts val="0"/>
              </a:spcBef>
            </a:pPr>
            <a:r>
              <a:rPr lang="en-GB" sz="1200" dirty="0"/>
              <a:t>National Centre for Computer Animation</a:t>
            </a:r>
          </a:p>
          <a:p>
            <a:pPr>
              <a:spcBef>
                <a:spcPts val="0"/>
              </a:spcBef>
            </a:pPr>
            <a:r>
              <a:rPr lang="en-GB" sz="1200" dirty="0"/>
              <a:t>Faculty of Media and Communication</a:t>
            </a:r>
          </a:p>
          <a:p>
            <a:pPr>
              <a:spcBef>
                <a:spcPts val="0"/>
              </a:spcBef>
            </a:pPr>
            <a:r>
              <a:rPr lang="en-GB" sz="1200" dirty="0"/>
              <a:t>Bournemouth University</a:t>
            </a:r>
          </a:p>
          <a:p>
            <a:pPr>
              <a:spcBef>
                <a:spcPts val="0"/>
              </a:spcBef>
            </a:pPr>
            <a:r>
              <a:rPr lang="en-GB" sz="1200" dirty="0"/>
              <a:t>Email: xyang@bournemouth.ac.uk </a:t>
            </a:r>
          </a:p>
          <a:p>
            <a:pPr>
              <a:spcBef>
                <a:spcPts val="0"/>
              </a:spcBef>
            </a:pPr>
            <a:r>
              <a:rPr lang="en-GB" sz="1200" dirty="0">
                <a:hlinkClick r:id="rId2"/>
              </a:rPr>
              <a:t>http://staffprofiles.bournemouth.ac.uk/display/xyang</a:t>
            </a:r>
            <a:r>
              <a:rPr lang="en-GB" sz="1200" dirty="0"/>
              <a:t> </a:t>
            </a:r>
            <a:endParaRPr lang="en-GB" sz="2000" b="1" dirty="0"/>
          </a:p>
          <a:p>
            <a:endParaRPr lang="en-GB" sz="2000" dirty="0"/>
          </a:p>
          <a:p>
            <a:endParaRPr lang="en-US" sz="2000" dirty="0"/>
          </a:p>
        </p:txBody>
      </p:sp>
      <p:pic>
        <p:nvPicPr>
          <p:cNvPr id="1026" name="Picture 2" descr="D:\YangXiaosong\Research\Teaching\PythonScripting\2017-2018\CAPP_Lectures\Image\grey-world-map_1053-431.jpg"/>
          <p:cNvPicPr>
            <a:picLocks noChangeAspect="1" noChangeArrowheads="1"/>
          </p:cNvPicPr>
          <p:nvPr/>
        </p:nvPicPr>
        <p:blipFill rotWithShape="1">
          <a:blip r:embed="rId3">
            <a:extLst>
              <a:ext uri="{28A0092B-C50C-407E-A947-70E740481C1C}">
                <a14:useLocalDpi xmlns:a14="http://schemas.microsoft.com/office/drawing/2010/main" val="0"/>
              </a:ext>
            </a:extLst>
          </a:blip>
          <a:srcRect t="24355" b="17105"/>
          <a:stretch/>
        </p:blipFill>
        <p:spPr bwMode="auto">
          <a:xfrm>
            <a:off x="4267200" y="1219200"/>
            <a:ext cx="4419600" cy="25872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066800"/>
            <a:ext cx="7406640" cy="765282"/>
          </a:xfrm>
        </p:spPr>
        <p:txBody>
          <a:bodyPr/>
          <a:lstStyle/>
          <a:p>
            <a:r>
              <a:rPr lang="en-GB" dirty="0"/>
              <a:t>Top Image Processing libraries</a:t>
            </a:r>
            <a:endParaRPr lang="en-US" dirty="0"/>
          </a:p>
        </p:txBody>
      </p:sp>
      <p:sp>
        <p:nvSpPr>
          <p:cNvPr id="11" name="Subtitle 2"/>
          <p:cNvSpPr>
            <a:spLocks noGrp="1"/>
          </p:cNvSpPr>
          <p:nvPr>
            <p:ph type="subTitle" idx="1"/>
          </p:nvPr>
        </p:nvSpPr>
        <p:spPr>
          <a:xfrm>
            <a:off x="1295400" y="5769294"/>
            <a:ext cx="7406640" cy="685800"/>
          </a:xfrm>
        </p:spPr>
        <p:txBody>
          <a:bodyPr>
            <a:noAutofit/>
          </a:bodyPr>
          <a:lstStyle/>
          <a:p>
            <a:r>
              <a:rPr lang="en-GB" sz="1000" dirty="0">
                <a:hlinkClick r:id="rId2"/>
              </a:rPr>
              <a:t>Top 8 Image-Processing Python Libraries Used in Machine Learning - neptune.ai</a:t>
            </a:r>
            <a:endParaRPr lang="en-GB" sz="1000" dirty="0">
              <a:hlinkClick r:id="rId3"/>
            </a:endParaRPr>
          </a:p>
          <a:p>
            <a:r>
              <a:rPr lang="en-GB" sz="1000" dirty="0">
                <a:hlinkClick r:id="rId3"/>
              </a:rPr>
              <a:t>10 Python image manipulation tools | Opensource.com</a:t>
            </a:r>
            <a:endParaRPr lang="en-GB" sz="1000" dirty="0"/>
          </a:p>
          <a:p>
            <a:r>
              <a:rPr lang="en-GB" sz="1000" dirty="0">
                <a:hlinkClick r:id="rId4"/>
              </a:rPr>
              <a:t>Top Python Libraries For Image Processing In 2021 (analyticsvidhya.com)</a:t>
            </a:r>
            <a:endParaRPr lang="en-GB" sz="1000" dirty="0"/>
          </a:p>
          <a:p>
            <a:endParaRPr lang="en-US" sz="2000" dirty="0"/>
          </a:p>
        </p:txBody>
      </p:sp>
      <p:sp>
        <p:nvSpPr>
          <p:cNvPr id="4" name="Subtitle 1">
            <a:extLst>
              <a:ext uri="{FF2B5EF4-FFF2-40B4-BE49-F238E27FC236}">
                <a16:creationId xmlns:a16="http://schemas.microsoft.com/office/drawing/2014/main" id="{40A229C6-9EE2-41A2-B3E8-B04F5B864904}"/>
              </a:ext>
            </a:extLst>
          </p:cNvPr>
          <p:cNvSpPr txBox="1">
            <a:spLocks/>
          </p:cNvSpPr>
          <p:nvPr/>
        </p:nvSpPr>
        <p:spPr>
          <a:xfrm>
            <a:off x="1432560" y="1850064"/>
            <a:ext cx="7178040" cy="2036136"/>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313182" indent="-285750" algn="just">
              <a:buFont typeface="Arial" panose="020B0604020202020204" pitchFamily="34" charset="0"/>
              <a:buChar char="•"/>
            </a:pPr>
            <a:r>
              <a:rPr lang="fr-FR" sz="1600" b="1" dirty="0" err="1"/>
              <a:t>scikit</a:t>
            </a:r>
            <a:r>
              <a:rPr lang="fr-FR" sz="1600" b="1" dirty="0"/>
              <a:t>-image (</a:t>
            </a:r>
            <a:r>
              <a:rPr lang="fr-FR" sz="1600" b="1" dirty="0" err="1"/>
              <a:t>skimage</a:t>
            </a:r>
            <a:r>
              <a:rPr lang="fr-FR" sz="1600" b="1" dirty="0"/>
              <a:t>)</a:t>
            </a:r>
          </a:p>
          <a:p>
            <a:pPr marL="313182" indent="-285750" algn="just">
              <a:buFont typeface="Arial" panose="020B0604020202020204" pitchFamily="34" charset="0"/>
              <a:buChar char="•"/>
            </a:pPr>
            <a:r>
              <a:rPr lang="fr-FR" sz="1600" b="1" dirty="0" err="1"/>
              <a:t>NumPy</a:t>
            </a:r>
            <a:endParaRPr lang="fr-FR" sz="1600" b="1" dirty="0"/>
          </a:p>
          <a:p>
            <a:pPr marL="313182" indent="-285750" algn="just">
              <a:buFont typeface="Arial" panose="020B0604020202020204" pitchFamily="34" charset="0"/>
              <a:buChar char="•"/>
            </a:pPr>
            <a:r>
              <a:rPr lang="fr-FR" sz="1600" b="1" dirty="0" err="1"/>
              <a:t>SciPy</a:t>
            </a:r>
            <a:r>
              <a:rPr lang="fr-FR" sz="1600" b="1" dirty="0"/>
              <a:t> (</a:t>
            </a:r>
            <a:r>
              <a:rPr lang="fr-FR" sz="1600" b="1" dirty="0" err="1"/>
              <a:t>scipy.ndimage</a:t>
            </a:r>
            <a:r>
              <a:rPr lang="fr-FR" sz="1600" b="1" dirty="0"/>
              <a:t>)</a:t>
            </a:r>
          </a:p>
          <a:p>
            <a:pPr marL="313182" indent="-285750" algn="just">
              <a:buFont typeface="Arial" panose="020B0604020202020204" pitchFamily="34" charset="0"/>
              <a:buChar char="•"/>
            </a:pPr>
            <a:r>
              <a:rPr lang="en-GB" sz="1600" b="1" dirty="0"/>
              <a:t>PIL/Pillow (Image, </a:t>
            </a:r>
            <a:r>
              <a:rPr lang="en-GB" sz="1600" b="1" dirty="0" err="1"/>
              <a:t>ImageFilter</a:t>
            </a:r>
            <a:r>
              <a:rPr lang="en-GB" sz="1600" b="1" dirty="0"/>
              <a:t>, </a:t>
            </a:r>
            <a:r>
              <a:rPr lang="en-GB" sz="1600" b="1" dirty="0" err="1"/>
              <a:t>ImageEnhance</a:t>
            </a:r>
            <a:r>
              <a:rPr lang="en-GB" sz="1600" b="1" dirty="0"/>
              <a:t>)</a:t>
            </a:r>
          </a:p>
          <a:p>
            <a:pPr marL="313182" indent="-285750" algn="just">
              <a:buFont typeface="Arial" panose="020B0604020202020204" pitchFamily="34" charset="0"/>
              <a:buChar char="•"/>
            </a:pPr>
            <a:r>
              <a:rPr lang="en-GB" sz="1600" b="1" dirty="0"/>
              <a:t>OpenCV-Python</a:t>
            </a:r>
          </a:p>
          <a:p>
            <a:pPr marL="313182" indent="-285750" algn="just">
              <a:buFont typeface="Arial" panose="020B0604020202020204" pitchFamily="34" charset="0"/>
              <a:buChar char="•"/>
            </a:pPr>
            <a:r>
              <a:rPr lang="en-GB" sz="1600" b="1" dirty="0" err="1"/>
              <a:t>SimpleCV</a:t>
            </a:r>
            <a:endParaRPr lang="en-GB" sz="1600" b="1" dirty="0"/>
          </a:p>
          <a:p>
            <a:pPr marL="313182" indent="-285750" algn="just">
              <a:buFont typeface="Arial" panose="020B0604020202020204" pitchFamily="34" charset="0"/>
              <a:buChar char="•"/>
            </a:pPr>
            <a:r>
              <a:rPr lang="en-GB" sz="1600" b="1" dirty="0" err="1"/>
              <a:t>Mahotas</a:t>
            </a:r>
            <a:endParaRPr lang="en-GB" sz="1600" b="1" dirty="0"/>
          </a:p>
          <a:p>
            <a:pPr marL="313182" indent="-285750" algn="just">
              <a:buFont typeface="Arial" panose="020B0604020202020204" pitchFamily="34" charset="0"/>
              <a:buChar char="•"/>
            </a:pPr>
            <a:r>
              <a:rPr lang="en-GB" sz="1600" b="1" dirty="0" err="1"/>
              <a:t>SimpleTK</a:t>
            </a:r>
            <a:r>
              <a:rPr lang="en-GB" sz="1600" b="1" dirty="0"/>
              <a:t> (CT, image segmentation</a:t>
            </a:r>
            <a:r>
              <a:rPr lang="en-GB" sz="1600" b="1"/>
              <a:t>, registration)</a:t>
            </a:r>
            <a:endParaRPr lang="en-GB" sz="1600" b="1" dirty="0"/>
          </a:p>
          <a:p>
            <a:pPr marL="313182" indent="-285750" algn="just">
              <a:buFont typeface="Arial" panose="020B0604020202020204" pitchFamily="34" charset="0"/>
              <a:buChar char="•"/>
            </a:pPr>
            <a:r>
              <a:rPr lang="en-GB" sz="1600" b="1" dirty="0" err="1"/>
              <a:t>Pgmagick</a:t>
            </a:r>
            <a:endParaRPr lang="en-GB" sz="1600" b="1" dirty="0"/>
          </a:p>
          <a:p>
            <a:pPr marL="313182" indent="-285750" algn="just">
              <a:buFont typeface="Arial" panose="020B0604020202020204" pitchFamily="34" charset="0"/>
              <a:buChar char="•"/>
            </a:pPr>
            <a:r>
              <a:rPr lang="en-GB" sz="1600" b="1" dirty="0" err="1"/>
              <a:t>Pycairo</a:t>
            </a:r>
            <a:endParaRPr lang="en-GB" sz="1600" b="1" dirty="0"/>
          </a:p>
        </p:txBody>
      </p:sp>
    </p:spTree>
    <p:extLst>
      <p:ext uri="{BB962C8B-B14F-4D97-AF65-F5344CB8AC3E}">
        <p14:creationId xmlns:p14="http://schemas.microsoft.com/office/powerpoint/2010/main" val="286884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Python Image Library (PIL)</a:t>
            </a:r>
            <a:endParaRPr lang="en-US" dirty="0"/>
          </a:p>
        </p:txBody>
      </p:sp>
      <p:sp>
        <p:nvSpPr>
          <p:cNvPr id="8" name="Subtitle 1"/>
          <p:cNvSpPr>
            <a:spLocks noGrp="1"/>
          </p:cNvSpPr>
          <p:nvPr>
            <p:ph type="subTitle" idx="1"/>
          </p:nvPr>
        </p:nvSpPr>
        <p:spPr>
          <a:xfrm>
            <a:off x="1432560" y="1850064"/>
            <a:ext cx="7178040" cy="2036136"/>
          </a:xfrm>
        </p:spPr>
        <p:txBody>
          <a:bodyPr>
            <a:noAutofit/>
          </a:bodyPr>
          <a:lstStyle/>
          <a:p>
            <a:pPr algn="just"/>
            <a:r>
              <a:rPr lang="fr-FR" sz="2400" b="1" dirty="0"/>
              <a:t>Image Archives</a:t>
            </a:r>
          </a:p>
          <a:p>
            <a:pPr algn="just"/>
            <a:r>
              <a:rPr lang="en-GB" sz="1800" dirty="0"/>
              <a:t>Read/Convert/Write a large number of formats.</a:t>
            </a:r>
          </a:p>
          <a:p>
            <a:r>
              <a:rPr lang="en-GB" sz="1800" dirty="0"/>
              <a:t>Some of the file formats supported include PPM, PNG, JPEG, GIF, TIFF, and BMP.</a:t>
            </a:r>
          </a:p>
        </p:txBody>
      </p:sp>
      <p:sp>
        <p:nvSpPr>
          <p:cNvPr id="9" name="Rounded Rectangle 8"/>
          <p:cNvSpPr/>
          <p:nvPr/>
        </p:nvSpPr>
        <p:spPr>
          <a:xfrm>
            <a:off x="1524000" y="3276600"/>
            <a:ext cx="7010400" cy="2743200"/>
          </a:xfrm>
          <a:prstGeom prst="roundRect">
            <a:avLst>
              <a:gd name="adj" fmla="val 5835"/>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import sys</a:t>
            </a:r>
          </a:p>
          <a:p>
            <a:r>
              <a:rPr lang="en-GB" sz="1600" dirty="0" err="1"/>
              <a:t>sys.path.append</a:t>
            </a:r>
            <a:r>
              <a:rPr lang="en-GB" sz="1600" dirty="0"/>
              <a:t>("/</a:t>
            </a:r>
            <a:r>
              <a:rPr lang="en-GB" sz="1600" dirty="0" err="1"/>
              <a:t>usr</a:t>
            </a:r>
            <a:r>
              <a:rPr lang="en-GB" sz="1600" dirty="0"/>
              <a:t>/lib64/python2.7/site-packages/")</a:t>
            </a:r>
          </a:p>
          <a:p>
            <a:endParaRPr lang="en-GB" sz="1600" dirty="0"/>
          </a:p>
          <a:p>
            <a:r>
              <a:rPr lang="en-GB" sz="1600" b="1" dirty="0"/>
              <a:t>from</a:t>
            </a:r>
            <a:r>
              <a:rPr lang="en-GB" sz="1600" dirty="0"/>
              <a:t> PIL </a:t>
            </a:r>
            <a:r>
              <a:rPr lang="en-GB" sz="1600" b="1" dirty="0"/>
              <a:t>import</a:t>
            </a:r>
            <a:r>
              <a:rPr lang="en-GB" sz="1600" dirty="0"/>
              <a:t> Image</a:t>
            </a:r>
          </a:p>
          <a:p>
            <a:r>
              <a:rPr lang="en-GB" sz="1600" dirty="0" err="1"/>
              <a:t>imagePath</a:t>
            </a:r>
            <a:r>
              <a:rPr lang="en-GB" sz="1600" dirty="0"/>
              <a:t> = "/home/</a:t>
            </a:r>
            <a:r>
              <a:rPr lang="en-GB" sz="1600" dirty="0" err="1"/>
              <a:t>xyang</a:t>
            </a:r>
            <a:r>
              <a:rPr lang="en-GB" sz="1600" dirty="0"/>
              <a:t>/</a:t>
            </a:r>
            <a:r>
              <a:rPr lang="en-GB" sz="1600" dirty="0" err="1"/>
              <a:t>MayaScripts</a:t>
            </a:r>
            <a:r>
              <a:rPr lang="en-GB" sz="1600" dirty="0"/>
              <a:t>/"</a:t>
            </a:r>
          </a:p>
          <a:p>
            <a:r>
              <a:rPr lang="en-GB" sz="1600" dirty="0" err="1"/>
              <a:t>imageFileName</a:t>
            </a:r>
            <a:r>
              <a:rPr lang="en-GB" sz="1600" dirty="0"/>
              <a:t> = </a:t>
            </a:r>
            <a:r>
              <a:rPr lang="en-GB" sz="1600" dirty="0" err="1"/>
              <a:t>imagePath</a:t>
            </a:r>
            <a:r>
              <a:rPr lang="en-GB" sz="1600" dirty="0"/>
              <a:t> + "grey-world-map.jpg"</a:t>
            </a:r>
          </a:p>
          <a:p>
            <a:endParaRPr lang="en-GB" sz="1600" dirty="0"/>
          </a:p>
          <a:p>
            <a:r>
              <a:rPr lang="en-GB" sz="1600" dirty="0"/>
              <a:t>import </a:t>
            </a:r>
            <a:r>
              <a:rPr lang="en-GB" sz="1600" dirty="0" err="1"/>
              <a:t>os.path</a:t>
            </a:r>
            <a:endParaRPr lang="en-GB" sz="1600" dirty="0"/>
          </a:p>
          <a:p>
            <a:r>
              <a:rPr lang="en-GB" sz="1600" dirty="0"/>
              <a:t>if </a:t>
            </a:r>
            <a:r>
              <a:rPr lang="en-GB" sz="1600" dirty="0" err="1"/>
              <a:t>os.path.isfile</a:t>
            </a:r>
            <a:r>
              <a:rPr lang="en-GB" sz="1600" dirty="0"/>
              <a:t>(</a:t>
            </a:r>
            <a:r>
              <a:rPr lang="en-GB" sz="1600" dirty="0" err="1"/>
              <a:t>imageFilename</a:t>
            </a:r>
            <a:r>
              <a:rPr lang="en-GB" sz="1600" dirty="0"/>
              <a:t>):</a:t>
            </a:r>
          </a:p>
          <a:p>
            <a:r>
              <a:rPr lang="en-GB" sz="1600" dirty="0"/>
              <a:t>      </a:t>
            </a:r>
            <a:r>
              <a:rPr lang="en-GB" sz="1600" dirty="0" err="1"/>
              <a:t>im</a:t>
            </a:r>
            <a:r>
              <a:rPr lang="en-GB" sz="1600" dirty="0"/>
              <a:t> </a:t>
            </a:r>
            <a:r>
              <a:rPr lang="en-GB" sz="1600" b="1" dirty="0"/>
              <a:t>=</a:t>
            </a:r>
            <a:r>
              <a:rPr lang="en-GB" sz="1600" dirty="0"/>
              <a:t> </a:t>
            </a:r>
            <a:r>
              <a:rPr lang="en-GB" sz="1600" dirty="0" err="1"/>
              <a:t>Image</a:t>
            </a:r>
            <a:r>
              <a:rPr lang="en-GB" sz="1600" b="1" dirty="0" err="1"/>
              <a:t>.</a:t>
            </a:r>
            <a:r>
              <a:rPr lang="en-GB" sz="1600" b="1" dirty="0" err="1">
                <a:solidFill>
                  <a:srgbClr val="FF0000"/>
                </a:solidFill>
              </a:rPr>
              <a:t>open</a:t>
            </a:r>
            <a:r>
              <a:rPr lang="en-GB" sz="1600" dirty="0"/>
              <a:t>(</a:t>
            </a:r>
            <a:r>
              <a:rPr lang="en-GB" sz="1600" dirty="0" err="1"/>
              <a:t>imageFileName</a:t>
            </a:r>
            <a:r>
              <a:rPr lang="en-GB" sz="1600" dirty="0"/>
              <a:t>)</a:t>
            </a:r>
          </a:p>
        </p:txBody>
      </p:sp>
    </p:spTree>
    <p:extLst>
      <p:ext uri="{BB962C8B-B14F-4D97-AF65-F5344CB8AC3E}">
        <p14:creationId xmlns:p14="http://schemas.microsoft.com/office/powerpoint/2010/main" val="2010468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Pixels</a:t>
            </a:r>
          </a:p>
        </p:txBody>
      </p:sp>
      <p:sp>
        <p:nvSpPr>
          <p:cNvPr id="2" name="Subtitle 1"/>
          <p:cNvSpPr>
            <a:spLocks noGrp="1"/>
          </p:cNvSpPr>
          <p:nvPr>
            <p:ph type="subTitle" idx="1"/>
          </p:nvPr>
        </p:nvSpPr>
        <p:spPr>
          <a:xfrm>
            <a:off x="1432560" y="1850064"/>
            <a:ext cx="7406640" cy="3560136"/>
          </a:xfrm>
        </p:spPr>
        <p:txBody>
          <a:bodyPr>
            <a:noAutofit/>
          </a:bodyPr>
          <a:lstStyle/>
          <a:p>
            <a:r>
              <a:rPr lang="en-GB" sz="1800" dirty="0"/>
              <a:t>A “</a:t>
            </a:r>
            <a:r>
              <a:rPr lang="en-GB" sz="1800" b="1" dirty="0">
                <a:solidFill>
                  <a:srgbClr val="FF0000"/>
                </a:solidFill>
              </a:rPr>
              <a:t>bitmap</a:t>
            </a:r>
            <a:r>
              <a:rPr lang="en-GB" sz="1800" dirty="0"/>
              <a:t>” is a data structure that stores a rectangular grid of width x height discrete picture elements or pixels that describe an image.</a:t>
            </a:r>
          </a:p>
          <a:p>
            <a:pPr algn="just"/>
            <a:endParaRPr lang="en-GB" sz="1800" dirty="0"/>
          </a:p>
          <a:p>
            <a:pPr algn="just"/>
            <a:r>
              <a:rPr lang="en-GB" sz="1800" b="1" dirty="0">
                <a:solidFill>
                  <a:srgbClr val="FF0000"/>
                </a:solidFill>
              </a:rPr>
              <a:t>Pixels</a:t>
            </a:r>
          </a:p>
          <a:p>
            <a:pPr algn="just"/>
            <a:r>
              <a:rPr lang="en-GB" sz="1800" dirty="0"/>
              <a:t>A pixel resides in a specific </a:t>
            </a:r>
            <a:r>
              <a:rPr lang="en-GB" sz="1800" dirty="0">
                <a:solidFill>
                  <a:srgbClr val="FF0000"/>
                </a:solidFill>
              </a:rPr>
              <a:t>position</a:t>
            </a:r>
            <a:r>
              <a:rPr lang="en-GB" sz="1800" dirty="0"/>
              <a:t> on the rectangular grid data structure and stores a </a:t>
            </a:r>
            <a:r>
              <a:rPr lang="en-GB" sz="1800" dirty="0">
                <a:solidFill>
                  <a:srgbClr val="FF0000"/>
                </a:solidFill>
              </a:rPr>
              <a:t>colour</a:t>
            </a:r>
            <a:r>
              <a:rPr lang="en-GB" sz="1800" dirty="0"/>
              <a:t> value. Usually, a pixel's position is specified by two discrete coordinates. The coordinates (0, 0), for example, usually specify the pixel on the top left corner of the grid and the coordinates (width-1, height-1) specify the pixel on the bottom right corner of the grid. </a:t>
            </a:r>
          </a:p>
          <a:p>
            <a:pPr algn="just"/>
            <a:r>
              <a:rPr lang="en-GB" sz="1800" dirty="0"/>
              <a:t>A pixel stores the colour value of the bitmap at the given position on the grid data structure.</a:t>
            </a:r>
          </a:p>
        </p:txBody>
      </p:sp>
    </p:spTree>
    <p:extLst>
      <p:ext uri="{BB962C8B-B14F-4D97-AF65-F5344CB8AC3E}">
        <p14:creationId xmlns:p14="http://schemas.microsoft.com/office/powerpoint/2010/main" val="2526860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Pixel Depth</a:t>
            </a:r>
          </a:p>
        </p:txBody>
      </p:sp>
      <p:sp>
        <p:nvSpPr>
          <p:cNvPr id="2" name="Subtitle 1"/>
          <p:cNvSpPr>
            <a:spLocks noGrp="1"/>
          </p:cNvSpPr>
          <p:nvPr>
            <p:ph type="subTitle" idx="1"/>
          </p:nvPr>
        </p:nvSpPr>
        <p:spPr>
          <a:xfrm>
            <a:off x="1432560" y="1850064"/>
            <a:ext cx="7406640" cy="3560136"/>
          </a:xfrm>
        </p:spPr>
        <p:txBody>
          <a:bodyPr>
            <a:noAutofit/>
          </a:bodyPr>
          <a:lstStyle/>
          <a:p>
            <a:pPr algn="just"/>
            <a:r>
              <a:rPr lang="en-GB" sz="1800" dirty="0"/>
              <a:t>Each pixel corresponds to a colour displayed on the screen. A pixel may store a colour value in one or more bits, and the number of colours that can be displayed depends on the numbers of </a:t>
            </a:r>
            <a:r>
              <a:rPr lang="en-GB" sz="1800" dirty="0">
                <a:solidFill>
                  <a:srgbClr val="FF0000"/>
                </a:solidFill>
              </a:rPr>
              <a:t>bits per pixel </a:t>
            </a:r>
            <a:r>
              <a:rPr lang="en-GB" sz="1800" dirty="0"/>
              <a:t>(</a:t>
            </a:r>
            <a:r>
              <a:rPr lang="en-GB" sz="1800" dirty="0" err="1"/>
              <a:t>bpp</a:t>
            </a:r>
            <a:r>
              <a:rPr lang="en-GB" sz="1800" dirty="0"/>
              <a:t>) or pixel depth.</a:t>
            </a:r>
          </a:p>
          <a:p>
            <a:pPr algn="just"/>
            <a:r>
              <a:rPr lang="en-GB" sz="1800" dirty="0"/>
              <a:t>For example, a 1bpp bitmap displays 2^1 colours, a 8bpp = 2^8 displays 256 colours, and a </a:t>
            </a:r>
            <a:r>
              <a:rPr lang="en-GB" sz="1800" dirty="0">
                <a:solidFill>
                  <a:srgbClr val="FF0000"/>
                </a:solidFill>
              </a:rPr>
              <a:t>24 </a:t>
            </a:r>
            <a:r>
              <a:rPr lang="en-GB" sz="1800" dirty="0" err="1">
                <a:solidFill>
                  <a:srgbClr val="FF0000"/>
                </a:solidFill>
              </a:rPr>
              <a:t>bpp</a:t>
            </a:r>
            <a:r>
              <a:rPr lang="en-GB" sz="1800" dirty="0">
                <a:solidFill>
                  <a:srgbClr val="FF0000"/>
                </a:solidFill>
              </a:rPr>
              <a:t> = 2^24 </a:t>
            </a:r>
            <a:r>
              <a:rPr lang="en-GB" sz="1800" dirty="0"/>
              <a:t>displays approximately16.8 million colours.</a:t>
            </a:r>
          </a:p>
          <a:p>
            <a:pPr algn="just"/>
            <a:r>
              <a:rPr lang="en-GB" sz="1800" dirty="0"/>
              <a:t>A pixel, in order to represented colours, needs to store information about the intensity of the different types of colour components displayed.</a:t>
            </a:r>
          </a:p>
          <a:p>
            <a:pPr algn="just"/>
            <a:r>
              <a:rPr lang="en-GB" sz="1800" dirty="0"/>
              <a:t>Each colour is usually displayed as a combination of three (or four) primary colours. These are usually </a:t>
            </a:r>
            <a:r>
              <a:rPr lang="en-GB" sz="1800" dirty="0">
                <a:solidFill>
                  <a:srgbClr val="FF0000"/>
                </a:solidFill>
              </a:rPr>
              <a:t>Red</a:t>
            </a:r>
            <a:r>
              <a:rPr lang="en-GB" sz="1800" dirty="0"/>
              <a:t>, </a:t>
            </a:r>
            <a:r>
              <a:rPr lang="en-GB" sz="1800" dirty="0">
                <a:solidFill>
                  <a:srgbClr val="FF0000"/>
                </a:solidFill>
              </a:rPr>
              <a:t>Green</a:t>
            </a:r>
            <a:r>
              <a:rPr lang="en-GB" sz="1800" dirty="0"/>
              <a:t> and </a:t>
            </a:r>
            <a:r>
              <a:rPr lang="en-GB" sz="1800" dirty="0">
                <a:solidFill>
                  <a:srgbClr val="FF0000"/>
                </a:solidFill>
              </a:rPr>
              <a:t>Blue</a:t>
            </a:r>
            <a:r>
              <a:rPr lang="en-GB" sz="1800" dirty="0"/>
              <a:t> or RGB. The set of all primary values of one type, such as R(</a:t>
            </a:r>
            <a:r>
              <a:rPr lang="en-GB" sz="1800" dirty="0" err="1"/>
              <a:t>ed</a:t>
            </a:r>
            <a:r>
              <a:rPr lang="en-GB" sz="1800" dirty="0"/>
              <a:t>) for example, is also know as a colour </a:t>
            </a:r>
            <a:r>
              <a:rPr lang="en-GB" sz="1800" b="1" dirty="0">
                <a:solidFill>
                  <a:srgbClr val="FF0000"/>
                </a:solidFill>
              </a:rPr>
              <a:t>channel</a:t>
            </a:r>
            <a:r>
              <a:rPr lang="en-GB" sz="1800" dirty="0">
                <a:solidFill>
                  <a:srgbClr val="FF0000"/>
                </a:solidFill>
              </a:rPr>
              <a:t> </a:t>
            </a:r>
            <a:r>
              <a:rPr lang="en-GB" sz="1800" dirty="0"/>
              <a:t>(or a </a:t>
            </a:r>
            <a:r>
              <a:rPr lang="en-GB" sz="1800" dirty="0">
                <a:solidFill>
                  <a:srgbClr val="FF0000"/>
                </a:solidFill>
              </a:rPr>
              <a:t>band</a:t>
            </a:r>
            <a:r>
              <a:rPr lang="en-GB" sz="1800" dirty="0"/>
              <a:t> in PIL).</a:t>
            </a:r>
          </a:p>
          <a:p>
            <a:pPr algn="just"/>
            <a:r>
              <a:rPr lang="en-GB" sz="1800" dirty="0"/>
              <a:t>However there are several ways of describing colour primaries such as </a:t>
            </a:r>
            <a:r>
              <a:rPr lang="en-GB" sz="1800" dirty="0">
                <a:solidFill>
                  <a:srgbClr val="FF0000"/>
                </a:solidFill>
              </a:rPr>
              <a:t>HSV</a:t>
            </a:r>
            <a:r>
              <a:rPr lang="en-GB" sz="1800" dirty="0"/>
              <a:t> (Hue, Saturation, Value), or </a:t>
            </a:r>
            <a:r>
              <a:rPr lang="en-GB" sz="1800" dirty="0">
                <a:solidFill>
                  <a:srgbClr val="FF0000"/>
                </a:solidFill>
              </a:rPr>
              <a:t>CMYK</a:t>
            </a:r>
            <a:r>
              <a:rPr lang="en-GB" sz="1800" dirty="0"/>
              <a:t> (Printing: cyan, magenta, yellow, and black)</a:t>
            </a:r>
          </a:p>
        </p:txBody>
      </p:sp>
      <p:pic>
        <p:nvPicPr>
          <p:cNvPr id="1026" name="Picture 2" descr="https://upload.wikimedia.org/wikipedia/commons/thumb/3/33/HSV_color_solid_cylinder_saturation_gray.png/1024px-HSV_color_solid_cylinder_saturation_gr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212259"/>
            <a:ext cx="2159764" cy="1619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1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Image Modes</a:t>
            </a:r>
          </a:p>
        </p:txBody>
      </p:sp>
      <p:sp>
        <p:nvSpPr>
          <p:cNvPr id="2" name="Subtitle 1"/>
          <p:cNvSpPr>
            <a:spLocks noGrp="1"/>
          </p:cNvSpPr>
          <p:nvPr>
            <p:ph type="subTitle" idx="1"/>
          </p:nvPr>
        </p:nvSpPr>
        <p:spPr>
          <a:xfrm>
            <a:off x="1432560" y="1850064"/>
            <a:ext cx="7406640" cy="3560136"/>
          </a:xfrm>
        </p:spPr>
        <p:txBody>
          <a:bodyPr>
            <a:noAutofit/>
          </a:bodyPr>
          <a:lstStyle/>
          <a:p>
            <a:r>
              <a:rPr lang="en-GB" sz="1800" b="1" dirty="0">
                <a:solidFill>
                  <a:srgbClr val="FF0000"/>
                </a:solidFill>
              </a:rPr>
              <a:t>Modes of PIL images</a:t>
            </a:r>
            <a:r>
              <a:rPr lang="en-GB" sz="1800" dirty="0"/>
              <a:t>:</a:t>
            </a:r>
          </a:p>
          <a:p>
            <a:r>
              <a:rPr lang="en-GB" sz="1800" dirty="0"/>
              <a:t> 1 (1bit pixels, black and white, stored with one pixel per byte)</a:t>
            </a:r>
          </a:p>
          <a:p>
            <a:r>
              <a:rPr lang="en-GB" sz="1800" dirty="0"/>
              <a:t> L (8bit pixels, black and white)</a:t>
            </a:r>
          </a:p>
          <a:p>
            <a:r>
              <a:rPr lang="en-GB" sz="1800" dirty="0"/>
              <a:t> P (8bit pixels, mapped to any other mode using a colour palette)</a:t>
            </a:r>
          </a:p>
          <a:p>
            <a:r>
              <a:rPr lang="en-GB" sz="1800" dirty="0"/>
              <a:t> RGB (3x8bit pixels, true colour)</a:t>
            </a:r>
          </a:p>
          <a:p>
            <a:r>
              <a:rPr lang="en-GB" sz="1800" dirty="0"/>
              <a:t> RGBA (4x8bit pixels, true colour with transparency mask)</a:t>
            </a:r>
          </a:p>
          <a:p>
            <a:r>
              <a:rPr lang="en-GB" sz="1800" dirty="0"/>
              <a:t> CMYK (4x8bit pixels, colour separation)</a:t>
            </a:r>
          </a:p>
          <a:p>
            <a:r>
              <a:rPr lang="en-GB" sz="1800" dirty="0"/>
              <a:t> </a:t>
            </a:r>
            <a:r>
              <a:rPr lang="en-GB" sz="1800" dirty="0" err="1"/>
              <a:t>YCbCr</a:t>
            </a:r>
            <a:r>
              <a:rPr lang="en-GB" sz="1800" dirty="0"/>
              <a:t> (3x8bit </a:t>
            </a:r>
            <a:r>
              <a:rPr lang="fr-FR" sz="1800" dirty="0"/>
              <a:t>pixels, </a:t>
            </a:r>
            <a:r>
              <a:rPr lang="fr-FR" sz="1800" dirty="0" err="1"/>
              <a:t>colour</a:t>
            </a:r>
            <a:r>
              <a:rPr lang="fr-FR" sz="1800" dirty="0"/>
              <a:t> </a:t>
            </a:r>
            <a:r>
              <a:rPr lang="fr-FR" sz="1800" dirty="0" err="1"/>
              <a:t>video</a:t>
            </a:r>
            <a:r>
              <a:rPr lang="fr-FR" sz="1800" dirty="0"/>
              <a:t> format) </a:t>
            </a:r>
          </a:p>
          <a:p>
            <a:r>
              <a:rPr lang="en-GB" sz="1800" dirty="0"/>
              <a:t> I (32bit signed integer pixels)</a:t>
            </a:r>
          </a:p>
          <a:p>
            <a:r>
              <a:rPr lang="en-GB" sz="1800" dirty="0"/>
              <a:t> F (32bit floating point pixels)</a:t>
            </a:r>
          </a:p>
        </p:txBody>
      </p:sp>
    </p:spTree>
    <p:extLst>
      <p:ext uri="{BB962C8B-B14F-4D97-AF65-F5344CB8AC3E}">
        <p14:creationId xmlns:p14="http://schemas.microsoft.com/office/powerpoint/2010/main" val="64279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Open an existing image</a:t>
            </a:r>
          </a:p>
        </p:txBody>
      </p:sp>
      <p:sp>
        <p:nvSpPr>
          <p:cNvPr id="5" name="Rounded Rectangle 4"/>
          <p:cNvSpPr/>
          <p:nvPr/>
        </p:nvSpPr>
        <p:spPr>
          <a:xfrm>
            <a:off x="1524000" y="2133600"/>
            <a:ext cx="5105400" cy="2743200"/>
          </a:xfrm>
          <a:prstGeom prst="roundRect">
            <a:avLst>
              <a:gd name="adj" fmla="val 5835"/>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b="1" dirty="0"/>
              <a:t>from</a:t>
            </a:r>
            <a:r>
              <a:rPr lang="en-GB" sz="1600" dirty="0"/>
              <a:t> PIL </a:t>
            </a:r>
            <a:r>
              <a:rPr lang="en-GB" sz="1600" b="1" dirty="0"/>
              <a:t>import</a:t>
            </a:r>
            <a:r>
              <a:rPr lang="en-GB" sz="1600" dirty="0"/>
              <a:t> Image</a:t>
            </a:r>
          </a:p>
          <a:p>
            <a:r>
              <a:rPr lang="en-GB" sz="1600" dirty="0" err="1"/>
              <a:t>imagePath</a:t>
            </a:r>
            <a:r>
              <a:rPr lang="en-GB" sz="1600" dirty="0"/>
              <a:t> = "/home/</a:t>
            </a:r>
            <a:r>
              <a:rPr lang="en-GB" sz="1600" dirty="0" err="1"/>
              <a:t>xyang</a:t>
            </a:r>
            <a:r>
              <a:rPr lang="en-GB" sz="1600" dirty="0"/>
              <a:t>/</a:t>
            </a:r>
            <a:r>
              <a:rPr lang="en-GB" sz="1600" dirty="0" err="1"/>
              <a:t>MayaScripts</a:t>
            </a:r>
            <a:r>
              <a:rPr lang="en-GB" sz="1600" dirty="0"/>
              <a:t>/"</a:t>
            </a:r>
          </a:p>
          <a:p>
            <a:r>
              <a:rPr lang="en-GB" sz="1600" dirty="0" err="1"/>
              <a:t>imageFileName</a:t>
            </a:r>
            <a:r>
              <a:rPr lang="en-GB" sz="1600" dirty="0"/>
              <a:t> = </a:t>
            </a:r>
            <a:r>
              <a:rPr lang="en-GB" sz="1600" dirty="0" err="1"/>
              <a:t>imagePath</a:t>
            </a:r>
            <a:r>
              <a:rPr lang="en-GB" sz="1600" dirty="0"/>
              <a:t> + "grey-world-map.jpg"</a:t>
            </a:r>
          </a:p>
          <a:p>
            <a:endParaRPr lang="en-GB" sz="1600" dirty="0"/>
          </a:p>
          <a:p>
            <a:r>
              <a:rPr lang="en-GB" sz="1600" dirty="0" err="1"/>
              <a:t>im</a:t>
            </a:r>
            <a:r>
              <a:rPr lang="en-GB" sz="1600" dirty="0"/>
              <a:t> </a:t>
            </a:r>
            <a:r>
              <a:rPr lang="en-GB" sz="1600" b="1" dirty="0"/>
              <a:t>=</a:t>
            </a:r>
            <a:r>
              <a:rPr lang="en-GB" sz="1600" dirty="0"/>
              <a:t> </a:t>
            </a:r>
            <a:r>
              <a:rPr lang="en-GB" sz="1600" dirty="0" err="1"/>
              <a:t>Image</a:t>
            </a:r>
            <a:r>
              <a:rPr lang="en-GB" sz="1600" b="1" dirty="0" err="1"/>
              <a:t>.</a:t>
            </a:r>
            <a:r>
              <a:rPr lang="en-GB" sz="1600" dirty="0" err="1"/>
              <a:t>open</a:t>
            </a:r>
            <a:r>
              <a:rPr lang="en-GB" sz="1600" dirty="0"/>
              <a:t>(</a:t>
            </a:r>
            <a:r>
              <a:rPr lang="en-GB" sz="1600" dirty="0" err="1"/>
              <a:t>imageFileName</a:t>
            </a:r>
            <a:r>
              <a:rPr lang="en-GB" sz="1600" dirty="0"/>
              <a:t>)</a:t>
            </a:r>
          </a:p>
          <a:p>
            <a:r>
              <a:rPr lang="en-GB" sz="1600" dirty="0"/>
              <a:t>print(</a:t>
            </a:r>
            <a:r>
              <a:rPr lang="en-GB" sz="1600" dirty="0" err="1"/>
              <a:t>im.format</a:t>
            </a:r>
            <a:r>
              <a:rPr lang="en-GB" sz="1600" dirty="0"/>
              <a:t>)</a:t>
            </a:r>
          </a:p>
          <a:p>
            <a:r>
              <a:rPr lang="en-GB" sz="1600" dirty="0"/>
              <a:t>print(</a:t>
            </a:r>
            <a:r>
              <a:rPr lang="en-GB" sz="1600" dirty="0" err="1"/>
              <a:t>im.size</a:t>
            </a:r>
            <a:r>
              <a:rPr lang="en-GB" sz="1600" dirty="0"/>
              <a:t>) # (626, 626)</a:t>
            </a:r>
          </a:p>
          <a:p>
            <a:r>
              <a:rPr lang="en-GB" sz="1600" dirty="0"/>
              <a:t>print(</a:t>
            </a:r>
            <a:r>
              <a:rPr lang="en-GB" sz="1600" dirty="0" err="1"/>
              <a:t>im.mode</a:t>
            </a:r>
            <a:r>
              <a:rPr lang="en-GB" sz="1600" dirty="0"/>
              <a:t>)</a:t>
            </a:r>
          </a:p>
          <a:p>
            <a:r>
              <a:rPr lang="en-GB" sz="1600" dirty="0" err="1"/>
              <a:t>im.show</a:t>
            </a:r>
            <a:r>
              <a:rPr lang="en-GB" sz="1600" dirty="0"/>
              <a:t>() # display the bitmap</a:t>
            </a:r>
          </a:p>
          <a:p>
            <a:endParaRPr lang="en-GB" sz="1600" dirty="0"/>
          </a:p>
        </p:txBody>
      </p:sp>
    </p:spTree>
    <p:extLst>
      <p:ext uri="{BB962C8B-B14F-4D97-AF65-F5344CB8AC3E}">
        <p14:creationId xmlns:p14="http://schemas.microsoft.com/office/powerpoint/2010/main" val="1144224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Create an image for drawing</a:t>
            </a:r>
          </a:p>
        </p:txBody>
      </p:sp>
      <p:sp>
        <p:nvSpPr>
          <p:cNvPr id="4" name="Rounded Rectangle 3"/>
          <p:cNvSpPr/>
          <p:nvPr/>
        </p:nvSpPr>
        <p:spPr>
          <a:xfrm>
            <a:off x="1524000" y="2209800"/>
            <a:ext cx="5105400" cy="685800"/>
          </a:xfrm>
          <a:prstGeom prst="roundRect">
            <a:avLst>
              <a:gd name="adj" fmla="val 5835"/>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b="1" dirty="0"/>
              <a:t>from</a:t>
            </a:r>
            <a:r>
              <a:rPr lang="en-GB" sz="1600" dirty="0"/>
              <a:t> PIL </a:t>
            </a:r>
            <a:r>
              <a:rPr lang="en-GB" sz="1600" b="1" dirty="0"/>
              <a:t>import</a:t>
            </a:r>
            <a:r>
              <a:rPr lang="en-GB" sz="1600" dirty="0"/>
              <a:t> Image, </a:t>
            </a:r>
            <a:r>
              <a:rPr lang="en-GB" sz="1600" dirty="0" err="1"/>
              <a:t>ImageDraw</a:t>
            </a:r>
            <a:endParaRPr lang="en-GB" sz="1600" dirty="0"/>
          </a:p>
          <a:p>
            <a:r>
              <a:rPr lang="en-GB" sz="1600" dirty="0" err="1"/>
              <a:t>img</a:t>
            </a:r>
            <a:r>
              <a:rPr lang="en-GB" sz="1600" dirty="0"/>
              <a:t> = </a:t>
            </a:r>
            <a:r>
              <a:rPr lang="en-GB" sz="1600" dirty="0" err="1"/>
              <a:t>Image.new</a:t>
            </a:r>
            <a:r>
              <a:rPr lang="en-GB" sz="1600" dirty="0"/>
              <a:t>(mode, size, </a:t>
            </a:r>
            <a:r>
              <a:rPr lang="en-GB" sz="1600" dirty="0" err="1"/>
              <a:t>color</a:t>
            </a:r>
            <a:r>
              <a:rPr lang="en-GB" sz="1600" dirty="0"/>
              <a:t>)</a:t>
            </a:r>
          </a:p>
        </p:txBody>
      </p:sp>
      <p:sp>
        <p:nvSpPr>
          <p:cNvPr id="3" name="Rectangle 2"/>
          <p:cNvSpPr/>
          <p:nvPr/>
        </p:nvSpPr>
        <p:spPr>
          <a:xfrm>
            <a:off x="1447800" y="3084493"/>
            <a:ext cx="6749562" cy="1169551"/>
          </a:xfrm>
          <a:prstGeom prst="rect">
            <a:avLst/>
          </a:prstGeom>
        </p:spPr>
        <p:txBody>
          <a:bodyPr wrap="square">
            <a:spAutoFit/>
          </a:bodyPr>
          <a:lstStyle/>
          <a:p>
            <a:r>
              <a:rPr lang="en-GB" sz="1400" dirty="0"/>
              <a:t>Creates a new image with the given mode and size. </a:t>
            </a:r>
          </a:p>
          <a:p>
            <a:r>
              <a:rPr lang="en-GB" sz="1400" b="1" dirty="0">
                <a:solidFill>
                  <a:srgbClr val="FF0000"/>
                </a:solidFill>
              </a:rPr>
              <a:t>Size</a:t>
            </a:r>
            <a:r>
              <a:rPr lang="en-GB" sz="1400" dirty="0"/>
              <a:t> is given as a 2tuple. </a:t>
            </a:r>
          </a:p>
          <a:p>
            <a:r>
              <a:rPr lang="en-GB" sz="1400" dirty="0"/>
              <a:t>The </a:t>
            </a:r>
            <a:r>
              <a:rPr lang="en-GB" sz="1400" b="1" dirty="0">
                <a:solidFill>
                  <a:srgbClr val="FF0000"/>
                </a:solidFill>
              </a:rPr>
              <a:t>colour</a:t>
            </a:r>
            <a:r>
              <a:rPr lang="en-GB" sz="1400" dirty="0"/>
              <a:t> is given as a single value for </a:t>
            </a:r>
            <a:r>
              <a:rPr lang="en-GB" sz="1400" dirty="0" err="1"/>
              <a:t>singleband</a:t>
            </a:r>
            <a:r>
              <a:rPr lang="en-GB" sz="1400" dirty="0"/>
              <a:t> images, and a tuple for multiband images (with one value for each band). If the colour argument is omitted, the image is filled with </a:t>
            </a:r>
            <a:r>
              <a:rPr lang="en-GB" sz="1400" b="1" dirty="0"/>
              <a:t>black</a:t>
            </a:r>
            <a:r>
              <a:rPr lang="en-GB" sz="1400" dirty="0"/>
              <a:t>. If the colour is None, the image is not initialised.</a:t>
            </a:r>
          </a:p>
        </p:txBody>
      </p:sp>
      <p:sp>
        <p:nvSpPr>
          <p:cNvPr id="7" name="Rounded Rectangle 6"/>
          <p:cNvSpPr/>
          <p:nvPr/>
        </p:nvSpPr>
        <p:spPr>
          <a:xfrm>
            <a:off x="1562100" y="4419600"/>
            <a:ext cx="3703320" cy="2209800"/>
          </a:xfrm>
          <a:prstGeom prst="roundRect">
            <a:avLst>
              <a:gd name="adj" fmla="val 8079"/>
            </a:avLst>
          </a:prstGeom>
        </p:spPr>
        <p:style>
          <a:lnRef idx="1">
            <a:schemeClr val="accent2"/>
          </a:lnRef>
          <a:fillRef idx="2">
            <a:schemeClr val="accent2"/>
          </a:fillRef>
          <a:effectRef idx="1">
            <a:schemeClr val="accent2"/>
          </a:effectRef>
          <a:fontRef idx="minor">
            <a:schemeClr val="dk1"/>
          </a:fontRef>
        </p:style>
        <p:txBody>
          <a:bodyPr rtlCol="0" anchor="ctr"/>
          <a:lstStyle/>
          <a:p>
            <a:pPr>
              <a:spcBef>
                <a:spcPts val="600"/>
              </a:spcBef>
            </a:pPr>
            <a:r>
              <a:rPr lang="en-GB" sz="1400" dirty="0"/>
              <a:t>#! /</a:t>
            </a:r>
            <a:r>
              <a:rPr lang="en-GB" sz="1400" dirty="0" err="1"/>
              <a:t>usr</a:t>
            </a:r>
            <a:r>
              <a:rPr lang="en-GB" sz="1400" dirty="0"/>
              <a:t>/bin/python</a:t>
            </a:r>
          </a:p>
          <a:p>
            <a:r>
              <a:rPr lang="en-GB" sz="1400" b="1" dirty="0"/>
              <a:t>from</a:t>
            </a:r>
            <a:r>
              <a:rPr lang="en-GB" sz="1400" dirty="0"/>
              <a:t> PIL </a:t>
            </a:r>
            <a:r>
              <a:rPr lang="en-GB" sz="1400" b="1" dirty="0"/>
              <a:t>import</a:t>
            </a:r>
            <a:r>
              <a:rPr lang="en-GB" sz="1400" dirty="0"/>
              <a:t> Image, </a:t>
            </a:r>
            <a:r>
              <a:rPr lang="en-GB" sz="1400" dirty="0" err="1"/>
              <a:t>ImageDraw</a:t>
            </a:r>
            <a:endParaRPr lang="en-GB" sz="1400" dirty="0"/>
          </a:p>
          <a:p>
            <a:pPr>
              <a:spcBef>
                <a:spcPts val="600"/>
              </a:spcBef>
            </a:pPr>
            <a:r>
              <a:rPr lang="en-GB" sz="1400" dirty="0"/>
              <a:t># create an 'RGB ' 300x300' bitmap</a:t>
            </a:r>
          </a:p>
          <a:p>
            <a:pPr>
              <a:spcBef>
                <a:spcPts val="600"/>
              </a:spcBef>
            </a:pPr>
            <a:r>
              <a:rPr lang="en-GB" sz="1400" dirty="0" err="1"/>
              <a:t>img</a:t>
            </a:r>
            <a:r>
              <a:rPr lang="en-GB" sz="1400" dirty="0"/>
              <a:t> = </a:t>
            </a:r>
            <a:r>
              <a:rPr lang="en-GB" sz="1400" dirty="0" err="1"/>
              <a:t>Image.new</a:t>
            </a:r>
            <a:r>
              <a:rPr lang="en-GB" sz="1400" dirty="0"/>
              <a:t>('RGB', (300, 300))</a:t>
            </a:r>
          </a:p>
          <a:p>
            <a:pPr>
              <a:spcBef>
                <a:spcPts val="600"/>
              </a:spcBef>
            </a:pPr>
            <a:r>
              <a:rPr lang="en-GB" sz="1400" dirty="0"/>
              <a:t>print </a:t>
            </a:r>
            <a:r>
              <a:rPr lang="en-GB" sz="1400" dirty="0" err="1"/>
              <a:t>img.size</a:t>
            </a:r>
            <a:r>
              <a:rPr lang="en-GB" sz="1400" dirty="0"/>
              <a:t> # print bitmap's width and height</a:t>
            </a:r>
          </a:p>
          <a:p>
            <a:pPr>
              <a:spcBef>
                <a:spcPts val="600"/>
              </a:spcBef>
            </a:pPr>
            <a:r>
              <a:rPr lang="en-GB" sz="1400" dirty="0"/>
              <a:t>print </a:t>
            </a:r>
            <a:r>
              <a:rPr lang="en-GB" sz="1400" dirty="0" err="1"/>
              <a:t>img.mode</a:t>
            </a:r>
            <a:r>
              <a:rPr lang="en-GB" sz="1400" dirty="0"/>
              <a:t> # print bitmap's mode</a:t>
            </a:r>
          </a:p>
          <a:p>
            <a:pPr>
              <a:spcBef>
                <a:spcPts val="600"/>
              </a:spcBef>
            </a:pPr>
            <a:r>
              <a:rPr lang="en-GB" sz="1400" dirty="0" err="1"/>
              <a:t>img.show</a:t>
            </a:r>
            <a:r>
              <a:rPr lang="en-GB" sz="1400" dirty="0"/>
              <a:t>() # display the bitmap</a:t>
            </a:r>
          </a:p>
        </p:txBody>
      </p:sp>
    </p:spTree>
    <p:extLst>
      <p:ext uri="{BB962C8B-B14F-4D97-AF65-F5344CB8AC3E}">
        <p14:creationId xmlns:p14="http://schemas.microsoft.com/office/powerpoint/2010/main" val="312164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Create a Draw object</a:t>
            </a:r>
          </a:p>
        </p:txBody>
      </p:sp>
      <p:sp>
        <p:nvSpPr>
          <p:cNvPr id="4" name="Rounded Rectangle 3"/>
          <p:cNvSpPr/>
          <p:nvPr/>
        </p:nvSpPr>
        <p:spPr>
          <a:xfrm>
            <a:off x="1524000" y="1832081"/>
            <a:ext cx="5105400" cy="1252411"/>
          </a:xfrm>
          <a:prstGeom prst="roundRect">
            <a:avLst>
              <a:gd name="adj" fmla="val 5835"/>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b="1" dirty="0"/>
              <a:t>from</a:t>
            </a:r>
            <a:r>
              <a:rPr lang="en-GB" sz="1600" dirty="0"/>
              <a:t> PIL </a:t>
            </a:r>
            <a:r>
              <a:rPr lang="en-GB" sz="1600" b="1" dirty="0"/>
              <a:t>import</a:t>
            </a:r>
            <a:r>
              <a:rPr lang="en-GB" sz="1600" dirty="0"/>
              <a:t> Image, </a:t>
            </a:r>
            <a:r>
              <a:rPr lang="en-GB" sz="1600" dirty="0" err="1"/>
              <a:t>ImageDraw</a:t>
            </a:r>
            <a:endParaRPr lang="en-GB" sz="1600" dirty="0"/>
          </a:p>
          <a:p>
            <a:r>
              <a:rPr lang="en-GB" sz="1600" dirty="0" err="1"/>
              <a:t>img</a:t>
            </a:r>
            <a:r>
              <a:rPr lang="en-GB" sz="1600" dirty="0"/>
              <a:t> = </a:t>
            </a:r>
            <a:r>
              <a:rPr lang="en-GB" sz="1600" dirty="0" err="1"/>
              <a:t>Image.new</a:t>
            </a:r>
            <a:r>
              <a:rPr lang="en-GB" sz="1600" dirty="0"/>
              <a:t>('RGB', (300, 300))</a:t>
            </a:r>
          </a:p>
          <a:p>
            <a:r>
              <a:rPr lang="en-GB" sz="1600" dirty="0"/>
              <a:t># create a 'Draw' object</a:t>
            </a:r>
          </a:p>
          <a:p>
            <a:r>
              <a:rPr lang="en-GB" sz="1600" dirty="0"/>
              <a:t>draw = </a:t>
            </a:r>
            <a:r>
              <a:rPr lang="en-GB" sz="1600" dirty="0" err="1"/>
              <a:t>ImageDraw.Draw</a:t>
            </a:r>
            <a:r>
              <a:rPr lang="en-GB" sz="1600" dirty="0"/>
              <a:t>(</a:t>
            </a:r>
            <a:r>
              <a:rPr lang="en-GB" sz="1600" dirty="0" err="1"/>
              <a:t>img</a:t>
            </a:r>
            <a:r>
              <a:rPr lang="en-GB" sz="1600" dirty="0"/>
              <a:t>)</a:t>
            </a:r>
          </a:p>
        </p:txBody>
      </p:sp>
      <p:sp>
        <p:nvSpPr>
          <p:cNvPr id="3" name="Rectangle 2"/>
          <p:cNvSpPr/>
          <p:nvPr/>
        </p:nvSpPr>
        <p:spPr>
          <a:xfrm>
            <a:off x="1447800" y="3084493"/>
            <a:ext cx="6749562" cy="3539430"/>
          </a:xfrm>
          <a:prstGeom prst="rect">
            <a:avLst/>
          </a:prstGeom>
        </p:spPr>
        <p:txBody>
          <a:bodyPr wrap="square">
            <a:spAutoFit/>
          </a:bodyPr>
          <a:lstStyle/>
          <a:p>
            <a:pPr algn="just"/>
            <a:r>
              <a:rPr lang="en-GB" sz="1400" dirty="0"/>
              <a:t>To draw shapes and lines on a bitmap using PIL one needs to create a </a:t>
            </a:r>
            <a:r>
              <a:rPr lang="en-GB" sz="1400" b="1" dirty="0">
                <a:solidFill>
                  <a:srgbClr val="FF0000"/>
                </a:solidFill>
              </a:rPr>
              <a:t>'Dra</a:t>
            </a:r>
            <a:r>
              <a:rPr lang="en-GB" sz="1400" dirty="0">
                <a:solidFill>
                  <a:srgbClr val="FF0000"/>
                </a:solidFill>
              </a:rPr>
              <a:t>w' </a:t>
            </a:r>
            <a:r>
              <a:rPr lang="en-GB" sz="1400" dirty="0"/>
              <a:t>object associated with a given bitmap object already created. Once a draw object is created, then one can use it to call procedures that draw lines, circles, arcs, polygons, rectangles, text, etc.</a:t>
            </a:r>
          </a:p>
          <a:p>
            <a:pPr algn="just"/>
            <a:r>
              <a:rPr lang="en-GB" sz="1400" dirty="0"/>
              <a:t>Drawing procedures, involve specifying geometric coordinates, rectangles or bounding boxes, and colours.</a:t>
            </a:r>
          </a:p>
          <a:p>
            <a:pPr algn="just"/>
            <a:endParaRPr lang="en-GB" sz="1400" dirty="0"/>
          </a:p>
          <a:p>
            <a:pPr algn="just"/>
            <a:r>
              <a:rPr lang="en-GB" sz="1400" b="1" dirty="0"/>
              <a:t>Coordinate: </a:t>
            </a:r>
            <a:r>
              <a:rPr lang="en-GB" sz="1400" dirty="0"/>
              <a:t>Cartesian pixel </a:t>
            </a:r>
            <a:r>
              <a:rPr lang="en-GB" sz="1400" dirty="0">
                <a:solidFill>
                  <a:srgbClr val="FF0000"/>
                </a:solidFill>
              </a:rPr>
              <a:t>coordinate</a:t>
            </a:r>
            <a:r>
              <a:rPr lang="en-GB" sz="1400" dirty="0"/>
              <a:t> system, with </a:t>
            </a:r>
            <a:r>
              <a:rPr lang="en-GB" sz="1400" dirty="0">
                <a:solidFill>
                  <a:srgbClr val="FF0000"/>
                </a:solidFill>
              </a:rPr>
              <a:t>(0,0) </a:t>
            </a:r>
            <a:r>
              <a:rPr lang="en-GB" sz="1400" dirty="0"/>
              <a:t>in the </a:t>
            </a:r>
            <a:r>
              <a:rPr lang="en-GB" sz="1400" b="1" dirty="0"/>
              <a:t>upper left corner</a:t>
            </a:r>
            <a:r>
              <a:rPr lang="en-GB" sz="1400" dirty="0"/>
              <a:t>. Coordinates are usually passed to the library as 2tuples (x, y). Rectangles, and bounding boxes, are represented as 4tuples, (x1,y1, x2, y2) with the upper left corner given first.</a:t>
            </a:r>
          </a:p>
          <a:p>
            <a:pPr algn="just"/>
            <a:endParaRPr lang="en-GB" sz="1400" b="1" dirty="0"/>
          </a:p>
          <a:p>
            <a:pPr algn="just"/>
            <a:r>
              <a:rPr lang="en-GB" sz="1400" b="1" dirty="0" err="1"/>
              <a:t>Color</a:t>
            </a:r>
            <a:r>
              <a:rPr lang="en-GB" sz="1400" b="1" dirty="0"/>
              <a:t>: </a:t>
            </a:r>
            <a:r>
              <a:rPr lang="en-GB" sz="1400" dirty="0"/>
              <a:t>For 'RGB' images one need to define 3tuples of (r, g, b), where </a:t>
            </a:r>
            <a:r>
              <a:rPr lang="en-GB" sz="1400" dirty="0" err="1"/>
              <a:t>r,g,b</a:t>
            </a:r>
            <a:r>
              <a:rPr lang="en-GB" sz="1400" dirty="0"/>
              <a:t> are values in the range [0, 255], in order to specify the colour of a pixel. For example: the tuple (255, 0, 0) is pure red, the tuple (0, 255, 0) is pure green, (0, 0, 255) is pure blue, (0, 0, 0) is black, and (255, 255, 255) is white. For one channel images, such as mode 'L' one need define one value, in the 'L' case it has to be within the range [0, 255], where 0 is black and 255 is white.</a:t>
            </a:r>
            <a:endParaRPr lang="en-GB" sz="1400" b="1" dirty="0"/>
          </a:p>
        </p:txBody>
      </p:sp>
    </p:spTree>
    <p:extLst>
      <p:ext uri="{BB962C8B-B14F-4D97-AF65-F5344CB8AC3E}">
        <p14:creationId xmlns:p14="http://schemas.microsoft.com/office/powerpoint/2010/main" val="2836316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Python Image Library</a:t>
            </a:r>
          </a:p>
        </p:txBody>
      </p:sp>
      <p:sp>
        <p:nvSpPr>
          <p:cNvPr id="2" name="Subtitle 1"/>
          <p:cNvSpPr>
            <a:spLocks noGrp="1"/>
          </p:cNvSpPr>
          <p:nvPr>
            <p:ph type="subTitle" idx="1"/>
          </p:nvPr>
        </p:nvSpPr>
        <p:spPr>
          <a:xfrm>
            <a:off x="1432560" y="1850064"/>
            <a:ext cx="7406640" cy="3560136"/>
          </a:xfrm>
        </p:spPr>
        <p:txBody>
          <a:bodyPr>
            <a:noAutofit/>
          </a:bodyPr>
          <a:lstStyle/>
          <a:p>
            <a:r>
              <a:rPr lang="en-GB" sz="2400" b="1" dirty="0">
                <a:solidFill>
                  <a:schemeClr val="tx1"/>
                </a:solidFill>
              </a:rPr>
              <a:t>Draw a line, width argument</a:t>
            </a:r>
          </a:p>
        </p:txBody>
      </p:sp>
      <p:sp>
        <p:nvSpPr>
          <p:cNvPr id="4" name="Rounded Rectangle 3"/>
          <p:cNvSpPr/>
          <p:nvPr/>
        </p:nvSpPr>
        <p:spPr>
          <a:xfrm>
            <a:off x="1441352" y="2409092"/>
            <a:ext cx="4426048" cy="2010508"/>
          </a:xfrm>
          <a:prstGeom prst="roundRect">
            <a:avLst>
              <a:gd name="adj" fmla="val 5770"/>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b="1" dirty="0"/>
              <a:t>from</a:t>
            </a:r>
            <a:r>
              <a:rPr lang="en-GB" sz="1400" dirty="0"/>
              <a:t> PIL </a:t>
            </a:r>
            <a:r>
              <a:rPr lang="en-GB" sz="1400" b="1" dirty="0"/>
              <a:t>import</a:t>
            </a:r>
            <a:r>
              <a:rPr lang="en-GB" sz="1400" dirty="0"/>
              <a:t> Image, </a:t>
            </a:r>
            <a:r>
              <a:rPr lang="en-GB" sz="1400" dirty="0" err="1"/>
              <a:t>ImageDraw</a:t>
            </a:r>
            <a:endParaRPr lang="en-GB" sz="1400" dirty="0"/>
          </a:p>
          <a:p>
            <a:r>
              <a:rPr lang="en-GB" sz="1400" dirty="0" err="1"/>
              <a:t>img</a:t>
            </a:r>
            <a:r>
              <a:rPr lang="en-GB" sz="1400" dirty="0"/>
              <a:t> = </a:t>
            </a:r>
            <a:r>
              <a:rPr lang="en-GB" sz="1400" dirty="0" err="1"/>
              <a:t>Image.new</a:t>
            </a:r>
            <a:r>
              <a:rPr lang="en-GB" sz="1400" dirty="0"/>
              <a:t>('RGB', (300, 300))</a:t>
            </a:r>
          </a:p>
          <a:p>
            <a:r>
              <a:rPr lang="en-GB" sz="1400" dirty="0"/>
              <a:t># create a 'Draw' object</a:t>
            </a:r>
          </a:p>
          <a:p>
            <a:r>
              <a:rPr lang="en-GB" sz="1400" dirty="0"/>
              <a:t>draw = </a:t>
            </a:r>
            <a:r>
              <a:rPr lang="en-GB" sz="1400" dirty="0" err="1"/>
              <a:t>ImageDraw.Draw</a:t>
            </a:r>
            <a:r>
              <a:rPr lang="en-GB" sz="1400" dirty="0"/>
              <a:t>(</a:t>
            </a:r>
            <a:r>
              <a:rPr lang="en-GB" sz="1400" dirty="0" err="1"/>
              <a:t>img</a:t>
            </a:r>
            <a:r>
              <a:rPr lang="en-GB" sz="1400" dirty="0"/>
              <a:t>)</a:t>
            </a:r>
          </a:p>
          <a:p>
            <a:endParaRPr lang="en-GB" sz="1400" dirty="0"/>
          </a:p>
          <a:p>
            <a:r>
              <a:rPr lang="en-GB" sz="1400" dirty="0" err="1"/>
              <a:t>draw.</a:t>
            </a:r>
            <a:r>
              <a:rPr lang="en-GB" sz="1400" b="1" dirty="0" err="1">
                <a:solidFill>
                  <a:srgbClr val="FF0000"/>
                </a:solidFill>
              </a:rPr>
              <a:t>line</a:t>
            </a:r>
            <a:r>
              <a:rPr lang="en-GB" sz="1400" dirty="0"/>
              <a:t>((0,0, 299,299), fill=(255, 0, 0), width=10)</a:t>
            </a:r>
          </a:p>
          <a:p>
            <a:endParaRPr lang="en-GB" sz="1400" dirty="0"/>
          </a:p>
          <a:p>
            <a:r>
              <a:rPr lang="en-GB" sz="1400" dirty="0" err="1"/>
              <a:t>img.show</a:t>
            </a:r>
            <a:r>
              <a:rPr lang="en-GB" sz="1400" dirty="0"/>
              <a:t>() # display the bitmap</a:t>
            </a:r>
          </a:p>
          <a:p>
            <a:r>
              <a:rPr lang="en-GB" sz="1400" dirty="0" err="1"/>
              <a:t>img.save</a:t>
            </a:r>
            <a:r>
              <a:rPr lang="en-GB" sz="1400" dirty="0"/>
              <a:t>('example_03.jpg') # save the bitmap into a file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476500"/>
            <a:ext cx="14859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ounded Rectangle 6"/>
          <p:cNvSpPr/>
          <p:nvPr/>
        </p:nvSpPr>
        <p:spPr>
          <a:xfrm>
            <a:off x="1412043" y="4572000"/>
            <a:ext cx="5489917" cy="1752600"/>
          </a:xfrm>
          <a:prstGeom prst="roundRect">
            <a:avLst>
              <a:gd name="adj" fmla="val 7372"/>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b="1" dirty="0"/>
              <a:t>from</a:t>
            </a:r>
            <a:r>
              <a:rPr lang="en-GB" sz="1400" dirty="0"/>
              <a:t> PIL </a:t>
            </a:r>
            <a:r>
              <a:rPr lang="en-GB" sz="1400" b="1" dirty="0"/>
              <a:t>import</a:t>
            </a:r>
            <a:r>
              <a:rPr lang="en-GB" sz="1400" dirty="0"/>
              <a:t> Image, </a:t>
            </a:r>
            <a:r>
              <a:rPr lang="en-GB" sz="1400" dirty="0" err="1"/>
              <a:t>ImageDraw</a:t>
            </a:r>
            <a:endParaRPr lang="en-GB" sz="1400" dirty="0"/>
          </a:p>
          <a:p>
            <a:r>
              <a:rPr lang="en-GB" sz="1400" dirty="0" err="1"/>
              <a:t>img</a:t>
            </a:r>
            <a:r>
              <a:rPr lang="en-GB" sz="1400" dirty="0"/>
              <a:t> = </a:t>
            </a:r>
            <a:r>
              <a:rPr lang="en-GB" sz="1400" dirty="0" err="1"/>
              <a:t>Image.new</a:t>
            </a:r>
            <a:r>
              <a:rPr lang="en-GB" sz="1400" dirty="0"/>
              <a:t>('RGB', (300, 300))</a:t>
            </a:r>
          </a:p>
          <a:p>
            <a:r>
              <a:rPr lang="en-GB" sz="1400" dirty="0"/>
              <a:t>draw = </a:t>
            </a:r>
            <a:r>
              <a:rPr lang="en-GB" sz="1400" dirty="0" err="1"/>
              <a:t>ImageDraw.Draw</a:t>
            </a:r>
            <a:r>
              <a:rPr lang="en-GB" sz="1400" dirty="0"/>
              <a:t>(</a:t>
            </a:r>
            <a:r>
              <a:rPr lang="en-GB" sz="1400" dirty="0" err="1"/>
              <a:t>img</a:t>
            </a:r>
            <a:r>
              <a:rPr lang="en-GB" sz="1400" dirty="0"/>
              <a:t>)</a:t>
            </a:r>
          </a:p>
          <a:p>
            <a:endParaRPr lang="en-GB" sz="1400" dirty="0"/>
          </a:p>
          <a:p>
            <a:r>
              <a:rPr lang="en-GB" sz="1400" dirty="0" err="1"/>
              <a:t>draw.</a:t>
            </a:r>
            <a:r>
              <a:rPr lang="en-GB" sz="1400" b="1" dirty="0" err="1">
                <a:solidFill>
                  <a:srgbClr val="FF0000"/>
                </a:solidFill>
              </a:rPr>
              <a:t>rectangle</a:t>
            </a:r>
            <a:r>
              <a:rPr lang="en-GB" sz="1400" dirty="0"/>
              <a:t>((100,100, 199,199), fill=(0, 255, 0), outline=(255, 0, 0))</a:t>
            </a:r>
          </a:p>
          <a:p>
            <a:endParaRPr lang="en-GB" sz="1400" dirty="0"/>
          </a:p>
          <a:p>
            <a:r>
              <a:rPr lang="en-GB" sz="1400" dirty="0" err="1"/>
              <a:t>img.show</a:t>
            </a:r>
            <a:r>
              <a:rPr lang="en-GB" sz="1400" dirty="0"/>
              <a:t>() </a:t>
            </a:r>
          </a:p>
          <a:p>
            <a:r>
              <a:rPr lang="en-GB" sz="1400" dirty="0" err="1"/>
              <a:t>img.save</a:t>
            </a:r>
            <a:r>
              <a:rPr lang="en-GB" sz="1400" dirty="0"/>
              <a:t>('example_04.jpg')</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8758" y="4541227"/>
            <a:ext cx="1780442" cy="1780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3670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Python Image Library</a:t>
            </a:r>
          </a:p>
        </p:txBody>
      </p:sp>
      <p:sp>
        <p:nvSpPr>
          <p:cNvPr id="2" name="Subtitle 1"/>
          <p:cNvSpPr>
            <a:spLocks noGrp="1"/>
          </p:cNvSpPr>
          <p:nvPr>
            <p:ph type="subTitle" idx="1"/>
          </p:nvPr>
        </p:nvSpPr>
        <p:spPr>
          <a:xfrm>
            <a:off x="1432560" y="1850064"/>
            <a:ext cx="7406640" cy="3560136"/>
          </a:xfrm>
        </p:spPr>
        <p:txBody>
          <a:bodyPr>
            <a:noAutofit/>
          </a:bodyPr>
          <a:lstStyle/>
          <a:p>
            <a:r>
              <a:rPr lang="en-GB" sz="2400" b="1" dirty="0">
                <a:solidFill>
                  <a:schemeClr val="tx1"/>
                </a:solidFill>
              </a:rPr>
              <a:t>To set pixel values</a:t>
            </a:r>
          </a:p>
        </p:txBody>
      </p:sp>
      <p:sp>
        <p:nvSpPr>
          <p:cNvPr id="11" name="Rounded Rectangle 10"/>
          <p:cNvSpPr/>
          <p:nvPr/>
        </p:nvSpPr>
        <p:spPr>
          <a:xfrm>
            <a:off x="1441352" y="2409092"/>
            <a:ext cx="5797648" cy="2924908"/>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b="1" dirty="0"/>
              <a:t>from</a:t>
            </a:r>
            <a:r>
              <a:rPr lang="en-GB" sz="1400" dirty="0"/>
              <a:t> PIL </a:t>
            </a:r>
            <a:r>
              <a:rPr lang="en-GB" sz="1400" b="1" dirty="0"/>
              <a:t>import</a:t>
            </a:r>
            <a:r>
              <a:rPr lang="en-GB" sz="1400" dirty="0"/>
              <a:t> Image</a:t>
            </a:r>
          </a:p>
          <a:p>
            <a:r>
              <a:rPr lang="en-GB" sz="1400" dirty="0"/>
              <a:t> </a:t>
            </a:r>
          </a:p>
          <a:p>
            <a:r>
              <a:rPr lang="en-GB" sz="1400" dirty="0" err="1"/>
              <a:t>img</a:t>
            </a:r>
            <a:r>
              <a:rPr lang="en-GB" sz="1400" dirty="0"/>
              <a:t> = </a:t>
            </a:r>
            <a:r>
              <a:rPr lang="en-GB" sz="1400" dirty="0" err="1"/>
              <a:t>Image.new</a:t>
            </a:r>
            <a:r>
              <a:rPr lang="en-GB" sz="1400" dirty="0"/>
              <a:t>( 'RGB', (255,255), "black") # create a new black image</a:t>
            </a:r>
          </a:p>
          <a:p>
            <a:endParaRPr lang="en-GB" sz="1400" dirty="0"/>
          </a:p>
          <a:p>
            <a:r>
              <a:rPr lang="en-GB" sz="1400" dirty="0">
                <a:solidFill>
                  <a:srgbClr val="FF0000"/>
                </a:solidFill>
              </a:rPr>
              <a:t>pixels = </a:t>
            </a:r>
            <a:r>
              <a:rPr lang="en-GB" sz="1400" dirty="0" err="1">
                <a:solidFill>
                  <a:srgbClr val="FF0000"/>
                </a:solidFill>
              </a:rPr>
              <a:t>img.load</a:t>
            </a:r>
            <a:r>
              <a:rPr lang="en-GB" sz="1400" dirty="0">
                <a:solidFill>
                  <a:srgbClr val="FF0000"/>
                </a:solidFill>
              </a:rPr>
              <a:t>( ) </a:t>
            </a:r>
            <a:r>
              <a:rPr lang="en-GB" sz="1400" dirty="0"/>
              <a:t># create the pixel map</a:t>
            </a:r>
          </a:p>
          <a:p>
            <a:r>
              <a:rPr lang="en-GB" sz="1400" dirty="0"/>
              <a:t> </a:t>
            </a:r>
          </a:p>
          <a:p>
            <a:r>
              <a:rPr lang="en-GB" sz="1400" dirty="0"/>
              <a:t>for i in range(</a:t>
            </a:r>
            <a:r>
              <a:rPr lang="en-GB" sz="1400" dirty="0" err="1"/>
              <a:t>img.size</a:t>
            </a:r>
            <a:r>
              <a:rPr lang="en-GB" sz="1400" dirty="0"/>
              <a:t>[0]):    # for every pixel:</a:t>
            </a:r>
          </a:p>
          <a:p>
            <a:r>
              <a:rPr lang="en-GB" sz="1400" dirty="0"/>
              <a:t>    for j in range(</a:t>
            </a:r>
            <a:r>
              <a:rPr lang="en-GB" sz="1400" dirty="0" err="1"/>
              <a:t>img.size</a:t>
            </a:r>
            <a:r>
              <a:rPr lang="en-GB" sz="1400" dirty="0"/>
              <a:t>[1]):</a:t>
            </a:r>
          </a:p>
          <a:p>
            <a:r>
              <a:rPr lang="en-GB" sz="1400" dirty="0"/>
              <a:t>        pixels[</a:t>
            </a:r>
            <a:r>
              <a:rPr lang="en-GB" sz="1400" dirty="0" err="1"/>
              <a:t>i,j</a:t>
            </a:r>
            <a:r>
              <a:rPr lang="en-GB" sz="1400" dirty="0"/>
              <a:t>] = (i, j, 100) # set the colour accordingly</a:t>
            </a:r>
          </a:p>
          <a:p>
            <a:r>
              <a:rPr lang="en-GB" sz="1400" dirty="0"/>
              <a:t> </a:t>
            </a:r>
          </a:p>
          <a:p>
            <a:r>
              <a:rPr lang="en-GB" sz="1400" dirty="0" err="1"/>
              <a:t>img.show</a:t>
            </a:r>
            <a:r>
              <a:rPr lang="en-GB" sz="1400" dirty="0"/>
              <a:t>()</a:t>
            </a:r>
          </a:p>
        </p:txBody>
      </p:sp>
      <p:pic>
        <p:nvPicPr>
          <p:cNvPr id="1026" name="Picture 2" descr="http://upload.wikimedia.org/wikipedia/commons/b/b4/PIL_Tutorial_-_Pixel_editing_-_examp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0325" y="4038600"/>
            <a:ext cx="2428875"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468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Python Image Library</a:t>
            </a:r>
          </a:p>
        </p:txBody>
      </p:sp>
      <p:sp>
        <p:nvSpPr>
          <p:cNvPr id="2" name="Subtitle 1"/>
          <p:cNvSpPr>
            <a:spLocks noGrp="1"/>
          </p:cNvSpPr>
          <p:nvPr>
            <p:ph type="subTitle" idx="1"/>
          </p:nvPr>
        </p:nvSpPr>
        <p:spPr>
          <a:xfrm>
            <a:off x="1432560" y="1850064"/>
            <a:ext cx="7406640" cy="3560136"/>
          </a:xfrm>
        </p:spPr>
        <p:txBody>
          <a:bodyPr>
            <a:noAutofit/>
          </a:bodyPr>
          <a:lstStyle/>
          <a:p>
            <a:r>
              <a:rPr lang="en-GB" sz="2400" b="1" dirty="0">
                <a:solidFill>
                  <a:schemeClr val="tx1"/>
                </a:solidFill>
              </a:rPr>
              <a:t>Other functions in PIL</a:t>
            </a:r>
          </a:p>
          <a:p>
            <a:pPr marL="370332" indent="-342900">
              <a:buFont typeface="Arial" pitchFamily="34" charset="0"/>
              <a:buChar char="•"/>
            </a:pPr>
            <a:r>
              <a:rPr lang="en-GB" sz="2000" dirty="0">
                <a:solidFill>
                  <a:schemeClr val="tx1"/>
                </a:solidFill>
              </a:rPr>
              <a:t>filters such as blur, emboss, sharpen, contour, </a:t>
            </a:r>
            <a:r>
              <a:rPr lang="en-GB" sz="2000" dirty="0" err="1">
                <a:solidFill>
                  <a:schemeClr val="tx1"/>
                </a:solidFill>
              </a:rPr>
              <a:t>Edge_enhance</a:t>
            </a:r>
            <a:r>
              <a:rPr lang="en-GB" sz="2000" dirty="0">
                <a:solidFill>
                  <a:schemeClr val="tx1"/>
                </a:solidFill>
              </a:rPr>
              <a:t>, smooth, </a:t>
            </a:r>
            <a:r>
              <a:rPr lang="en-GB" sz="2000" dirty="0" err="1">
                <a:solidFill>
                  <a:schemeClr val="tx1"/>
                </a:solidFill>
              </a:rPr>
              <a:t>find_edges</a:t>
            </a:r>
            <a:endParaRPr lang="en-GB" sz="2000" dirty="0">
              <a:solidFill>
                <a:schemeClr val="tx1"/>
              </a:solidFill>
            </a:endParaRPr>
          </a:p>
          <a:p>
            <a:pPr marL="370332" indent="-342900">
              <a:buFont typeface="Arial" pitchFamily="34" charset="0"/>
              <a:buChar char="•"/>
            </a:pPr>
            <a:r>
              <a:rPr lang="en-GB" sz="2000" dirty="0">
                <a:solidFill>
                  <a:schemeClr val="tx1"/>
                </a:solidFill>
              </a:rPr>
              <a:t>Colorize, flip, </a:t>
            </a:r>
            <a:r>
              <a:rPr lang="en-GB" sz="2000" dirty="0" err="1">
                <a:solidFill>
                  <a:schemeClr val="tx1"/>
                </a:solidFill>
              </a:rPr>
              <a:t>grayscale</a:t>
            </a:r>
            <a:r>
              <a:rPr lang="en-GB" sz="2000" dirty="0">
                <a:solidFill>
                  <a:schemeClr val="tx1"/>
                </a:solidFill>
              </a:rPr>
              <a:t>, invert, mirror, solarize, </a:t>
            </a:r>
            <a:r>
              <a:rPr lang="en-GB" sz="2000" dirty="0" err="1">
                <a:solidFill>
                  <a:schemeClr val="tx1"/>
                </a:solidFill>
              </a:rPr>
              <a:t>posterize</a:t>
            </a:r>
            <a:r>
              <a:rPr lang="en-GB" sz="2000" dirty="0">
                <a:solidFill>
                  <a:schemeClr val="tx1"/>
                </a:solidFill>
              </a:rPr>
              <a:t> watermark</a:t>
            </a:r>
          </a:p>
          <a:p>
            <a:pPr marL="370332" indent="-342900">
              <a:buFont typeface="Arial" pitchFamily="34" charset="0"/>
              <a:buChar char="•"/>
            </a:pPr>
            <a:r>
              <a:rPr lang="en-GB" sz="2000" dirty="0">
                <a:solidFill>
                  <a:schemeClr val="tx1"/>
                </a:solidFill>
              </a:rPr>
              <a:t>Loading (</a:t>
            </a:r>
            <a:r>
              <a:rPr lang="en-GB" sz="2000" dirty="0" err="1">
                <a:solidFill>
                  <a:schemeClr val="tx1"/>
                </a:solidFill>
              </a:rPr>
              <a:t>Image.open</a:t>
            </a:r>
            <a:r>
              <a:rPr lang="en-GB" sz="2000" dirty="0">
                <a:solidFill>
                  <a:schemeClr val="tx1"/>
                </a:solidFill>
              </a:rPr>
              <a:t>) and saving (</a:t>
            </a:r>
            <a:r>
              <a:rPr lang="en-GB" sz="2000" dirty="0" err="1">
                <a:solidFill>
                  <a:schemeClr val="tx1"/>
                </a:solidFill>
              </a:rPr>
              <a:t>Image.save</a:t>
            </a:r>
            <a:r>
              <a:rPr lang="en-GB" sz="2000" dirty="0">
                <a:solidFill>
                  <a:schemeClr val="tx1"/>
                </a:solidFill>
              </a:rPr>
              <a:t>) an image. Formats supported in reading AND writing: bmp, gif, jpg, </a:t>
            </a:r>
            <a:r>
              <a:rPr lang="en-GB" sz="2000" dirty="0" err="1">
                <a:solidFill>
                  <a:schemeClr val="tx1"/>
                </a:solidFill>
              </a:rPr>
              <a:t>msp</a:t>
            </a:r>
            <a:r>
              <a:rPr lang="en-GB" sz="2000" dirty="0">
                <a:solidFill>
                  <a:schemeClr val="tx1"/>
                </a:solidFill>
              </a:rPr>
              <a:t>, </a:t>
            </a:r>
            <a:r>
              <a:rPr lang="en-GB" sz="2000" dirty="0" err="1">
                <a:solidFill>
                  <a:schemeClr val="tx1"/>
                </a:solidFill>
              </a:rPr>
              <a:t>pcx</a:t>
            </a:r>
            <a:r>
              <a:rPr lang="en-GB" sz="2000" dirty="0">
                <a:solidFill>
                  <a:schemeClr val="tx1"/>
                </a:solidFill>
              </a:rPr>
              <a:t>, </a:t>
            </a:r>
            <a:r>
              <a:rPr lang="en-GB" sz="2000" dirty="0" err="1">
                <a:solidFill>
                  <a:schemeClr val="tx1"/>
                </a:solidFill>
              </a:rPr>
              <a:t>png</a:t>
            </a:r>
            <a:r>
              <a:rPr lang="en-GB" sz="2000" dirty="0">
                <a:solidFill>
                  <a:schemeClr val="tx1"/>
                </a:solidFill>
              </a:rPr>
              <a:t>, ppm, tiff and </a:t>
            </a:r>
            <a:r>
              <a:rPr lang="en-GB" sz="2000" dirty="0" err="1">
                <a:solidFill>
                  <a:schemeClr val="tx1"/>
                </a:solidFill>
              </a:rPr>
              <a:t>xbm</a:t>
            </a:r>
            <a:r>
              <a:rPr lang="en-GB" sz="2000" dirty="0">
                <a:solidFill>
                  <a:schemeClr val="tx1"/>
                </a:solidFill>
              </a:rPr>
              <a:t>.</a:t>
            </a:r>
            <a:endParaRPr lang="en-GB" sz="2400" dirty="0">
              <a:solidFill>
                <a:schemeClr val="tx1"/>
              </a:solidFill>
            </a:endParaRPr>
          </a:p>
        </p:txBody>
      </p:sp>
    </p:spTree>
    <p:extLst>
      <p:ext uri="{BB962C8B-B14F-4D97-AF65-F5344CB8AC3E}">
        <p14:creationId xmlns:p14="http://schemas.microsoft.com/office/powerpoint/2010/main" val="2859678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a:t>Image processing</a:t>
            </a:r>
          </a:p>
        </p:txBody>
      </p:sp>
      <p:sp>
        <p:nvSpPr>
          <p:cNvPr id="2" name="Subtitle 1"/>
          <p:cNvSpPr>
            <a:spLocks noGrp="1"/>
          </p:cNvSpPr>
          <p:nvPr>
            <p:ph type="subTitle" idx="1"/>
          </p:nvPr>
        </p:nvSpPr>
        <p:spPr>
          <a:xfrm>
            <a:off x="1432560" y="1850064"/>
            <a:ext cx="7406640" cy="3560136"/>
          </a:xfrm>
        </p:spPr>
        <p:txBody>
          <a:bodyPr>
            <a:noAutofit/>
          </a:bodyPr>
          <a:lstStyle/>
          <a:p>
            <a:r>
              <a:rPr lang="en-GB" sz="2000" dirty="0"/>
              <a:t>The Python Imaging Library (PIL) allows for a wide range of image processing operations.:</a:t>
            </a:r>
          </a:p>
          <a:p>
            <a:pPr marL="370332" indent="-342900">
              <a:buFont typeface="Arial" pitchFamily="34" charset="0"/>
              <a:buChar char="•"/>
            </a:pPr>
            <a:r>
              <a:rPr lang="en-GB" sz="2000" dirty="0"/>
              <a:t>per-pixel manipulations,</a:t>
            </a:r>
          </a:p>
          <a:p>
            <a:pPr marL="370332" indent="-342900">
              <a:buFont typeface="Arial" pitchFamily="34" charset="0"/>
              <a:buChar char="•"/>
            </a:pPr>
            <a:r>
              <a:rPr lang="en-GB" sz="2000" dirty="0"/>
              <a:t>masking and transparency handling,</a:t>
            </a:r>
          </a:p>
          <a:p>
            <a:pPr marL="370332" indent="-342900">
              <a:buFont typeface="Arial" pitchFamily="34" charset="0"/>
              <a:buChar char="•"/>
            </a:pPr>
            <a:r>
              <a:rPr lang="en-GB" sz="2000" dirty="0"/>
              <a:t>image filtering, such as blurring, contouring, smoothing, or edge finding,</a:t>
            </a:r>
          </a:p>
          <a:p>
            <a:pPr marL="370332" indent="-342900">
              <a:buFont typeface="Arial" pitchFamily="34" charset="0"/>
              <a:buChar char="•"/>
            </a:pPr>
            <a:r>
              <a:rPr lang="en-GB" sz="2000" dirty="0"/>
              <a:t>image enhancing, such as sharpening, adjusting brightness, contrast or </a:t>
            </a:r>
            <a:r>
              <a:rPr lang="en-GB" sz="2000" dirty="0" err="1"/>
              <a:t>color</a:t>
            </a:r>
            <a:r>
              <a:rPr lang="en-GB" sz="2000" dirty="0"/>
              <a:t>,</a:t>
            </a:r>
          </a:p>
          <a:p>
            <a:pPr marL="370332" indent="-342900">
              <a:buFont typeface="Arial" pitchFamily="34" charset="0"/>
              <a:buChar char="•"/>
            </a:pPr>
            <a:r>
              <a:rPr lang="en-GB" sz="2000" dirty="0"/>
              <a:t>adding text to images and much more.</a:t>
            </a:r>
          </a:p>
          <a:p>
            <a:r>
              <a:rPr lang="en-GB" sz="2000" dirty="0"/>
              <a:t> </a:t>
            </a:r>
          </a:p>
          <a:p>
            <a:endParaRPr lang="en-GB" sz="2000" dirty="0"/>
          </a:p>
        </p:txBody>
      </p:sp>
    </p:spTree>
    <p:extLst>
      <p:ext uri="{BB962C8B-B14F-4D97-AF65-F5344CB8AC3E}">
        <p14:creationId xmlns:p14="http://schemas.microsoft.com/office/powerpoint/2010/main" val="3160920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err="1"/>
              <a:t>OpenImageIO</a:t>
            </a:r>
            <a:r>
              <a:rPr lang="en-US" dirty="0"/>
              <a:t> library</a:t>
            </a:r>
          </a:p>
        </p:txBody>
      </p:sp>
      <p:sp>
        <p:nvSpPr>
          <p:cNvPr id="7" name="Subtitle 1">
            <a:extLst>
              <a:ext uri="{FF2B5EF4-FFF2-40B4-BE49-F238E27FC236}">
                <a16:creationId xmlns:a16="http://schemas.microsoft.com/office/drawing/2014/main" id="{47954E72-EEA0-4EC5-816B-013811D7B70D}"/>
              </a:ext>
            </a:extLst>
          </p:cNvPr>
          <p:cNvSpPr>
            <a:spLocks noGrp="1"/>
          </p:cNvSpPr>
          <p:nvPr>
            <p:ph type="subTitle" idx="1"/>
          </p:nvPr>
        </p:nvSpPr>
        <p:spPr>
          <a:xfrm>
            <a:off x="1432560" y="2133600"/>
            <a:ext cx="7406640" cy="3276600"/>
          </a:xfrm>
        </p:spPr>
        <p:txBody>
          <a:bodyPr>
            <a:noAutofit/>
          </a:bodyPr>
          <a:lstStyle/>
          <a:p>
            <a:r>
              <a:rPr lang="en-GB" sz="1800" dirty="0" err="1"/>
              <a:t>OpenImageIO</a:t>
            </a:r>
            <a:r>
              <a:rPr lang="en-GB" sz="1800" dirty="0"/>
              <a:t> is a library for reading and writing images, and a bunch of related classes, utilities, and applications.  There is a particular emphasis on formats and functionality used in professional, large-scale animation and visual effects work for film.  </a:t>
            </a:r>
          </a:p>
          <a:p>
            <a:r>
              <a:rPr lang="en-GB" sz="1800" dirty="0" err="1"/>
              <a:t>OpenImageIO</a:t>
            </a:r>
            <a:r>
              <a:rPr lang="en-GB" sz="1800" dirty="0"/>
              <a:t> is used extensively in animation and VFX studios all over the world, and is also incorporated into several commercial products.</a:t>
            </a:r>
          </a:p>
          <a:p>
            <a:r>
              <a:rPr lang="en-GB" sz="1800" b="1" dirty="0"/>
              <a:t>Format plugins </a:t>
            </a:r>
            <a:r>
              <a:rPr lang="en-GB" sz="1800" dirty="0"/>
              <a:t>for TIFF, JPEG/JFIF, </a:t>
            </a:r>
            <a:r>
              <a:rPr lang="en-GB" sz="1800" dirty="0" err="1"/>
              <a:t>OpenEXR</a:t>
            </a:r>
            <a:r>
              <a:rPr lang="en-GB" sz="1800" dirty="0"/>
              <a:t>, PNG, HDR/RGBE, ICO, BMP, Targa, JPEG-2000, </a:t>
            </a:r>
            <a:r>
              <a:rPr lang="en-GB" sz="1800" dirty="0" err="1"/>
              <a:t>RMan</a:t>
            </a:r>
            <a:r>
              <a:rPr lang="en-GB" sz="1800" dirty="0"/>
              <a:t> </a:t>
            </a:r>
            <a:r>
              <a:rPr lang="en-GB" sz="1800" dirty="0" err="1"/>
              <a:t>Zfile</a:t>
            </a:r>
            <a:r>
              <a:rPr lang="en-GB" sz="1800" dirty="0"/>
              <a:t>, FITS, DDS, Softimage PIC, PNM, DPX, </a:t>
            </a:r>
            <a:r>
              <a:rPr lang="en-GB" sz="1800" dirty="0" err="1"/>
              <a:t>Cineon</a:t>
            </a:r>
            <a:r>
              <a:rPr lang="en-GB" sz="1800" dirty="0"/>
              <a:t>, IFF, Field3D, </a:t>
            </a:r>
            <a:r>
              <a:rPr lang="en-GB" sz="1800" dirty="0" err="1"/>
              <a:t>Ptex</a:t>
            </a:r>
            <a:r>
              <a:rPr lang="en-GB" sz="1800" dirty="0"/>
              <a:t>, Photoshop PSD, </a:t>
            </a:r>
            <a:r>
              <a:rPr lang="en-GB" sz="1800" dirty="0" err="1"/>
              <a:t>Wavefront</a:t>
            </a:r>
            <a:r>
              <a:rPr lang="en-GB" sz="1800" dirty="0"/>
              <a:t> RLA, SGI, </a:t>
            </a:r>
            <a:r>
              <a:rPr lang="en-GB" sz="1800" dirty="0" err="1"/>
              <a:t>WebP</a:t>
            </a:r>
            <a:r>
              <a:rPr lang="en-GB" sz="1800" dirty="0"/>
              <a:t>, GIF, and a variety of "RAW" digital camera formats, and a variety of movie formats (readable as individual frames). </a:t>
            </a:r>
          </a:p>
          <a:p>
            <a:r>
              <a:rPr lang="en-GB" sz="1800" dirty="0"/>
              <a:t>An </a:t>
            </a:r>
            <a:r>
              <a:rPr lang="en-GB" sz="1800" b="1" dirty="0" err="1"/>
              <a:t>ImageBuf</a:t>
            </a:r>
            <a:r>
              <a:rPr lang="en-GB" sz="1800" dirty="0"/>
              <a:t> class that makes it easy to deal with whole images, and a whole bunch of image processing algorithms (in the </a:t>
            </a:r>
            <a:r>
              <a:rPr lang="en-GB" sz="1800" b="1" dirty="0" err="1"/>
              <a:t>ImageBufAlgo</a:t>
            </a:r>
            <a:r>
              <a:rPr lang="en-GB" sz="1800" dirty="0"/>
              <a:t> namespace) that operate on them.</a:t>
            </a:r>
          </a:p>
          <a:p>
            <a:r>
              <a:rPr lang="en-GB" sz="1800" dirty="0"/>
              <a:t>C++ and Python bindings</a:t>
            </a:r>
          </a:p>
          <a:p>
            <a:endParaRPr lang="en-GB" sz="2000" dirty="0"/>
          </a:p>
        </p:txBody>
      </p:sp>
    </p:spTree>
    <p:extLst>
      <p:ext uri="{BB962C8B-B14F-4D97-AF65-F5344CB8AC3E}">
        <p14:creationId xmlns:p14="http://schemas.microsoft.com/office/powerpoint/2010/main" val="3702289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err="1"/>
              <a:t>OpenImageIO</a:t>
            </a:r>
            <a:r>
              <a:rPr lang="en-US" dirty="0"/>
              <a:t> library</a:t>
            </a:r>
          </a:p>
        </p:txBody>
      </p:sp>
      <p:sp>
        <p:nvSpPr>
          <p:cNvPr id="8" name="Rounded Rectangle 3">
            <a:extLst>
              <a:ext uri="{FF2B5EF4-FFF2-40B4-BE49-F238E27FC236}">
                <a16:creationId xmlns:a16="http://schemas.microsoft.com/office/drawing/2014/main" id="{E278AB45-5C08-41D7-874A-C89CD8D86C98}"/>
              </a:ext>
            </a:extLst>
          </p:cNvPr>
          <p:cNvSpPr/>
          <p:nvPr/>
        </p:nvSpPr>
        <p:spPr>
          <a:xfrm>
            <a:off x="1423416" y="1905000"/>
            <a:ext cx="4901184" cy="4114800"/>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dirty="0"/>
              <a:t>import </a:t>
            </a:r>
            <a:r>
              <a:rPr lang="en-GB" sz="1400" dirty="0" err="1"/>
              <a:t>OpenImageIO</a:t>
            </a:r>
            <a:r>
              <a:rPr lang="en-GB" sz="1400" dirty="0"/>
              <a:t> as OIIO</a:t>
            </a:r>
          </a:p>
          <a:p>
            <a:r>
              <a:rPr lang="en-GB" sz="1400" dirty="0"/>
              <a:t>from OIIO import </a:t>
            </a:r>
            <a:r>
              <a:rPr lang="en-GB" sz="1400" dirty="0" err="1"/>
              <a:t>ImageInput</a:t>
            </a:r>
            <a:r>
              <a:rPr lang="en-GB" sz="1400" dirty="0"/>
              <a:t>, </a:t>
            </a:r>
            <a:r>
              <a:rPr lang="en-GB" sz="1400" dirty="0" err="1"/>
              <a:t>ImageOutput</a:t>
            </a:r>
            <a:endParaRPr lang="en-GB" sz="1400" dirty="0"/>
          </a:p>
          <a:p>
            <a:r>
              <a:rPr lang="en-GB" sz="1400" dirty="0"/>
              <a:t>from OIIO import </a:t>
            </a:r>
            <a:r>
              <a:rPr lang="en-GB" sz="1400" dirty="0" err="1"/>
              <a:t>ImageBuf</a:t>
            </a:r>
            <a:r>
              <a:rPr lang="en-GB" sz="1400" dirty="0"/>
              <a:t>, </a:t>
            </a:r>
            <a:r>
              <a:rPr lang="en-GB" sz="1400" dirty="0" err="1"/>
              <a:t>ImageSpec</a:t>
            </a:r>
            <a:r>
              <a:rPr lang="en-GB" sz="1400" dirty="0"/>
              <a:t>, </a:t>
            </a:r>
            <a:r>
              <a:rPr lang="en-GB" sz="1400" dirty="0" err="1"/>
              <a:t>ImageBufAlgo</a:t>
            </a:r>
            <a:endParaRPr lang="en-GB" sz="1400" dirty="0"/>
          </a:p>
          <a:p>
            <a:endParaRPr lang="en-GB" sz="1400" dirty="0"/>
          </a:p>
          <a:p>
            <a:r>
              <a:rPr lang="en-GB" sz="1400" dirty="0"/>
              <a:t>input = </a:t>
            </a:r>
            <a:r>
              <a:rPr lang="en-GB" sz="1400" dirty="0" err="1"/>
              <a:t>ImageInput.open</a:t>
            </a:r>
            <a:r>
              <a:rPr lang="en-GB" sz="1400" dirty="0"/>
              <a:t>(filename)</a:t>
            </a:r>
          </a:p>
          <a:p>
            <a:r>
              <a:rPr lang="en-GB" sz="1400" dirty="0"/>
              <a:t>if not input :</a:t>
            </a:r>
          </a:p>
          <a:p>
            <a:r>
              <a:rPr lang="en-GB" sz="1400" dirty="0"/>
              <a:t>	print 'Could not open "' + filename + '"'</a:t>
            </a:r>
          </a:p>
          <a:p>
            <a:r>
              <a:rPr lang="en-GB" sz="1400" dirty="0"/>
              <a:t>	print "\</a:t>
            </a:r>
            <a:r>
              <a:rPr lang="en-GB" sz="1400" dirty="0" err="1"/>
              <a:t>tError</a:t>
            </a:r>
            <a:r>
              <a:rPr lang="en-GB" sz="1400" dirty="0"/>
              <a:t>: ", </a:t>
            </a:r>
            <a:r>
              <a:rPr lang="en-GB" sz="1400" dirty="0" err="1"/>
              <a:t>oiio.geterror</a:t>
            </a:r>
            <a:r>
              <a:rPr lang="en-GB" sz="1400" dirty="0"/>
              <a:t>()</a:t>
            </a:r>
          </a:p>
          <a:p>
            <a:r>
              <a:rPr lang="en-GB" sz="1400" dirty="0"/>
              <a:t>	return</a:t>
            </a:r>
          </a:p>
          <a:p>
            <a:r>
              <a:rPr lang="en-GB" sz="1400" dirty="0" err="1"/>
              <a:t>nchans</a:t>
            </a:r>
            <a:r>
              <a:rPr lang="en-GB" sz="1400" dirty="0"/>
              <a:t> = </a:t>
            </a:r>
            <a:r>
              <a:rPr lang="en-GB" sz="1400" dirty="0" err="1"/>
              <a:t>spec.nchannels</a:t>
            </a:r>
            <a:endParaRPr lang="en-GB" sz="1400" dirty="0"/>
          </a:p>
          <a:p>
            <a:r>
              <a:rPr lang="en-GB" sz="1400" dirty="0"/>
              <a:t>pixels = </a:t>
            </a:r>
            <a:r>
              <a:rPr lang="en-GB" sz="1400" dirty="0" err="1"/>
              <a:t>input.read_image</a:t>
            </a:r>
            <a:r>
              <a:rPr lang="en-GB" sz="1400" dirty="0"/>
              <a:t>()</a:t>
            </a:r>
          </a:p>
          <a:p>
            <a:r>
              <a:rPr lang="en-GB" sz="1400" dirty="0"/>
              <a:t>if not pixels :</a:t>
            </a:r>
          </a:p>
          <a:p>
            <a:r>
              <a:rPr lang="en-GB" sz="1400" dirty="0"/>
              <a:t>	print "Could not read:", </a:t>
            </a:r>
            <a:r>
              <a:rPr lang="en-GB" sz="1400" dirty="0" err="1"/>
              <a:t>input.geterror</a:t>
            </a:r>
            <a:r>
              <a:rPr lang="en-GB" sz="1400" dirty="0"/>
              <a:t>()</a:t>
            </a:r>
          </a:p>
          <a:p>
            <a:r>
              <a:rPr lang="en-GB" sz="1400" dirty="0"/>
              <a:t>	return</a:t>
            </a:r>
          </a:p>
          <a:p>
            <a:r>
              <a:rPr lang="en-GB" sz="1400" dirty="0" err="1"/>
              <a:t>input.close</a:t>
            </a:r>
            <a:r>
              <a:rPr lang="en-GB" sz="1400" dirty="0"/>
              <a:t>()    # we're done with the file at this point</a:t>
            </a:r>
          </a:p>
          <a:p>
            <a:r>
              <a:rPr lang="en-GB" sz="1400" dirty="0" err="1"/>
              <a:t>minval</a:t>
            </a:r>
            <a:r>
              <a:rPr lang="en-GB" sz="1400" dirty="0"/>
              <a:t> = pixels[0][0]   # initialize to the first pixel value</a:t>
            </a:r>
          </a:p>
          <a:p>
            <a:r>
              <a:rPr lang="en-GB" sz="1400" dirty="0" err="1"/>
              <a:t>maxval</a:t>
            </a:r>
            <a:r>
              <a:rPr lang="en-GB" sz="1400" dirty="0"/>
              <a:t> = pixels[0][0]</a:t>
            </a:r>
          </a:p>
        </p:txBody>
      </p:sp>
      <p:sp>
        <p:nvSpPr>
          <p:cNvPr id="5" name="Rectangle 4">
            <a:extLst>
              <a:ext uri="{FF2B5EF4-FFF2-40B4-BE49-F238E27FC236}">
                <a16:creationId xmlns:a16="http://schemas.microsoft.com/office/drawing/2014/main" id="{A92518B7-834B-4FDC-8DDA-4B52D09B6BD2}"/>
              </a:ext>
            </a:extLst>
          </p:cNvPr>
          <p:cNvSpPr/>
          <p:nvPr/>
        </p:nvSpPr>
        <p:spPr>
          <a:xfrm>
            <a:off x="1450982" y="6368534"/>
            <a:ext cx="6689858" cy="369332"/>
          </a:xfrm>
          <a:prstGeom prst="rect">
            <a:avLst/>
          </a:prstGeom>
        </p:spPr>
        <p:txBody>
          <a:bodyPr wrap="square">
            <a:spAutoFit/>
          </a:bodyPr>
          <a:lstStyle/>
          <a:p>
            <a:r>
              <a:rPr lang="en-GB" dirty="0">
                <a:hlinkClick r:id="rId2"/>
              </a:rPr>
              <a:t>https://openimageio.readthedocs.io/en/master/pythonbindings.html#</a:t>
            </a:r>
            <a:endParaRPr lang="en-GB" dirty="0"/>
          </a:p>
        </p:txBody>
      </p:sp>
    </p:spTree>
    <p:extLst>
      <p:ext uri="{BB962C8B-B14F-4D97-AF65-F5344CB8AC3E}">
        <p14:creationId xmlns:p14="http://schemas.microsoft.com/office/powerpoint/2010/main" val="4250346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err="1"/>
              <a:t>OpenMaya.Mimage</a:t>
            </a:r>
            <a:r>
              <a:rPr lang="en-US" dirty="0"/>
              <a:t> if no PIL</a:t>
            </a:r>
          </a:p>
        </p:txBody>
      </p:sp>
      <p:sp>
        <p:nvSpPr>
          <p:cNvPr id="3" name="Rectangle 2">
            <a:extLst>
              <a:ext uri="{FF2B5EF4-FFF2-40B4-BE49-F238E27FC236}">
                <a16:creationId xmlns:a16="http://schemas.microsoft.com/office/drawing/2014/main" id="{672E803B-A69E-4513-ABF7-514D9C9562F3}"/>
              </a:ext>
            </a:extLst>
          </p:cNvPr>
          <p:cNvSpPr/>
          <p:nvPr/>
        </p:nvSpPr>
        <p:spPr>
          <a:xfrm>
            <a:off x="1423416" y="6009752"/>
            <a:ext cx="7254240" cy="307777"/>
          </a:xfrm>
          <a:prstGeom prst="rect">
            <a:avLst/>
          </a:prstGeom>
        </p:spPr>
        <p:txBody>
          <a:bodyPr wrap="square">
            <a:spAutoFit/>
          </a:bodyPr>
          <a:lstStyle/>
          <a:p>
            <a:r>
              <a:rPr lang="en-GB" sz="1400" dirty="0">
                <a:hlinkClick r:id="rId2"/>
              </a:rPr>
              <a:t>https://github.com/NCCA/ScriptingForDCC/blob/master/TerrainFromMap/MayaImage.py</a:t>
            </a:r>
            <a:endParaRPr lang="en-GB" sz="1400" dirty="0"/>
          </a:p>
        </p:txBody>
      </p:sp>
      <p:sp>
        <p:nvSpPr>
          <p:cNvPr id="4" name="Rectangle 3">
            <a:extLst>
              <a:ext uri="{FF2B5EF4-FFF2-40B4-BE49-F238E27FC236}">
                <a16:creationId xmlns:a16="http://schemas.microsoft.com/office/drawing/2014/main" id="{58E45910-249C-45D4-AFA5-4436F0605F1E}"/>
              </a:ext>
            </a:extLst>
          </p:cNvPr>
          <p:cNvSpPr/>
          <p:nvPr/>
        </p:nvSpPr>
        <p:spPr>
          <a:xfrm>
            <a:off x="1423416" y="6400800"/>
            <a:ext cx="6568440" cy="307777"/>
          </a:xfrm>
          <a:prstGeom prst="rect">
            <a:avLst/>
          </a:prstGeom>
        </p:spPr>
        <p:txBody>
          <a:bodyPr wrap="square">
            <a:spAutoFit/>
          </a:bodyPr>
          <a:lstStyle/>
          <a:p>
            <a:r>
              <a:rPr lang="en-GB" sz="1400" dirty="0">
                <a:hlinkClick r:id="rId3"/>
              </a:rPr>
              <a:t>https://github.com/NCCA/DemoPythonCode/blob/master/Maya/ImageMapExample.py</a:t>
            </a:r>
            <a:endParaRPr lang="en-GB" sz="1400" dirty="0"/>
          </a:p>
        </p:txBody>
      </p:sp>
      <p:sp>
        <p:nvSpPr>
          <p:cNvPr id="8" name="Rounded Rectangle 3">
            <a:extLst>
              <a:ext uri="{FF2B5EF4-FFF2-40B4-BE49-F238E27FC236}">
                <a16:creationId xmlns:a16="http://schemas.microsoft.com/office/drawing/2014/main" id="{E0C2594E-67BE-4D23-9F74-1E7736923B24}"/>
              </a:ext>
            </a:extLst>
          </p:cNvPr>
          <p:cNvSpPr/>
          <p:nvPr/>
        </p:nvSpPr>
        <p:spPr>
          <a:xfrm>
            <a:off x="1423416" y="1915353"/>
            <a:ext cx="6120384" cy="4094399"/>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200" dirty="0"/>
              <a:t>import </a:t>
            </a:r>
            <a:r>
              <a:rPr lang="en-GB" sz="1200" dirty="0" err="1"/>
              <a:t>maya.api.OpenMaya</a:t>
            </a:r>
            <a:r>
              <a:rPr lang="en-GB" sz="1200" dirty="0"/>
              <a:t> as </a:t>
            </a:r>
            <a:r>
              <a:rPr lang="en-GB" sz="1200" dirty="0" err="1"/>
              <a:t>OpenMaya</a:t>
            </a:r>
            <a:endParaRPr lang="en-GB" sz="1200" dirty="0"/>
          </a:p>
          <a:p>
            <a:r>
              <a:rPr lang="en-GB" sz="1200" dirty="0"/>
              <a:t>import </a:t>
            </a:r>
            <a:r>
              <a:rPr lang="en-GB" sz="1200" dirty="0" err="1"/>
              <a:t>ctypes</a:t>
            </a:r>
            <a:endParaRPr lang="en-GB" sz="1200" dirty="0"/>
          </a:p>
          <a:p>
            <a:endParaRPr lang="en-GB" sz="1200" dirty="0"/>
          </a:p>
          <a:p>
            <a:r>
              <a:rPr lang="en-GB" sz="1200" dirty="0"/>
              <a:t>class </a:t>
            </a:r>
            <a:r>
              <a:rPr lang="en-GB" sz="1200" dirty="0" err="1"/>
              <a:t>MayaImage</a:t>
            </a:r>
            <a:r>
              <a:rPr lang="en-GB" sz="1200" dirty="0"/>
              <a:t> :</a:t>
            </a:r>
          </a:p>
          <a:p>
            <a:r>
              <a:rPr lang="en-GB" sz="1200" dirty="0"/>
              <a:t>  """ The main class, needs to be constructed with a filename """</a:t>
            </a:r>
          </a:p>
          <a:p>
            <a:r>
              <a:rPr lang="en-GB" sz="1200" dirty="0"/>
              <a:t>  def __</a:t>
            </a:r>
            <a:r>
              <a:rPr lang="en-GB" sz="1200" dirty="0" err="1"/>
              <a:t>init</a:t>
            </a:r>
            <a:r>
              <a:rPr lang="en-GB" sz="1200" dirty="0"/>
              <a:t>__(</a:t>
            </a:r>
            <a:r>
              <a:rPr lang="en-GB" sz="1200" dirty="0" err="1"/>
              <a:t>self,filename</a:t>
            </a:r>
            <a:r>
              <a:rPr lang="en-GB" sz="1200" dirty="0"/>
              <a:t>) :</a:t>
            </a:r>
          </a:p>
          <a:p>
            <a:r>
              <a:rPr lang="en-GB" sz="1200" dirty="0"/>
              <a:t>    """ constructor pass in the name of the file to load (absolute file name with path) """</a:t>
            </a:r>
          </a:p>
          <a:p>
            <a:r>
              <a:rPr lang="en-GB" sz="1200" dirty="0"/>
              <a:t>    # create an </a:t>
            </a:r>
            <a:r>
              <a:rPr lang="en-GB" sz="1200" dirty="0" err="1"/>
              <a:t>MImage</a:t>
            </a:r>
            <a:r>
              <a:rPr lang="en-GB" sz="1200" dirty="0"/>
              <a:t> object</a:t>
            </a:r>
          </a:p>
          <a:p>
            <a:r>
              <a:rPr lang="en-GB" sz="1200" dirty="0"/>
              <a:t>    </a:t>
            </a:r>
            <a:r>
              <a:rPr lang="en-GB" sz="1200" dirty="0" err="1"/>
              <a:t>self.image</a:t>
            </a:r>
            <a:r>
              <a:rPr lang="en-GB" sz="1200" dirty="0"/>
              <a:t>=</a:t>
            </a:r>
            <a:r>
              <a:rPr lang="en-GB" sz="1200" dirty="0" err="1"/>
              <a:t>OpenMaya.MImage</a:t>
            </a:r>
            <a:r>
              <a:rPr lang="en-GB" sz="1200" dirty="0"/>
              <a:t>()</a:t>
            </a:r>
          </a:p>
          <a:p>
            <a:r>
              <a:rPr lang="en-GB" sz="1200" dirty="0"/>
              <a:t>    # read from file </a:t>
            </a:r>
            <a:r>
              <a:rPr lang="en-GB" sz="1200" dirty="0" err="1"/>
              <a:t>MImage</a:t>
            </a:r>
            <a:r>
              <a:rPr lang="en-GB" sz="1200" dirty="0"/>
              <a:t> should handle errors for us so no need to check</a:t>
            </a:r>
          </a:p>
          <a:p>
            <a:r>
              <a:rPr lang="en-GB" sz="1200" dirty="0"/>
              <a:t>    </a:t>
            </a:r>
            <a:r>
              <a:rPr lang="en-GB" sz="1200" dirty="0" err="1"/>
              <a:t>self.image.readFromFile</a:t>
            </a:r>
            <a:r>
              <a:rPr lang="en-GB" sz="1200" dirty="0"/>
              <a:t>(filename)</a:t>
            </a:r>
          </a:p>
          <a:p>
            <a:r>
              <a:rPr lang="en-GB" sz="1200" dirty="0"/>
              <a:t>    </a:t>
            </a:r>
            <a:r>
              <a:rPr lang="en-GB" sz="1200" dirty="0" err="1"/>
              <a:t>self.width,self.height</a:t>
            </a:r>
            <a:r>
              <a:rPr lang="en-GB" sz="1200" dirty="0"/>
              <a:t>=</a:t>
            </a:r>
            <a:r>
              <a:rPr lang="en-GB" sz="1200" dirty="0" err="1"/>
              <a:t>self.image.getSize</a:t>
            </a:r>
            <a:r>
              <a:rPr lang="en-GB" sz="1200" dirty="0"/>
              <a:t>()</a:t>
            </a:r>
          </a:p>
          <a:p>
            <a:r>
              <a:rPr lang="en-GB" sz="1200" dirty="0"/>
              <a:t>    # get the pixel data</a:t>
            </a:r>
          </a:p>
          <a:p>
            <a:r>
              <a:rPr lang="en-GB" sz="1200" dirty="0"/>
              <a:t>    </a:t>
            </a:r>
            <a:r>
              <a:rPr lang="en-GB" sz="1200" dirty="0" err="1"/>
              <a:t>self.charPixelPtr</a:t>
            </a:r>
            <a:r>
              <a:rPr lang="en-GB" sz="1200" dirty="0"/>
              <a:t> = </a:t>
            </a:r>
            <a:r>
              <a:rPr lang="en-GB" sz="1200" dirty="0" err="1"/>
              <a:t>ctypes.cast</a:t>
            </a:r>
            <a:r>
              <a:rPr lang="en-GB" sz="1200" dirty="0"/>
              <a:t>(</a:t>
            </a:r>
            <a:r>
              <a:rPr lang="en-GB" sz="1200" dirty="0" err="1"/>
              <a:t>self.image.pixels</a:t>
            </a:r>
            <a:r>
              <a:rPr lang="en-GB" sz="1200" dirty="0"/>
              <a:t>(), </a:t>
            </a:r>
            <a:r>
              <a:rPr lang="en-GB" sz="1200" dirty="0" err="1"/>
              <a:t>ctypes.POINTER</a:t>
            </a:r>
            <a:r>
              <a:rPr lang="en-GB" sz="1200" dirty="0"/>
              <a:t>(</a:t>
            </a:r>
            <a:r>
              <a:rPr lang="en-GB" sz="1200" dirty="0" err="1"/>
              <a:t>ctypes.c_char</a:t>
            </a:r>
            <a:r>
              <a:rPr lang="en-GB" sz="1200" dirty="0"/>
              <a:t>) )</a:t>
            </a:r>
          </a:p>
          <a:p>
            <a:endParaRPr lang="en-GB" sz="1200" dirty="0"/>
          </a:p>
          <a:p>
            <a:r>
              <a:rPr lang="en-GB" sz="1200" dirty="0"/>
              <a:t>    # query to see if it's an RGB or RGBA image, this will be True or False</a:t>
            </a:r>
          </a:p>
          <a:p>
            <a:r>
              <a:rPr lang="en-GB" sz="1200" dirty="0"/>
              <a:t>    </a:t>
            </a:r>
            <a:r>
              <a:rPr lang="en-GB" sz="1200" dirty="0" err="1"/>
              <a:t>self.hasAlpha</a:t>
            </a:r>
            <a:r>
              <a:rPr lang="en-GB" sz="1200" dirty="0"/>
              <a:t>=</a:t>
            </a:r>
            <a:r>
              <a:rPr lang="en-GB" sz="1200" dirty="0" err="1"/>
              <a:t>self.image.isRGBA</a:t>
            </a:r>
            <a:r>
              <a:rPr lang="en-GB" sz="1200" dirty="0"/>
              <a:t>()</a:t>
            </a:r>
          </a:p>
          <a:p>
            <a:r>
              <a:rPr lang="en-GB" sz="1200" dirty="0"/>
              <a:t>    # if we are doing RGB we step into the image array in 3's</a:t>
            </a:r>
          </a:p>
          <a:p>
            <a:r>
              <a:rPr lang="en-GB" sz="1200" dirty="0"/>
              <a:t>    # data is always packed as RGBA even if no alpha present</a:t>
            </a:r>
          </a:p>
          <a:p>
            <a:r>
              <a:rPr lang="en-GB" sz="1200" dirty="0"/>
              <a:t>    </a:t>
            </a:r>
            <a:r>
              <a:rPr lang="en-GB" sz="1200" dirty="0" err="1"/>
              <a:t>self.imgStep</a:t>
            </a:r>
            <a:r>
              <a:rPr lang="en-GB" sz="1200" dirty="0"/>
              <a:t>=4</a:t>
            </a:r>
          </a:p>
        </p:txBody>
      </p:sp>
    </p:spTree>
    <p:extLst>
      <p:ext uri="{BB962C8B-B14F-4D97-AF65-F5344CB8AC3E}">
        <p14:creationId xmlns:p14="http://schemas.microsoft.com/office/powerpoint/2010/main" val="446052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US" dirty="0" err="1"/>
              <a:t>OpenMaya.Mimage</a:t>
            </a:r>
            <a:r>
              <a:rPr lang="en-US" dirty="0"/>
              <a:t> (Jon Macey)</a:t>
            </a:r>
          </a:p>
        </p:txBody>
      </p:sp>
      <p:sp>
        <p:nvSpPr>
          <p:cNvPr id="3" name="Rectangle 2">
            <a:extLst>
              <a:ext uri="{FF2B5EF4-FFF2-40B4-BE49-F238E27FC236}">
                <a16:creationId xmlns:a16="http://schemas.microsoft.com/office/drawing/2014/main" id="{672E803B-A69E-4513-ABF7-514D9C9562F3}"/>
              </a:ext>
            </a:extLst>
          </p:cNvPr>
          <p:cNvSpPr/>
          <p:nvPr/>
        </p:nvSpPr>
        <p:spPr>
          <a:xfrm>
            <a:off x="1410018" y="6117307"/>
            <a:ext cx="7254240" cy="307777"/>
          </a:xfrm>
          <a:prstGeom prst="rect">
            <a:avLst/>
          </a:prstGeom>
        </p:spPr>
        <p:txBody>
          <a:bodyPr wrap="square">
            <a:spAutoFit/>
          </a:bodyPr>
          <a:lstStyle/>
          <a:p>
            <a:r>
              <a:rPr lang="en-GB" sz="1400" dirty="0">
                <a:hlinkClick r:id="rId2"/>
              </a:rPr>
              <a:t>https://github.com/NCCA/ScriptingForDCC/blob/master/TerrainFromMap/MayaImage.py</a:t>
            </a:r>
            <a:endParaRPr lang="en-GB" sz="1400" dirty="0"/>
          </a:p>
        </p:txBody>
      </p:sp>
      <p:sp>
        <p:nvSpPr>
          <p:cNvPr id="4" name="Rectangle 3">
            <a:extLst>
              <a:ext uri="{FF2B5EF4-FFF2-40B4-BE49-F238E27FC236}">
                <a16:creationId xmlns:a16="http://schemas.microsoft.com/office/drawing/2014/main" id="{58E45910-249C-45D4-AFA5-4436F0605F1E}"/>
              </a:ext>
            </a:extLst>
          </p:cNvPr>
          <p:cNvSpPr/>
          <p:nvPr/>
        </p:nvSpPr>
        <p:spPr>
          <a:xfrm>
            <a:off x="1423416" y="6400800"/>
            <a:ext cx="6568440" cy="307777"/>
          </a:xfrm>
          <a:prstGeom prst="rect">
            <a:avLst/>
          </a:prstGeom>
        </p:spPr>
        <p:txBody>
          <a:bodyPr wrap="square">
            <a:spAutoFit/>
          </a:bodyPr>
          <a:lstStyle/>
          <a:p>
            <a:r>
              <a:rPr lang="en-GB" sz="1400" dirty="0">
                <a:hlinkClick r:id="rId3"/>
              </a:rPr>
              <a:t>https://github.com/NCCA/DemoPythonCode/blob/master/Maya/ImageMapExample.py</a:t>
            </a:r>
            <a:endParaRPr lang="en-GB" sz="1400" dirty="0"/>
          </a:p>
        </p:txBody>
      </p:sp>
      <p:sp>
        <p:nvSpPr>
          <p:cNvPr id="8" name="Rounded Rectangle 3">
            <a:extLst>
              <a:ext uri="{FF2B5EF4-FFF2-40B4-BE49-F238E27FC236}">
                <a16:creationId xmlns:a16="http://schemas.microsoft.com/office/drawing/2014/main" id="{E0C2594E-67BE-4D23-9F74-1E7736923B24}"/>
              </a:ext>
            </a:extLst>
          </p:cNvPr>
          <p:cNvSpPr/>
          <p:nvPr/>
        </p:nvSpPr>
        <p:spPr>
          <a:xfrm>
            <a:off x="1423416" y="1915353"/>
            <a:ext cx="6120384" cy="4094399"/>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200" dirty="0"/>
              <a:t>def </a:t>
            </a:r>
            <a:r>
              <a:rPr lang="en-GB" sz="1200" dirty="0" err="1"/>
              <a:t>getPixel</a:t>
            </a:r>
            <a:r>
              <a:rPr lang="en-GB" sz="1200" dirty="0"/>
              <a:t>(</a:t>
            </a:r>
            <a:r>
              <a:rPr lang="en-GB" sz="1200" dirty="0" err="1"/>
              <a:t>self,x,y</a:t>
            </a:r>
            <a:r>
              <a:rPr lang="en-GB" sz="1200" dirty="0"/>
              <a:t>) :</a:t>
            </a:r>
          </a:p>
          <a:p>
            <a:r>
              <a:rPr lang="en-GB" sz="1200" dirty="0"/>
              <a:t>    """ get the pixel data at </a:t>
            </a:r>
            <a:r>
              <a:rPr lang="en-GB" sz="1200" dirty="0" err="1"/>
              <a:t>x,y</a:t>
            </a:r>
            <a:r>
              <a:rPr lang="en-GB" sz="1200" dirty="0"/>
              <a:t> and return a 3/4 tuple depending upon type """</a:t>
            </a:r>
          </a:p>
          <a:p>
            <a:r>
              <a:rPr lang="en-GB" sz="1200" dirty="0"/>
              <a:t>    # check the bounds to make sure we are in the correct area</a:t>
            </a:r>
          </a:p>
          <a:p>
            <a:r>
              <a:rPr lang="en-GB" sz="1200" dirty="0"/>
              <a:t>    if x&lt;0 or x&gt;</a:t>
            </a:r>
            <a:r>
              <a:rPr lang="en-GB" sz="1200" dirty="0" err="1"/>
              <a:t>self.width</a:t>
            </a:r>
            <a:r>
              <a:rPr lang="en-GB" sz="1200" dirty="0"/>
              <a:t> :</a:t>
            </a:r>
          </a:p>
          <a:p>
            <a:r>
              <a:rPr lang="en-GB" sz="1200" dirty="0"/>
              <a:t>      print "error x out of bounds\n"</a:t>
            </a:r>
          </a:p>
          <a:p>
            <a:r>
              <a:rPr lang="en-GB" sz="1200" dirty="0"/>
              <a:t>      return</a:t>
            </a:r>
          </a:p>
          <a:p>
            <a:r>
              <a:rPr lang="en-GB" sz="1200" dirty="0"/>
              <a:t>    if y&lt;0 or y&gt;</a:t>
            </a:r>
            <a:r>
              <a:rPr lang="en-GB" sz="1200" dirty="0" err="1"/>
              <a:t>self.height</a:t>
            </a:r>
            <a:r>
              <a:rPr lang="en-GB" sz="1200" dirty="0"/>
              <a:t> :</a:t>
            </a:r>
          </a:p>
          <a:p>
            <a:r>
              <a:rPr lang="en-GB" sz="1200" dirty="0"/>
              <a:t>      print "error y our of bounds\n"</a:t>
            </a:r>
          </a:p>
          <a:p>
            <a:r>
              <a:rPr lang="en-GB" sz="1200" dirty="0"/>
              <a:t>      return</a:t>
            </a:r>
          </a:p>
          <a:p>
            <a:r>
              <a:rPr lang="en-GB" sz="1200" dirty="0"/>
              <a:t>    # now calculate the index into the 1D array of data</a:t>
            </a:r>
          </a:p>
          <a:p>
            <a:r>
              <a:rPr lang="en-GB" sz="1200" dirty="0"/>
              <a:t>    index=(y*</a:t>
            </a:r>
            <a:r>
              <a:rPr lang="en-GB" sz="1200" dirty="0" err="1"/>
              <a:t>self.width</a:t>
            </a:r>
            <a:r>
              <a:rPr lang="en-GB" sz="1200" dirty="0"/>
              <a:t>*4)+x*4</a:t>
            </a:r>
          </a:p>
          <a:p>
            <a:r>
              <a:rPr lang="en-GB" sz="1200" dirty="0"/>
              <a:t>    # grab the pixels we need to convert from char to integer ordinal type so use </a:t>
            </a:r>
            <a:r>
              <a:rPr lang="en-GB" sz="1200" dirty="0" err="1"/>
              <a:t>ord</a:t>
            </a:r>
            <a:endParaRPr lang="en-GB" sz="1200" dirty="0"/>
          </a:p>
          <a:p>
            <a:r>
              <a:rPr lang="en-GB" sz="1200" dirty="0"/>
              <a:t>    red   = </a:t>
            </a:r>
            <a:r>
              <a:rPr lang="en-GB" sz="1200" dirty="0" err="1"/>
              <a:t>ord</a:t>
            </a:r>
            <a:r>
              <a:rPr lang="en-GB" sz="1200" dirty="0"/>
              <a:t>(</a:t>
            </a:r>
            <a:r>
              <a:rPr lang="en-GB" sz="1200" dirty="0" err="1"/>
              <a:t>self.charPixelPtr</a:t>
            </a:r>
            <a:r>
              <a:rPr lang="en-GB" sz="1200" dirty="0"/>
              <a:t>[index])</a:t>
            </a:r>
          </a:p>
          <a:p>
            <a:r>
              <a:rPr lang="en-GB" sz="1200" dirty="0"/>
              <a:t>    green = </a:t>
            </a:r>
            <a:r>
              <a:rPr lang="en-GB" sz="1200" dirty="0" err="1"/>
              <a:t>ord</a:t>
            </a:r>
            <a:r>
              <a:rPr lang="en-GB" sz="1200" dirty="0"/>
              <a:t>(</a:t>
            </a:r>
            <a:r>
              <a:rPr lang="en-GB" sz="1200" dirty="0" err="1"/>
              <a:t>self.charPixelPtr</a:t>
            </a:r>
            <a:r>
              <a:rPr lang="en-GB" sz="1200" dirty="0"/>
              <a:t>[index+1])</a:t>
            </a:r>
          </a:p>
          <a:p>
            <a:r>
              <a:rPr lang="en-GB" sz="1200" dirty="0"/>
              <a:t>    blue  = </a:t>
            </a:r>
            <a:r>
              <a:rPr lang="en-GB" sz="1200" dirty="0" err="1"/>
              <a:t>ord</a:t>
            </a:r>
            <a:r>
              <a:rPr lang="en-GB" sz="1200" dirty="0"/>
              <a:t>(</a:t>
            </a:r>
            <a:r>
              <a:rPr lang="en-GB" sz="1200" dirty="0" err="1"/>
              <a:t>self.charPixelPtr</a:t>
            </a:r>
            <a:r>
              <a:rPr lang="en-GB" sz="1200" dirty="0"/>
              <a:t>[index+2])</a:t>
            </a:r>
          </a:p>
          <a:p>
            <a:r>
              <a:rPr lang="en-GB" sz="1200" dirty="0"/>
              <a:t>    alpha = </a:t>
            </a:r>
            <a:r>
              <a:rPr lang="en-GB" sz="1200" dirty="0" err="1"/>
              <a:t>ord</a:t>
            </a:r>
            <a:r>
              <a:rPr lang="en-GB" sz="1200" dirty="0"/>
              <a:t>(</a:t>
            </a:r>
            <a:r>
              <a:rPr lang="en-GB" sz="1200" dirty="0" err="1"/>
              <a:t>self.charPixelPtr</a:t>
            </a:r>
            <a:r>
              <a:rPr lang="en-GB" sz="1200" dirty="0"/>
              <a:t>[index+3])</a:t>
            </a:r>
          </a:p>
          <a:p>
            <a:r>
              <a:rPr lang="en-GB" sz="1200" dirty="0"/>
              <a:t>    #print type(red),</a:t>
            </a:r>
            <a:r>
              <a:rPr lang="en-GB" sz="1200" dirty="0" err="1"/>
              <a:t>green,blue,alpha</a:t>
            </a:r>
            <a:endParaRPr lang="en-GB" sz="1200" dirty="0"/>
          </a:p>
          <a:p>
            <a:r>
              <a:rPr lang="en-GB" sz="1200" dirty="0"/>
              <a:t>    return (</a:t>
            </a:r>
            <a:r>
              <a:rPr lang="en-GB" sz="1200" dirty="0" err="1"/>
              <a:t>red,green,blue,alpha</a:t>
            </a:r>
            <a:r>
              <a:rPr lang="en-GB" sz="1200" dirty="0"/>
              <a:t>)</a:t>
            </a:r>
          </a:p>
          <a:p>
            <a:endParaRPr lang="en-GB" sz="1200" dirty="0"/>
          </a:p>
          <a:p>
            <a:r>
              <a:rPr lang="en-GB" sz="1200" dirty="0"/>
              <a:t>  def </a:t>
            </a:r>
            <a:r>
              <a:rPr lang="en-GB" sz="1200" dirty="0" err="1"/>
              <a:t>getRGB</a:t>
            </a:r>
            <a:r>
              <a:rPr lang="en-GB" sz="1200" dirty="0"/>
              <a:t>(</a:t>
            </a:r>
            <a:r>
              <a:rPr lang="en-GB" sz="1200" dirty="0" err="1"/>
              <a:t>self,x,y</a:t>
            </a:r>
            <a:r>
              <a:rPr lang="en-GB" sz="1200" dirty="0"/>
              <a:t>) :</a:t>
            </a:r>
          </a:p>
          <a:p>
            <a:r>
              <a:rPr lang="en-GB" sz="1200" dirty="0"/>
              <a:t>    </a:t>
            </a:r>
            <a:r>
              <a:rPr lang="en-GB" sz="1200" dirty="0" err="1"/>
              <a:t>r,g,b</a:t>
            </a:r>
            <a:r>
              <a:rPr lang="en-GB" sz="1200" dirty="0"/>
              <a:t>,_=</a:t>
            </a:r>
            <a:r>
              <a:rPr lang="en-GB" sz="1200" dirty="0" err="1"/>
              <a:t>self.getPixel</a:t>
            </a:r>
            <a:r>
              <a:rPr lang="en-GB" sz="1200" dirty="0"/>
              <a:t>(</a:t>
            </a:r>
            <a:r>
              <a:rPr lang="en-GB" sz="1200" dirty="0" err="1"/>
              <a:t>x,y</a:t>
            </a:r>
            <a:r>
              <a:rPr lang="en-GB" sz="1200" dirty="0"/>
              <a:t>)</a:t>
            </a:r>
          </a:p>
          <a:p>
            <a:r>
              <a:rPr lang="en-GB" sz="1200" dirty="0"/>
              <a:t>    return (</a:t>
            </a:r>
            <a:r>
              <a:rPr lang="en-GB" sz="1200" dirty="0" err="1"/>
              <a:t>r,g,b</a:t>
            </a:r>
            <a:r>
              <a:rPr lang="en-GB" sz="1200" dirty="0"/>
              <a:t>)</a:t>
            </a:r>
          </a:p>
        </p:txBody>
      </p:sp>
    </p:spTree>
    <p:extLst>
      <p:ext uri="{BB962C8B-B14F-4D97-AF65-F5344CB8AC3E}">
        <p14:creationId xmlns:p14="http://schemas.microsoft.com/office/powerpoint/2010/main" val="1787317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1 – Height map</a:t>
            </a:r>
            <a:endParaRPr lang="en-US" dirty="0"/>
          </a:p>
        </p:txBody>
      </p:sp>
      <p:pic>
        <p:nvPicPr>
          <p:cNvPr id="1026" name="Picture 2" descr="D:\YangXiaosong\Research\Teaching\PythonScripting\2017-2018\CAPP_Lectures\Image\200px-Heightma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1433171" y="2057400"/>
            <a:ext cx="254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D:\YangXiaosong\Research\Teaching\PythonScripting\2017-2018\CAPP_Lectures\Image\HeightmapTerrain.png"/>
          <p:cNvPicPr>
            <a:picLocks noChangeAspect="1" noChangeArrowheads="1"/>
          </p:cNvPicPr>
          <p:nvPr/>
        </p:nvPicPr>
        <p:blipFill rotWithShape="1">
          <a:blip r:embed="rId3">
            <a:extLst>
              <a:ext uri="{28A0092B-C50C-407E-A947-70E740481C1C}">
                <a14:useLocalDpi xmlns:a14="http://schemas.microsoft.com/office/drawing/2010/main" val="0"/>
              </a:ext>
            </a:extLst>
          </a:blip>
          <a:srcRect l="21479" t="29020" r="32944" b="20636"/>
          <a:stretch/>
        </p:blipFill>
        <p:spPr bwMode="auto">
          <a:xfrm>
            <a:off x="4419600" y="2057400"/>
            <a:ext cx="4167516" cy="25894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C7674F9-3272-47B5-965F-F43F59E98E79}"/>
              </a:ext>
            </a:extLst>
          </p:cNvPr>
          <p:cNvSpPr txBox="1"/>
          <p:nvPr/>
        </p:nvSpPr>
        <p:spPr>
          <a:xfrm>
            <a:off x="1371600" y="5029200"/>
            <a:ext cx="6629400" cy="646331"/>
          </a:xfrm>
          <a:prstGeom prst="rect">
            <a:avLst/>
          </a:prstGeom>
          <a:noFill/>
        </p:spPr>
        <p:txBody>
          <a:bodyPr wrap="square" rtlCol="0">
            <a:spAutoFit/>
          </a:bodyPr>
          <a:lstStyle/>
          <a:p>
            <a:r>
              <a:rPr lang="en-GB" dirty="0"/>
              <a:t>With PIL:		HeightMapTerrain.py</a:t>
            </a:r>
          </a:p>
          <a:p>
            <a:r>
              <a:rPr lang="en-GB" dirty="0"/>
              <a:t>Without PIL:	MImage.py + HeightMapTerrain_MImage.py</a:t>
            </a:r>
          </a:p>
        </p:txBody>
      </p:sp>
    </p:spTree>
    <p:extLst>
      <p:ext uri="{BB962C8B-B14F-4D97-AF65-F5344CB8AC3E}">
        <p14:creationId xmlns:p14="http://schemas.microsoft.com/office/powerpoint/2010/main" val="2405999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1 – Noise Height map</a:t>
            </a:r>
            <a:endParaRPr lang="en-US" dirty="0"/>
          </a:p>
        </p:txBody>
      </p:sp>
      <p:sp>
        <p:nvSpPr>
          <p:cNvPr id="2" name="Rectangle 1">
            <a:extLst>
              <a:ext uri="{FF2B5EF4-FFF2-40B4-BE49-F238E27FC236}">
                <a16:creationId xmlns:a16="http://schemas.microsoft.com/office/drawing/2014/main" id="{F9C895EC-E087-4173-AC89-8C69EB4B6B7A}"/>
              </a:ext>
            </a:extLst>
          </p:cNvPr>
          <p:cNvSpPr/>
          <p:nvPr/>
        </p:nvSpPr>
        <p:spPr>
          <a:xfrm>
            <a:off x="1443446" y="5334000"/>
            <a:ext cx="5566954" cy="369332"/>
          </a:xfrm>
          <a:prstGeom prst="rect">
            <a:avLst/>
          </a:prstGeom>
        </p:spPr>
        <p:txBody>
          <a:bodyPr wrap="square">
            <a:spAutoFit/>
          </a:bodyPr>
          <a:lstStyle/>
          <a:p>
            <a:r>
              <a:rPr lang="en-GB" dirty="0">
                <a:hlinkClick r:id="rId2"/>
              </a:rPr>
              <a:t>https://www.redblobgames.com/maps/terrain-from-noise/</a:t>
            </a:r>
            <a:endParaRPr lang="en-GB" dirty="0"/>
          </a:p>
        </p:txBody>
      </p:sp>
      <p:pic>
        <p:nvPicPr>
          <p:cNvPr id="2050" name="Picture 2">
            <a:extLst>
              <a:ext uri="{FF2B5EF4-FFF2-40B4-BE49-F238E27FC236}">
                <a16:creationId xmlns:a16="http://schemas.microsoft.com/office/drawing/2014/main" id="{FF59A45E-C0E9-47DE-BC57-C34B2705B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092343"/>
            <a:ext cx="4000500" cy="20002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F8099F4-EA20-4481-A6B5-C53D1025B019}"/>
              </a:ext>
            </a:extLst>
          </p:cNvPr>
          <p:cNvSpPr/>
          <p:nvPr/>
        </p:nvSpPr>
        <p:spPr>
          <a:xfrm>
            <a:off x="1443446" y="1951672"/>
            <a:ext cx="7090954" cy="923330"/>
          </a:xfrm>
          <a:prstGeom prst="rect">
            <a:avLst/>
          </a:prstGeom>
        </p:spPr>
        <p:txBody>
          <a:bodyPr wrap="square">
            <a:spAutoFit/>
          </a:bodyPr>
          <a:lstStyle/>
          <a:p>
            <a:r>
              <a:rPr lang="en-GB" dirty="0">
                <a:solidFill>
                  <a:srgbClr val="333333"/>
                </a:solidFill>
                <a:latin typeface="Cambria" panose="02040503050406030204" pitchFamily="18" charset="0"/>
              </a:rPr>
              <a:t>A common way to generate 2D maps is to use a bandwidth-limited noise function, such as Perlin or Simplex noise, as a building block. This is what the noise function looks like:</a:t>
            </a:r>
            <a:endParaRPr lang="en-GB" dirty="0"/>
          </a:p>
        </p:txBody>
      </p:sp>
      <p:pic>
        <p:nvPicPr>
          <p:cNvPr id="2052" name="Picture 4">
            <a:extLst>
              <a:ext uri="{FF2B5EF4-FFF2-40B4-BE49-F238E27FC236}">
                <a16:creationId xmlns:a16="http://schemas.microsoft.com/office/drawing/2014/main" id="{A8A7DAF9-D6B9-4FBE-B862-77BFB4EB4F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013822"/>
            <a:ext cx="2857500" cy="952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5C4229-C70F-42A4-A03B-4FFE75E4287A}"/>
              </a:ext>
            </a:extLst>
          </p:cNvPr>
          <p:cNvSpPr txBox="1"/>
          <p:nvPr/>
        </p:nvSpPr>
        <p:spPr>
          <a:xfrm>
            <a:off x="1524000" y="5791200"/>
            <a:ext cx="4577254" cy="369332"/>
          </a:xfrm>
          <a:prstGeom prst="rect">
            <a:avLst/>
          </a:prstGeom>
          <a:noFill/>
        </p:spPr>
        <p:txBody>
          <a:bodyPr wrap="square">
            <a:spAutoFit/>
          </a:bodyPr>
          <a:lstStyle/>
          <a:p>
            <a:r>
              <a:rPr lang="en-GB" dirty="0"/>
              <a:t>terrainNoise.py</a:t>
            </a:r>
          </a:p>
        </p:txBody>
      </p:sp>
    </p:spTree>
    <p:extLst>
      <p:ext uri="{BB962C8B-B14F-4D97-AF65-F5344CB8AC3E}">
        <p14:creationId xmlns:p14="http://schemas.microsoft.com/office/powerpoint/2010/main" val="3574220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2 – create fractal image</a:t>
            </a:r>
            <a:endParaRPr lang="en-US" dirty="0"/>
          </a:p>
        </p:txBody>
      </p:sp>
      <p:sp>
        <p:nvSpPr>
          <p:cNvPr id="2" name="Rectangle 1"/>
          <p:cNvSpPr/>
          <p:nvPr/>
        </p:nvSpPr>
        <p:spPr>
          <a:xfrm>
            <a:off x="1525476" y="5468034"/>
            <a:ext cx="3719929" cy="646331"/>
          </a:xfrm>
          <a:prstGeom prst="rect">
            <a:avLst/>
          </a:prstGeom>
        </p:spPr>
        <p:txBody>
          <a:bodyPr wrap="none">
            <a:spAutoFit/>
          </a:bodyPr>
          <a:lstStyle/>
          <a:p>
            <a:r>
              <a:rPr lang="en-GB" dirty="0"/>
              <a:t>julieSet.py + julie.png</a:t>
            </a:r>
          </a:p>
          <a:p>
            <a:r>
              <a:rPr lang="en-GB" dirty="0"/>
              <a:t>https://en.wikipedia.org/wiki/Julia_set</a:t>
            </a:r>
          </a:p>
        </p:txBody>
      </p:sp>
      <p:pic>
        <p:nvPicPr>
          <p:cNvPr id="2050" name="Picture 2" descr="https://upload.wikimedia.org/wikipedia/commons/thumb/d/d9/Julia_set%2C_plotted_with_Matplotlib.svg/1024px-Julia_set%2C_plotted_with_Matplotlib.svg.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467" t="14505" r="10189" b="12971"/>
          <a:stretch/>
        </p:blipFill>
        <p:spPr bwMode="auto">
          <a:xfrm>
            <a:off x="1600200" y="2133600"/>
            <a:ext cx="3276600" cy="21513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1443242" y="4685626"/>
            <a:ext cx="2295525" cy="628650"/>
          </a:xfrm>
          <a:prstGeom prst="rect">
            <a:avLst/>
          </a:prstGeom>
        </p:spPr>
      </p:pic>
      <p:pic>
        <p:nvPicPr>
          <p:cNvPr id="7" name="Picture 6"/>
          <p:cNvPicPr>
            <a:picLocks noChangeAspect="1"/>
          </p:cNvPicPr>
          <p:nvPr/>
        </p:nvPicPr>
        <p:blipFill rotWithShape="1">
          <a:blip r:embed="rId5"/>
          <a:srcRect r="23579"/>
          <a:stretch/>
        </p:blipFill>
        <p:spPr>
          <a:xfrm>
            <a:off x="5029201" y="2133600"/>
            <a:ext cx="3657600" cy="2971800"/>
          </a:xfrm>
          <a:prstGeom prst="rect">
            <a:avLst/>
          </a:prstGeom>
        </p:spPr>
      </p:pic>
      <p:sp>
        <p:nvSpPr>
          <p:cNvPr id="8" name="Rectangle 7">
            <a:extLst>
              <a:ext uri="{FF2B5EF4-FFF2-40B4-BE49-F238E27FC236}">
                <a16:creationId xmlns:a16="http://schemas.microsoft.com/office/drawing/2014/main" id="{2CA4C77C-8B59-42F0-9CC8-111A5BA822DC}"/>
              </a:ext>
            </a:extLst>
          </p:cNvPr>
          <p:cNvSpPr/>
          <p:nvPr/>
        </p:nvSpPr>
        <p:spPr>
          <a:xfrm>
            <a:off x="1483435" y="6172864"/>
            <a:ext cx="4110677" cy="369332"/>
          </a:xfrm>
          <a:prstGeom prst="rect">
            <a:avLst/>
          </a:prstGeom>
        </p:spPr>
        <p:txBody>
          <a:bodyPr wrap="none">
            <a:spAutoFit/>
          </a:bodyPr>
          <a:lstStyle/>
          <a:p>
            <a:r>
              <a:rPr lang="en-GB" dirty="0">
                <a:hlinkClick r:id="rId6"/>
              </a:rPr>
              <a:t>"Geodes" - 3D Julia set fractals - YouTube</a:t>
            </a:r>
            <a:endParaRPr lang="en-GB" dirty="0"/>
          </a:p>
        </p:txBody>
      </p:sp>
    </p:spTree>
    <p:extLst>
      <p:ext uri="{BB962C8B-B14F-4D97-AF65-F5344CB8AC3E}">
        <p14:creationId xmlns:p14="http://schemas.microsoft.com/office/powerpoint/2010/main" val="1331361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2 – create fractal image</a:t>
            </a:r>
            <a:endParaRPr lang="en-US" dirty="0"/>
          </a:p>
        </p:txBody>
      </p:sp>
      <p:pic>
        <p:nvPicPr>
          <p:cNvPr id="5" name="Picture 4"/>
          <p:cNvPicPr>
            <a:picLocks noChangeAspect="1"/>
          </p:cNvPicPr>
          <p:nvPr/>
        </p:nvPicPr>
        <p:blipFill>
          <a:blip r:embed="rId3"/>
          <a:stretch>
            <a:fillRect/>
          </a:stretch>
        </p:blipFill>
        <p:spPr>
          <a:xfrm>
            <a:off x="1295400" y="2209800"/>
            <a:ext cx="2295525" cy="628650"/>
          </a:xfrm>
          <a:prstGeom prst="rect">
            <a:avLst/>
          </a:prstGeom>
        </p:spPr>
      </p:pic>
      <p:sp>
        <p:nvSpPr>
          <p:cNvPr id="3" name="Rectangle 2">
            <a:extLst>
              <a:ext uri="{FF2B5EF4-FFF2-40B4-BE49-F238E27FC236}">
                <a16:creationId xmlns:a16="http://schemas.microsoft.com/office/drawing/2014/main" id="{A806D2F7-D05C-4C11-B52E-96BCA3876013}"/>
              </a:ext>
            </a:extLst>
          </p:cNvPr>
          <p:cNvSpPr/>
          <p:nvPr/>
        </p:nvSpPr>
        <p:spPr>
          <a:xfrm>
            <a:off x="2590800" y="3276600"/>
            <a:ext cx="4495800" cy="312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9" name="Straight Arrow Connector 8">
            <a:extLst>
              <a:ext uri="{FF2B5EF4-FFF2-40B4-BE49-F238E27FC236}">
                <a16:creationId xmlns:a16="http://schemas.microsoft.com/office/drawing/2014/main" id="{314F735C-180D-4EEA-887F-3B64DDF0587A}"/>
              </a:ext>
            </a:extLst>
          </p:cNvPr>
          <p:cNvCxnSpPr/>
          <p:nvPr/>
        </p:nvCxnSpPr>
        <p:spPr>
          <a:xfrm>
            <a:off x="1752600" y="4800600"/>
            <a:ext cx="6248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C794649-E4E6-4886-89A8-C8E2D951CC50}"/>
              </a:ext>
            </a:extLst>
          </p:cNvPr>
          <p:cNvCxnSpPr/>
          <p:nvPr/>
        </p:nvCxnSpPr>
        <p:spPr>
          <a:xfrm flipV="1">
            <a:off x="4876800" y="2838450"/>
            <a:ext cx="0" cy="37909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9F1A2CC-083F-48DE-820C-B8F7345E66A3}"/>
              </a:ext>
            </a:extLst>
          </p:cNvPr>
          <p:cNvSpPr/>
          <p:nvPr/>
        </p:nvSpPr>
        <p:spPr>
          <a:xfrm>
            <a:off x="5181600" y="4191000"/>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3B694FA5-C15B-4794-A067-CF67471478BB}"/>
              </a:ext>
            </a:extLst>
          </p:cNvPr>
          <p:cNvSpPr/>
          <p:nvPr/>
        </p:nvSpPr>
        <p:spPr>
          <a:xfrm>
            <a:off x="5715004" y="4191000"/>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63C8F458-5143-4EAD-8DD0-15D42CE21639}"/>
              </a:ext>
            </a:extLst>
          </p:cNvPr>
          <p:cNvSpPr/>
          <p:nvPr/>
        </p:nvSpPr>
        <p:spPr>
          <a:xfrm>
            <a:off x="6201089" y="4191000"/>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6F611980-E38C-4EFE-8579-CB0DC0CBEB81}"/>
              </a:ext>
            </a:extLst>
          </p:cNvPr>
          <p:cNvSpPr/>
          <p:nvPr/>
        </p:nvSpPr>
        <p:spPr>
          <a:xfrm>
            <a:off x="5181600" y="3743331"/>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30CAE6E3-2033-4FF1-B45B-457BFD3E34ED}"/>
              </a:ext>
            </a:extLst>
          </p:cNvPr>
          <p:cNvSpPr/>
          <p:nvPr/>
        </p:nvSpPr>
        <p:spPr>
          <a:xfrm>
            <a:off x="5715004" y="3743331"/>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C117BCBF-09FA-4B66-B63F-DD7497580426}"/>
              </a:ext>
            </a:extLst>
          </p:cNvPr>
          <p:cNvSpPr/>
          <p:nvPr/>
        </p:nvSpPr>
        <p:spPr>
          <a:xfrm>
            <a:off x="6193190" y="3743331"/>
            <a:ext cx="152396" cy="152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5A7504BA-ED6A-403B-9CAB-0BF9CF3503CF}"/>
              </a:ext>
            </a:extLst>
          </p:cNvPr>
          <p:cNvSpPr txBox="1"/>
          <p:nvPr/>
        </p:nvSpPr>
        <p:spPr>
          <a:xfrm>
            <a:off x="4983484" y="4371197"/>
            <a:ext cx="1026791" cy="276999"/>
          </a:xfrm>
          <a:prstGeom prst="rect">
            <a:avLst/>
          </a:prstGeom>
          <a:noFill/>
        </p:spPr>
        <p:txBody>
          <a:bodyPr wrap="square" rtlCol="0">
            <a:spAutoFit/>
          </a:bodyPr>
          <a:lstStyle/>
          <a:p>
            <a:r>
              <a:rPr lang="en-GB" sz="1200" dirty="0"/>
              <a:t>Z</a:t>
            </a:r>
            <a:r>
              <a:rPr lang="en-GB" sz="1200" baseline="-25000" dirty="0"/>
              <a:t>0</a:t>
            </a:r>
            <a:r>
              <a:rPr lang="en-GB" sz="1200" dirty="0"/>
              <a:t> = (x</a:t>
            </a:r>
            <a:r>
              <a:rPr lang="en-GB" sz="1200" baseline="-25000" dirty="0"/>
              <a:t>0</a:t>
            </a:r>
            <a:r>
              <a:rPr lang="en-GB" sz="1200" dirty="0"/>
              <a:t>, y</a:t>
            </a:r>
            <a:r>
              <a:rPr lang="en-GB" sz="1200" baseline="-25000" dirty="0"/>
              <a:t>0</a:t>
            </a:r>
            <a:r>
              <a:rPr lang="en-GB" sz="1200" dirty="0"/>
              <a:t>)</a:t>
            </a:r>
          </a:p>
        </p:txBody>
      </p:sp>
      <p:sp>
        <p:nvSpPr>
          <p:cNvPr id="21" name="TextBox 20">
            <a:extLst>
              <a:ext uri="{FF2B5EF4-FFF2-40B4-BE49-F238E27FC236}">
                <a16:creationId xmlns:a16="http://schemas.microsoft.com/office/drawing/2014/main" id="{6D2C9784-08FB-4467-8CC1-569B3239F4D5}"/>
              </a:ext>
            </a:extLst>
          </p:cNvPr>
          <p:cNvSpPr txBox="1"/>
          <p:nvPr/>
        </p:nvSpPr>
        <p:spPr>
          <a:xfrm>
            <a:off x="1163004" y="5185202"/>
            <a:ext cx="1026791" cy="276999"/>
          </a:xfrm>
          <a:prstGeom prst="rect">
            <a:avLst/>
          </a:prstGeom>
          <a:noFill/>
        </p:spPr>
        <p:txBody>
          <a:bodyPr wrap="square" rtlCol="0">
            <a:spAutoFit/>
          </a:bodyPr>
          <a:lstStyle/>
          <a:p>
            <a:r>
              <a:rPr lang="en-GB" sz="1200" dirty="0"/>
              <a:t>Z</a:t>
            </a:r>
            <a:r>
              <a:rPr lang="en-GB" sz="1200" baseline="-25000" dirty="0"/>
              <a:t>1</a:t>
            </a:r>
            <a:r>
              <a:rPr lang="en-GB" sz="1200" dirty="0"/>
              <a:t> = Z</a:t>
            </a:r>
            <a:r>
              <a:rPr lang="en-GB" sz="1200" baseline="-25000" dirty="0"/>
              <a:t>0*</a:t>
            </a:r>
            <a:r>
              <a:rPr lang="en-GB" sz="1200" dirty="0"/>
              <a:t> Z</a:t>
            </a:r>
            <a:r>
              <a:rPr lang="en-GB" sz="1200" baseline="-25000" dirty="0"/>
              <a:t>0</a:t>
            </a:r>
            <a:r>
              <a:rPr lang="en-GB" sz="1200" dirty="0"/>
              <a:t>+c</a:t>
            </a:r>
            <a:r>
              <a:rPr lang="en-GB" sz="1200" baseline="-25000" dirty="0"/>
              <a:t> </a:t>
            </a:r>
            <a:endParaRPr lang="en-GB" sz="1200" dirty="0"/>
          </a:p>
        </p:txBody>
      </p:sp>
      <p:sp>
        <p:nvSpPr>
          <p:cNvPr id="22" name="TextBox 21">
            <a:extLst>
              <a:ext uri="{FF2B5EF4-FFF2-40B4-BE49-F238E27FC236}">
                <a16:creationId xmlns:a16="http://schemas.microsoft.com/office/drawing/2014/main" id="{C6171174-CDED-4434-B3B7-C03B755397FA}"/>
              </a:ext>
            </a:extLst>
          </p:cNvPr>
          <p:cNvSpPr txBox="1"/>
          <p:nvPr/>
        </p:nvSpPr>
        <p:spPr>
          <a:xfrm>
            <a:off x="1163004" y="5521533"/>
            <a:ext cx="1026791" cy="276999"/>
          </a:xfrm>
          <a:prstGeom prst="rect">
            <a:avLst/>
          </a:prstGeom>
          <a:noFill/>
        </p:spPr>
        <p:txBody>
          <a:bodyPr wrap="square" rtlCol="0">
            <a:spAutoFit/>
          </a:bodyPr>
          <a:lstStyle/>
          <a:p>
            <a:r>
              <a:rPr lang="en-GB" sz="1200" dirty="0"/>
              <a:t>Z</a:t>
            </a:r>
            <a:r>
              <a:rPr lang="en-GB" sz="1200" baseline="-25000" dirty="0"/>
              <a:t>2</a:t>
            </a:r>
            <a:r>
              <a:rPr lang="en-GB" sz="1200" dirty="0"/>
              <a:t> = Z</a:t>
            </a:r>
            <a:r>
              <a:rPr lang="en-GB" sz="1200" baseline="-25000" dirty="0"/>
              <a:t>1*</a:t>
            </a:r>
            <a:r>
              <a:rPr lang="en-GB" sz="1200" dirty="0"/>
              <a:t> Z</a:t>
            </a:r>
            <a:r>
              <a:rPr lang="en-GB" sz="1200" baseline="-25000" dirty="0"/>
              <a:t>1</a:t>
            </a:r>
            <a:r>
              <a:rPr lang="en-GB" sz="1200" dirty="0"/>
              <a:t>+c</a:t>
            </a:r>
            <a:r>
              <a:rPr lang="en-GB" sz="1200" baseline="-25000" dirty="0"/>
              <a:t> </a:t>
            </a:r>
            <a:endParaRPr lang="en-GB" sz="1200" dirty="0"/>
          </a:p>
        </p:txBody>
      </p:sp>
      <p:sp>
        <p:nvSpPr>
          <p:cNvPr id="23" name="TextBox 22">
            <a:extLst>
              <a:ext uri="{FF2B5EF4-FFF2-40B4-BE49-F238E27FC236}">
                <a16:creationId xmlns:a16="http://schemas.microsoft.com/office/drawing/2014/main" id="{1247D332-440C-461B-92E4-FCC9A696F0CB}"/>
              </a:ext>
            </a:extLst>
          </p:cNvPr>
          <p:cNvSpPr txBox="1"/>
          <p:nvPr/>
        </p:nvSpPr>
        <p:spPr>
          <a:xfrm>
            <a:off x="1173513" y="5889395"/>
            <a:ext cx="1026791" cy="276999"/>
          </a:xfrm>
          <a:prstGeom prst="rect">
            <a:avLst/>
          </a:prstGeom>
          <a:noFill/>
        </p:spPr>
        <p:txBody>
          <a:bodyPr wrap="square" rtlCol="0">
            <a:spAutoFit/>
          </a:bodyPr>
          <a:lstStyle/>
          <a:p>
            <a:r>
              <a:rPr lang="en-GB" sz="1200" dirty="0"/>
              <a:t>Z</a:t>
            </a:r>
            <a:r>
              <a:rPr lang="en-GB" sz="1200" baseline="-25000" dirty="0"/>
              <a:t>3</a:t>
            </a:r>
            <a:r>
              <a:rPr lang="en-GB" sz="1200" dirty="0"/>
              <a:t> = Z</a:t>
            </a:r>
            <a:r>
              <a:rPr lang="en-GB" sz="1200" baseline="-25000" dirty="0"/>
              <a:t>2*</a:t>
            </a:r>
            <a:r>
              <a:rPr lang="en-GB" sz="1200" dirty="0"/>
              <a:t> Z</a:t>
            </a:r>
            <a:r>
              <a:rPr lang="en-GB" sz="1200" baseline="-25000" dirty="0"/>
              <a:t>2</a:t>
            </a:r>
            <a:r>
              <a:rPr lang="en-GB" sz="1200" dirty="0"/>
              <a:t>+c</a:t>
            </a:r>
            <a:r>
              <a:rPr lang="en-GB" sz="1200" baseline="-25000" dirty="0"/>
              <a:t> </a:t>
            </a:r>
            <a:endParaRPr lang="en-GB" sz="1200" dirty="0"/>
          </a:p>
        </p:txBody>
      </p:sp>
      <p:pic>
        <p:nvPicPr>
          <p:cNvPr id="1026" name="Picture 2">
            <a:extLst>
              <a:ext uri="{FF2B5EF4-FFF2-40B4-BE49-F238E27FC236}">
                <a16:creationId xmlns:a16="http://schemas.microsoft.com/office/drawing/2014/main" id="{BB143AE6-2B64-427A-9F52-87DD29CA74E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333" t="22223" r="13333" b="22821"/>
          <a:stretch/>
        </p:blipFill>
        <p:spPr bwMode="auto">
          <a:xfrm>
            <a:off x="7061782" y="1868385"/>
            <a:ext cx="1777418" cy="133201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D2A6E4B3-6D3B-4DF2-AA61-51B0D4498E73}"/>
              </a:ext>
            </a:extLst>
          </p:cNvPr>
          <p:cNvSpPr txBox="1"/>
          <p:nvPr/>
        </p:nvSpPr>
        <p:spPr>
          <a:xfrm>
            <a:off x="7162801" y="3331783"/>
            <a:ext cx="1828799" cy="276999"/>
          </a:xfrm>
          <a:prstGeom prst="rect">
            <a:avLst/>
          </a:prstGeom>
          <a:noFill/>
        </p:spPr>
        <p:txBody>
          <a:bodyPr wrap="square">
            <a:spAutoFit/>
          </a:bodyPr>
          <a:lstStyle/>
          <a:p>
            <a:r>
              <a:rPr lang="en-GB" sz="1200" b="0" i="0" dirty="0">
                <a:solidFill>
                  <a:srgbClr val="202122"/>
                </a:solidFill>
                <a:effectLst/>
                <a:latin typeface="Arial" panose="020B0604020202020204" pitchFamily="34" charset="0"/>
              </a:rPr>
              <a:t>Julia set </a:t>
            </a:r>
            <a:r>
              <a:rPr lang="en-GB" sz="1200" b="0" i="1" dirty="0">
                <a:solidFill>
                  <a:srgbClr val="202122"/>
                </a:solidFill>
                <a:effectLst/>
                <a:latin typeface="Arial" panose="020B0604020202020204" pitchFamily="34" charset="0"/>
              </a:rPr>
              <a:t>c</a:t>
            </a:r>
            <a:r>
              <a:rPr lang="en-GB" sz="1200" b="0" i="0" dirty="0">
                <a:solidFill>
                  <a:srgbClr val="202122"/>
                </a:solidFill>
                <a:effectLst/>
                <a:latin typeface="Arial" panose="020B0604020202020204" pitchFamily="34" charset="0"/>
              </a:rPr>
              <a:t> =  −0.4 + 0.6</a:t>
            </a:r>
            <a:r>
              <a:rPr lang="en-GB" sz="1200" b="0" i="1" dirty="0">
                <a:solidFill>
                  <a:srgbClr val="202122"/>
                </a:solidFill>
                <a:effectLst/>
                <a:latin typeface="Arial" panose="020B0604020202020204" pitchFamily="34" charset="0"/>
              </a:rPr>
              <a:t>i</a:t>
            </a:r>
            <a:endParaRPr lang="en-GB" sz="1200" dirty="0"/>
          </a:p>
        </p:txBody>
      </p:sp>
      <p:pic>
        <p:nvPicPr>
          <p:cNvPr id="25" name="Picture 24" descr="A picture containing tree, plant, silhouette&#10;&#10;Description automatically generated">
            <a:extLst>
              <a:ext uri="{FF2B5EF4-FFF2-40B4-BE49-F238E27FC236}">
                <a16:creationId xmlns:a16="http://schemas.microsoft.com/office/drawing/2014/main" id="{5E121DBE-24EE-46E4-BB0D-884D72FBD15F}"/>
              </a:ext>
            </a:extLst>
          </p:cNvPr>
          <p:cNvPicPr>
            <a:picLocks noChangeAspect="1"/>
          </p:cNvPicPr>
          <p:nvPr/>
        </p:nvPicPr>
        <p:blipFill rotWithShape="1">
          <a:blip r:embed="rId5">
            <a:extLst>
              <a:ext uri="{28A0092B-C50C-407E-A947-70E740481C1C}">
                <a14:useLocalDpi xmlns:a14="http://schemas.microsoft.com/office/drawing/2010/main" val="0"/>
              </a:ext>
            </a:extLst>
          </a:blip>
          <a:srcRect l="19730" t="8651" r="20081" b="6698"/>
          <a:stretch/>
        </p:blipFill>
        <p:spPr>
          <a:xfrm rot="16200000">
            <a:off x="7695029" y="4984896"/>
            <a:ext cx="1146604" cy="1612608"/>
          </a:xfrm>
          <a:prstGeom prst="rect">
            <a:avLst/>
          </a:prstGeom>
        </p:spPr>
      </p:pic>
    </p:spTree>
    <p:extLst>
      <p:ext uri="{BB962C8B-B14F-4D97-AF65-F5344CB8AC3E}">
        <p14:creationId xmlns:p14="http://schemas.microsoft.com/office/powerpoint/2010/main" val="2202526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77500" lnSpcReduction="2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3 – Voronoi – fracture of wall</a:t>
            </a:r>
            <a:endParaRPr lang="en-US" dirty="0"/>
          </a:p>
        </p:txBody>
      </p:sp>
      <p:sp>
        <p:nvSpPr>
          <p:cNvPr id="2" name="Rectangle 1">
            <a:extLst>
              <a:ext uri="{FF2B5EF4-FFF2-40B4-BE49-F238E27FC236}">
                <a16:creationId xmlns:a16="http://schemas.microsoft.com/office/drawing/2014/main" id="{27473B95-7EE6-4BBF-A442-070AD4DB3034}"/>
              </a:ext>
            </a:extLst>
          </p:cNvPr>
          <p:cNvSpPr/>
          <p:nvPr/>
        </p:nvSpPr>
        <p:spPr>
          <a:xfrm>
            <a:off x="1496199" y="2744383"/>
            <a:ext cx="4523739" cy="369332"/>
          </a:xfrm>
          <a:prstGeom prst="rect">
            <a:avLst/>
          </a:prstGeom>
        </p:spPr>
        <p:txBody>
          <a:bodyPr wrap="none">
            <a:spAutoFit/>
          </a:bodyPr>
          <a:lstStyle/>
          <a:p>
            <a:r>
              <a:rPr lang="en-GB" dirty="0">
                <a:hlinkClick r:id="rId2"/>
              </a:rPr>
              <a:t>https://en.wikipedia.org/wiki/Voronoi_diagram</a:t>
            </a:r>
            <a:endParaRPr lang="en-GB" dirty="0"/>
          </a:p>
        </p:txBody>
      </p:sp>
      <p:sp>
        <p:nvSpPr>
          <p:cNvPr id="3" name="Rectangle 2">
            <a:extLst>
              <a:ext uri="{FF2B5EF4-FFF2-40B4-BE49-F238E27FC236}">
                <a16:creationId xmlns:a16="http://schemas.microsoft.com/office/drawing/2014/main" id="{464ADC4C-8107-46EA-B954-822F7AA10D1B}"/>
              </a:ext>
            </a:extLst>
          </p:cNvPr>
          <p:cNvSpPr/>
          <p:nvPr/>
        </p:nvSpPr>
        <p:spPr>
          <a:xfrm>
            <a:off x="1476940" y="2057400"/>
            <a:ext cx="6371659" cy="646331"/>
          </a:xfrm>
          <a:prstGeom prst="rect">
            <a:avLst/>
          </a:prstGeom>
        </p:spPr>
        <p:txBody>
          <a:bodyPr wrap="square">
            <a:spAutoFit/>
          </a:bodyPr>
          <a:lstStyle/>
          <a:p>
            <a:r>
              <a:rPr lang="en-GB" dirty="0">
                <a:solidFill>
                  <a:srgbClr val="222222"/>
                </a:solidFill>
                <a:latin typeface="Arial" panose="020B0604020202020204" pitchFamily="34" charset="0"/>
              </a:rPr>
              <a:t>a </a:t>
            </a:r>
            <a:r>
              <a:rPr lang="en-GB" b="1" dirty="0">
                <a:solidFill>
                  <a:srgbClr val="222222"/>
                </a:solidFill>
                <a:latin typeface="Arial" panose="020B0604020202020204" pitchFamily="34" charset="0"/>
              </a:rPr>
              <a:t>Voronoi diagram</a:t>
            </a:r>
            <a:r>
              <a:rPr lang="en-GB" dirty="0">
                <a:solidFill>
                  <a:srgbClr val="222222"/>
                </a:solidFill>
                <a:latin typeface="Arial" panose="020B0604020202020204" pitchFamily="34" charset="0"/>
              </a:rPr>
              <a:t> is a </a:t>
            </a:r>
            <a:r>
              <a:rPr lang="en-GB" dirty="0">
                <a:solidFill>
                  <a:srgbClr val="0B0080"/>
                </a:solidFill>
                <a:latin typeface="Arial" panose="020B0604020202020204" pitchFamily="34" charset="0"/>
                <a:hlinkClick r:id="rId3" tooltip="Partition of a set"/>
              </a:rPr>
              <a:t>partition</a:t>
            </a:r>
            <a:r>
              <a:rPr lang="en-GB" dirty="0">
                <a:solidFill>
                  <a:srgbClr val="222222"/>
                </a:solidFill>
                <a:latin typeface="Arial" panose="020B0604020202020204" pitchFamily="34" charset="0"/>
              </a:rPr>
              <a:t> of a </a:t>
            </a:r>
            <a:r>
              <a:rPr lang="en-GB" dirty="0">
                <a:solidFill>
                  <a:srgbClr val="0B0080"/>
                </a:solidFill>
                <a:latin typeface="Arial" panose="020B0604020202020204" pitchFamily="34" charset="0"/>
                <a:hlinkClick r:id="rId4" tooltip="Plane (geometry)"/>
              </a:rPr>
              <a:t>plane</a:t>
            </a:r>
            <a:r>
              <a:rPr lang="en-GB" dirty="0">
                <a:solidFill>
                  <a:srgbClr val="222222"/>
                </a:solidFill>
                <a:latin typeface="Arial" panose="020B0604020202020204" pitchFamily="34" charset="0"/>
              </a:rPr>
              <a:t> into regions close to each of a given set of objects.</a:t>
            </a:r>
            <a:endParaRPr lang="en-GB" dirty="0"/>
          </a:p>
        </p:txBody>
      </p:sp>
      <p:pic>
        <p:nvPicPr>
          <p:cNvPr id="1026" name="Picture 2">
            <a:extLst>
              <a:ext uri="{FF2B5EF4-FFF2-40B4-BE49-F238E27FC236}">
                <a16:creationId xmlns:a16="http://schemas.microsoft.com/office/drawing/2014/main" id="{886B9163-21CA-4CD2-9B3C-A745DD4A7A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2514600"/>
            <a:ext cx="20955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drawing&#10;&#10;Description automatically generated">
            <a:extLst>
              <a:ext uri="{FF2B5EF4-FFF2-40B4-BE49-F238E27FC236}">
                <a16:creationId xmlns:a16="http://schemas.microsoft.com/office/drawing/2014/main" id="{2A118566-6700-4BA7-8B50-26AFBF1868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6400" y="3568649"/>
            <a:ext cx="1905000" cy="1905000"/>
          </a:xfrm>
          <a:prstGeom prst="rect">
            <a:avLst/>
          </a:prstGeom>
        </p:spPr>
      </p:pic>
    </p:spTree>
    <p:extLst>
      <p:ext uri="{BB962C8B-B14F-4D97-AF65-F5344CB8AC3E}">
        <p14:creationId xmlns:p14="http://schemas.microsoft.com/office/powerpoint/2010/main" val="2074763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4 – City</a:t>
            </a:r>
            <a:endParaRPr lang="en-US" dirty="0"/>
          </a:p>
        </p:txBody>
      </p:sp>
      <p:pic>
        <p:nvPicPr>
          <p:cNvPr id="3074" name="Picture 2" descr="D:\YangXiaosong\Research\Teaching\PythonScripting\2017-2018\CAPP_Lectures\Image\City_Inventor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2133600"/>
            <a:ext cx="4032250" cy="290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414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4 – City</a:t>
            </a:r>
            <a:endParaRPr lang="en-US" dirty="0"/>
          </a:p>
        </p:txBody>
      </p:sp>
      <p:sp>
        <p:nvSpPr>
          <p:cNvPr id="4" name="Rounded Rectangle 3"/>
          <p:cNvSpPr/>
          <p:nvPr/>
        </p:nvSpPr>
        <p:spPr>
          <a:xfrm>
            <a:off x="1423416" y="2133600"/>
            <a:ext cx="7016848" cy="4220308"/>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200" dirty="0" err="1"/>
              <a:t>def</a:t>
            </a:r>
            <a:r>
              <a:rPr lang="en-GB" sz="1200" dirty="0"/>
              <a:t> </a:t>
            </a:r>
            <a:r>
              <a:rPr lang="en-GB" sz="1200" dirty="0" err="1"/>
              <a:t>imageSegmentLabelling</a:t>
            </a:r>
            <a:r>
              <a:rPr lang="en-GB" sz="1200" dirty="0"/>
              <a:t>(</a:t>
            </a:r>
            <a:r>
              <a:rPr lang="en-GB" sz="1200" dirty="0" err="1"/>
              <a:t>img</a:t>
            </a:r>
            <a:r>
              <a:rPr lang="en-GB" sz="1200" dirty="0"/>
              <a:t>):</a:t>
            </a:r>
          </a:p>
          <a:p>
            <a:r>
              <a:rPr lang="en-GB" sz="1200" dirty="0"/>
              <a:t>    width = </a:t>
            </a:r>
            <a:r>
              <a:rPr lang="en-GB" sz="1200" dirty="0" err="1"/>
              <a:t>img.size</a:t>
            </a:r>
            <a:r>
              <a:rPr lang="en-GB" sz="1200" dirty="0"/>
              <a:t>[0]</a:t>
            </a:r>
          </a:p>
          <a:p>
            <a:r>
              <a:rPr lang="en-GB" sz="1200" dirty="0"/>
              <a:t>    height = </a:t>
            </a:r>
            <a:r>
              <a:rPr lang="en-GB" sz="1200" dirty="0" err="1"/>
              <a:t>img.size</a:t>
            </a:r>
            <a:r>
              <a:rPr lang="en-GB" sz="1200" dirty="0"/>
              <a:t>[1]</a:t>
            </a:r>
          </a:p>
          <a:p>
            <a:r>
              <a:rPr lang="en-GB" sz="1200" dirty="0"/>
              <a:t>    pixels = </a:t>
            </a:r>
            <a:r>
              <a:rPr lang="en-GB" sz="1200" dirty="0" err="1"/>
              <a:t>img.load</a:t>
            </a:r>
            <a:r>
              <a:rPr lang="en-GB" sz="1200" dirty="0"/>
              <a:t>()</a:t>
            </a:r>
          </a:p>
          <a:p>
            <a:r>
              <a:rPr lang="en-GB" sz="1200" dirty="0"/>
              <a:t>    </a:t>
            </a:r>
            <a:r>
              <a:rPr lang="en-GB" sz="1200" dirty="0" err="1"/>
              <a:t>labelImage</a:t>
            </a:r>
            <a:r>
              <a:rPr lang="en-GB" sz="1200" dirty="0"/>
              <a:t> = </a:t>
            </a:r>
            <a:r>
              <a:rPr lang="en-GB" sz="1200" dirty="0" err="1"/>
              <a:t>Image.new</a:t>
            </a:r>
            <a:r>
              <a:rPr lang="en-GB" sz="1200" dirty="0"/>
              <a:t>("I", (width, height),0)</a:t>
            </a:r>
          </a:p>
          <a:p>
            <a:r>
              <a:rPr lang="en-GB" sz="1200" dirty="0"/>
              <a:t>    </a:t>
            </a:r>
            <a:r>
              <a:rPr lang="en-GB" sz="1200" dirty="0" err="1"/>
              <a:t>labelPixels</a:t>
            </a:r>
            <a:r>
              <a:rPr lang="en-GB" sz="1200" dirty="0"/>
              <a:t> = </a:t>
            </a:r>
            <a:r>
              <a:rPr lang="en-GB" sz="1200" dirty="0" err="1"/>
              <a:t>labelImage.load</a:t>
            </a:r>
            <a:r>
              <a:rPr lang="en-GB" sz="1200" dirty="0"/>
              <a:t>()</a:t>
            </a:r>
          </a:p>
          <a:p>
            <a:r>
              <a:rPr lang="en-GB" sz="1200" dirty="0"/>
              <a:t>    </a:t>
            </a:r>
            <a:r>
              <a:rPr lang="en-GB" sz="1200" dirty="0" err="1"/>
              <a:t>regionIndex</a:t>
            </a:r>
            <a:r>
              <a:rPr lang="en-GB" sz="1200" dirty="0"/>
              <a:t> = 1</a:t>
            </a:r>
          </a:p>
          <a:p>
            <a:r>
              <a:rPr lang="en-GB" sz="1200" dirty="0"/>
              <a:t>    result = </a:t>
            </a:r>
            <a:r>
              <a:rPr lang="en-GB" sz="1200" dirty="0" err="1"/>
              <a:t>searchUnlabelledPixel</a:t>
            </a:r>
            <a:r>
              <a:rPr lang="en-GB" sz="1200" dirty="0"/>
              <a:t>(</a:t>
            </a:r>
            <a:r>
              <a:rPr lang="en-GB" sz="1200" dirty="0" err="1"/>
              <a:t>pixels,width</a:t>
            </a:r>
            <a:r>
              <a:rPr lang="en-GB" sz="1200" dirty="0"/>
              <a:t>, height) # [true/false-found, x, y] index of the found pixel</a:t>
            </a:r>
          </a:p>
          <a:p>
            <a:r>
              <a:rPr lang="en-GB" sz="1200" dirty="0"/>
              <a:t>    </a:t>
            </a:r>
            <a:r>
              <a:rPr lang="en-GB" sz="1200" dirty="0" err="1"/>
              <a:t>foundUnlablelledPixel</a:t>
            </a:r>
            <a:r>
              <a:rPr lang="en-GB" sz="1200" dirty="0"/>
              <a:t> = result[0]</a:t>
            </a:r>
          </a:p>
          <a:p>
            <a:r>
              <a:rPr lang="en-GB" sz="1200" dirty="0"/>
              <a:t>    while(</a:t>
            </a:r>
            <a:r>
              <a:rPr lang="en-GB" sz="1200" dirty="0" err="1"/>
              <a:t>foundUnlablelledPixel</a:t>
            </a:r>
            <a:r>
              <a:rPr lang="en-GB" sz="1200" dirty="0"/>
              <a:t>):</a:t>
            </a:r>
          </a:p>
          <a:p>
            <a:r>
              <a:rPr lang="en-GB" sz="1200" dirty="0"/>
              <a:t>        </a:t>
            </a:r>
            <a:r>
              <a:rPr lang="en-GB" sz="1200" dirty="0" err="1"/>
              <a:t>labelNewRegion</a:t>
            </a:r>
            <a:r>
              <a:rPr lang="en-GB" sz="1200" dirty="0"/>
              <a:t>(pixels, </a:t>
            </a:r>
            <a:r>
              <a:rPr lang="en-GB" sz="1200" dirty="0" err="1"/>
              <a:t>labelPixels</a:t>
            </a:r>
            <a:r>
              <a:rPr lang="en-GB" sz="1200" dirty="0"/>
              <a:t>, result[1], result[2], </a:t>
            </a:r>
            <a:r>
              <a:rPr lang="en-GB" sz="1200" dirty="0" err="1"/>
              <a:t>regionIndex</a:t>
            </a:r>
            <a:r>
              <a:rPr lang="en-GB" sz="1200" dirty="0"/>
              <a:t>, width, height)</a:t>
            </a:r>
          </a:p>
          <a:p>
            <a:r>
              <a:rPr lang="en-GB" sz="1200" dirty="0"/>
              <a:t>        result = </a:t>
            </a:r>
            <a:r>
              <a:rPr lang="en-GB" sz="1200" dirty="0" err="1"/>
              <a:t>searchUnlabelledPixel</a:t>
            </a:r>
            <a:r>
              <a:rPr lang="en-GB" sz="1200" dirty="0"/>
              <a:t>(pixels, width, height)</a:t>
            </a:r>
          </a:p>
          <a:p>
            <a:r>
              <a:rPr lang="en-GB" sz="1200" dirty="0"/>
              <a:t>        </a:t>
            </a:r>
            <a:r>
              <a:rPr lang="en-GB" sz="1200" dirty="0" err="1"/>
              <a:t>foundUnlablelledPixel</a:t>
            </a:r>
            <a:r>
              <a:rPr lang="en-GB" sz="1200" dirty="0"/>
              <a:t> = result[0]</a:t>
            </a:r>
          </a:p>
          <a:p>
            <a:r>
              <a:rPr lang="en-GB" sz="1200" dirty="0"/>
              <a:t>        </a:t>
            </a:r>
            <a:r>
              <a:rPr lang="en-GB" sz="1200" dirty="0" err="1"/>
              <a:t>regionIndex</a:t>
            </a:r>
            <a:r>
              <a:rPr lang="en-GB" sz="1200" dirty="0"/>
              <a:t>+=1</a:t>
            </a:r>
          </a:p>
          <a:p>
            <a:r>
              <a:rPr lang="en-GB" sz="1200" dirty="0"/>
              <a:t>    return </a:t>
            </a:r>
            <a:r>
              <a:rPr lang="en-GB" sz="1200" dirty="0" err="1"/>
              <a:t>labelImage</a:t>
            </a:r>
            <a:endParaRPr lang="en-GB" sz="1200" dirty="0"/>
          </a:p>
          <a:p>
            <a:endParaRPr lang="en-GB" sz="1200" dirty="0"/>
          </a:p>
          <a:p>
            <a:r>
              <a:rPr lang="en-GB" sz="1200" dirty="0" err="1"/>
              <a:t>imageFile</a:t>
            </a:r>
            <a:r>
              <a:rPr lang="en-GB" sz="1200" dirty="0"/>
              <a:t> = "City_Inventory.jpg"</a:t>
            </a:r>
          </a:p>
          <a:p>
            <a:r>
              <a:rPr lang="en-GB" sz="1200" dirty="0" err="1"/>
              <a:t>img</a:t>
            </a:r>
            <a:r>
              <a:rPr lang="en-GB" sz="1200" dirty="0"/>
              <a:t> = </a:t>
            </a:r>
            <a:r>
              <a:rPr lang="en-GB" sz="1200" dirty="0" err="1"/>
              <a:t>Image.open</a:t>
            </a:r>
            <a:r>
              <a:rPr lang="en-GB" sz="1200" dirty="0"/>
              <a:t>(</a:t>
            </a:r>
            <a:r>
              <a:rPr lang="en-GB" sz="1200" dirty="0" err="1"/>
              <a:t>imageFile</a:t>
            </a:r>
            <a:r>
              <a:rPr lang="en-GB" sz="1200" dirty="0"/>
              <a:t>)</a:t>
            </a:r>
          </a:p>
          <a:p>
            <a:r>
              <a:rPr lang="en-GB" sz="1200" dirty="0" err="1"/>
              <a:t>labelImage</a:t>
            </a:r>
            <a:r>
              <a:rPr lang="en-GB" sz="1200" dirty="0"/>
              <a:t> = </a:t>
            </a:r>
            <a:r>
              <a:rPr lang="en-GB" sz="1200" dirty="0" err="1"/>
              <a:t>imageSegmentLabelling</a:t>
            </a:r>
            <a:r>
              <a:rPr lang="en-GB" sz="1200" dirty="0"/>
              <a:t>(</a:t>
            </a:r>
            <a:r>
              <a:rPr lang="en-GB" sz="1200" dirty="0" err="1"/>
              <a:t>img</a:t>
            </a:r>
            <a:r>
              <a:rPr lang="en-GB" sz="1200" dirty="0"/>
              <a:t>)</a:t>
            </a:r>
          </a:p>
          <a:p>
            <a:r>
              <a:rPr lang="en-GB" sz="1200" dirty="0" err="1"/>
              <a:t>img.show</a:t>
            </a:r>
            <a:r>
              <a:rPr lang="en-GB" sz="1200" dirty="0"/>
              <a:t>()</a:t>
            </a:r>
          </a:p>
          <a:p>
            <a:r>
              <a:rPr lang="en-GB" sz="1200" dirty="0" err="1"/>
              <a:t>img.save</a:t>
            </a:r>
            <a:r>
              <a:rPr lang="en-GB" sz="1200" dirty="0"/>
              <a:t>("City_Inventory_seg.jpg") </a:t>
            </a:r>
          </a:p>
        </p:txBody>
      </p:sp>
    </p:spTree>
    <p:extLst>
      <p:ext uri="{BB962C8B-B14F-4D97-AF65-F5344CB8AC3E}">
        <p14:creationId xmlns:p14="http://schemas.microsoft.com/office/powerpoint/2010/main" val="4135800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4 – City</a:t>
            </a:r>
            <a:endParaRPr lang="en-US" dirty="0"/>
          </a:p>
        </p:txBody>
      </p:sp>
      <p:sp>
        <p:nvSpPr>
          <p:cNvPr id="4" name="Rounded Rectangle 3"/>
          <p:cNvSpPr/>
          <p:nvPr/>
        </p:nvSpPr>
        <p:spPr>
          <a:xfrm>
            <a:off x="1423416" y="2133600"/>
            <a:ext cx="5053584" cy="3276600"/>
          </a:xfrm>
          <a:prstGeom prst="roundRect">
            <a:avLst>
              <a:gd name="adj" fmla="val 7693"/>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200" dirty="0"/>
              <a:t>from PIL import Image, </a:t>
            </a:r>
            <a:r>
              <a:rPr lang="en-GB" sz="1200" dirty="0" err="1"/>
              <a:t>ImageFilter</a:t>
            </a:r>
            <a:endParaRPr lang="en-GB" sz="1200" dirty="0"/>
          </a:p>
          <a:p>
            <a:r>
              <a:rPr lang="en-GB" sz="1200" dirty="0"/>
              <a:t>from collections import </a:t>
            </a:r>
            <a:r>
              <a:rPr lang="en-GB" sz="1200" dirty="0" err="1"/>
              <a:t>deque</a:t>
            </a:r>
            <a:endParaRPr lang="en-GB" sz="1200" dirty="0"/>
          </a:p>
          <a:p>
            <a:r>
              <a:rPr lang="en-GB" sz="1200" dirty="0"/>
              <a:t>import random</a:t>
            </a:r>
          </a:p>
          <a:p>
            <a:endParaRPr lang="en-GB" sz="1200" dirty="0"/>
          </a:p>
          <a:p>
            <a:r>
              <a:rPr lang="en-GB" sz="1200" dirty="0" err="1"/>
              <a:t>def</a:t>
            </a:r>
            <a:r>
              <a:rPr lang="en-GB" sz="1200" dirty="0"/>
              <a:t> </a:t>
            </a:r>
            <a:r>
              <a:rPr lang="en-GB" sz="1200" dirty="0" err="1"/>
              <a:t>labelNewRegion</a:t>
            </a:r>
            <a:r>
              <a:rPr lang="en-GB" sz="1200" dirty="0"/>
              <a:t>(pixels, </a:t>
            </a:r>
            <a:r>
              <a:rPr lang="en-GB" sz="1200" dirty="0" err="1"/>
              <a:t>labelPixels</a:t>
            </a:r>
            <a:r>
              <a:rPr lang="en-GB" sz="1200" dirty="0"/>
              <a:t>, x, y, </a:t>
            </a:r>
            <a:r>
              <a:rPr lang="en-GB" sz="1200" dirty="0" err="1"/>
              <a:t>regionIndex</a:t>
            </a:r>
            <a:r>
              <a:rPr lang="en-GB" sz="1200" dirty="0"/>
              <a:t>, width, height): </a:t>
            </a:r>
          </a:p>
          <a:p>
            <a:r>
              <a:rPr lang="en-GB" sz="1200" dirty="0"/>
              <a:t>    </a:t>
            </a:r>
            <a:r>
              <a:rPr lang="en-GB" sz="1200" dirty="0">
                <a:solidFill>
                  <a:schemeClr val="accent3">
                    <a:lumMod val="60000"/>
                    <a:lumOff val="40000"/>
                  </a:schemeClr>
                </a:solidFill>
              </a:rPr>
              <a:t>'''(</a:t>
            </a:r>
            <a:r>
              <a:rPr lang="en-GB" sz="1200" dirty="0" err="1">
                <a:solidFill>
                  <a:schemeClr val="accent3">
                    <a:lumMod val="60000"/>
                    <a:lumOff val="40000"/>
                  </a:schemeClr>
                </a:solidFill>
              </a:rPr>
              <a:t>x,y</a:t>
            </a:r>
            <a:r>
              <a:rPr lang="en-GB" sz="1200" dirty="0">
                <a:solidFill>
                  <a:schemeClr val="accent3">
                    <a:lumMod val="60000"/>
                    <a:lumOff val="40000"/>
                  </a:schemeClr>
                </a:solidFill>
              </a:rPr>
              <a:t>) is the seed pixel, searching the neighbour'''</a:t>
            </a:r>
          </a:p>
          <a:p>
            <a:r>
              <a:rPr lang="en-GB" sz="1200" dirty="0"/>
              <a:t>    </a:t>
            </a:r>
            <a:r>
              <a:rPr lang="en-GB" sz="1200" dirty="0" err="1"/>
              <a:t>seedPixelQueue</a:t>
            </a:r>
            <a:r>
              <a:rPr lang="en-GB" sz="1200" dirty="0"/>
              <a:t> = </a:t>
            </a:r>
            <a:r>
              <a:rPr lang="en-GB" sz="1200" dirty="0" err="1"/>
              <a:t>deque</a:t>
            </a:r>
            <a:r>
              <a:rPr lang="en-GB" sz="1200" dirty="0"/>
              <a:t>()</a:t>
            </a:r>
          </a:p>
          <a:p>
            <a:r>
              <a:rPr lang="en-GB" sz="1200" dirty="0"/>
              <a:t>    </a:t>
            </a:r>
            <a:r>
              <a:rPr lang="en-GB" sz="1200" dirty="0" err="1"/>
              <a:t>seedPixelQueue.append</a:t>
            </a:r>
            <a:r>
              <a:rPr lang="en-GB" sz="1200" dirty="0"/>
              <a:t>([</a:t>
            </a:r>
            <a:r>
              <a:rPr lang="en-GB" sz="1200" dirty="0" err="1"/>
              <a:t>x,y</a:t>
            </a:r>
            <a:r>
              <a:rPr lang="en-GB" sz="1200" dirty="0"/>
              <a:t>])</a:t>
            </a:r>
          </a:p>
          <a:p>
            <a:r>
              <a:rPr lang="en-GB" sz="1200" dirty="0"/>
              <a:t>    </a:t>
            </a:r>
            <a:r>
              <a:rPr lang="en-GB" sz="1200" dirty="0" err="1"/>
              <a:t>segColor</a:t>
            </a:r>
            <a:r>
              <a:rPr lang="en-GB" sz="1200" dirty="0"/>
              <a:t> = 100+random.randint(1,10)*10-1</a:t>
            </a:r>
          </a:p>
          <a:p>
            <a:r>
              <a:rPr lang="en-GB" sz="1200" dirty="0"/>
              <a:t>    pixels[x, y] = </a:t>
            </a:r>
            <a:r>
              <a:rPr lang="en-GB" sz="1200" dirty="0" err="1"/>
              <a:t>segColor</a:t>
            </a:r>
            <a:endParaRPr lang="en-GB" sz="1200" dirty="0"/>
          </a:p>
          <a:p>
            <a:r>
              <a:rPr lang="en-GB" sz="1200" dirty="0"/>
              <a:t>    </a:t>
            </a:r>
            <a:r>
              <a:rPr lang="en-GB" sz="1200" dirty="0" err="1"/>
              <a:t>labelPixels</a:t>
            </a:r>
            <a:r>
              <a:rPr lang="en-GB" sz="1200" dirty="0"/>
              <a:t>[x, y] = </a:t>
            </a:r>
            <a:r>
              <a:rPr lang="en-GB" sz="1200" dirty="0" err="1"/>
              <a:t>regionIndex</a:t>
            </a:r>
            <a:endParaRPr lang="en-GB" sz="1200" dirty="0"/>
          </a:p>
          <a:p>
            <a:r>
              <a:rPr lang="en-GB" sz="1200" dirty="0"/>
              <a:t>    while </a:t>
            </a:r>
            <a:r>
              <a:rPr lang="en-GB" sz="1200" dirty="0" err="1"/>
              <a:t>len</a:t>
            </a:r>
            <a:r>
              <a:rPr lang="en-GB" sz="1200" dirty="0"/>
              <a:t>(</a:t>
            </a:r>
            <a:r>
              <a:rPr lang="en-GB" sz="1200" dirty="0" err="1"/>
              <a:t>seedPixelQueue</a:t>
            </a:r>
            <a:r>
              <a:rPr lang="en-GB" sz="1200" dirty="0"/>
              <a:t>)&gt;0:</a:t>
            </a:r>
          </a:p>
          <a:p>
            <a:r>
              <a:rPr lang="en-GB" sz="1200" dirty="0"/>
              <a:t>        </a:t>
            </a:r>
            <a:r>
              <a:rPr lang="en-GB" sz="1200" dirty="0" err="1"/>
              <a:t>nextPixelPos</a:t>
            </a:r>
            <a:r>
              <a:rPr lang="en-GB" sz="1200" dirty="0"/>
              <a:t> = </a:t>
            </a:r>
            <a:r>
              <a:rPr lang="en-GB" sz="1200" dirty="0" err="1"/>
              <a:t>seedPixelQueue.popleft</a:t>
            </a:r>
            <a:r>
              <a:rPr lang="en-GB" sz="1200" dirty="0"/>
              <a:t>()</a:t>
            </a:r>
          </a:p>
          <a:p>
            <a:r>
              <a:rPr lang="en-GB" sz="1200" dirty="0"/>
              <a:t>        x= </a:t>
            </a:r>
            <a:r>
              <a:rPr lang="en-GB" sz="1200" dirty="0" err="1"/>
              <a:t>nextPixelPos</a:t>
            </a:r>
            <a:r>
              <a:rPr lang="en-GB" sz="1200" dirty="0"/>
              <a:t>[0]</a:t>
            </a:r>
          </a:p>
          <a:p>
            <a:r>
              <a:rPr lang="en-GB" sz="1200" dirty="0"/>
              <a:t>        y= </a:t>
            </a:r>
            <a:r>
              <a:rPr lang="en-GB" sz="1200" dirty="0" err="1"/>
              <a:t>nextPixelPos</a:t>
            </a:r>
            <a:r>
              <a:rPr lang="en-GB" sz="1200" dirty="0"/>
              <a:t>[1]</a:t>
            </a:r>
          </a:p>
          <a:p>
            <a:r>
              <a:rPr lang="en-GB" sz="1200" dirty="0"/>
              <a:t>        # check all neighbours</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5181600"/>
            <a:ext cx="1847850" cy="1367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Oval 1"/>
          <p:cNvSpPr/>
          <p:nvPr/>
        </p:nvSpPr>
        <p:spPr>
          <a:xfrm>
            <a:off x="7629525" y="5770548"/>
            <a:ext cx="78782" cy="9685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7" name="Oval 6"/>
          <p:cNvSpPr/>
          <p:nvPr/>
        </p:nvSpPr>
        <p:spPr>
          <a:xfrm>
            <a:off x="7772400" y="5791200"/>
            <a:ext cx="78782" cy="9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7616261" y="5618148"/>
            <a:ext cx="78782" cy="9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7467600" y="5791200"/>
            <a:ext cx="78782" cy="9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7620000" y="5943600"/>
            <a:ext cx="78782" cy="9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1339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4 – City</a:t>
            </a:r>
            <a:endParaRPr lang="en-US" dirty="0"/>
          </a:p>
        </p:txBody>
      </p:sp>
      <p:pic>
        <p:nvPicPr>
          <p:cNvPr id="3074" name="Picture 2" descr="D:\YangXiaosong\Research\Teaching\PythonScripting\2017-2018\CAPP_Lectures\Image\City_Inventor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2109216"/>
            <a:ext cx="3733800" cy="269304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YangXiaosong\Research\Teaching\PythonScripting\2017-2018\CAPP_Lectures\Image\City_Inventory_seg.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2084832"/>
            <a:ext cx="3767608" cy="2717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958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4 – City</a:t>
            </a:r>
            <a:endParaRPr lang="en-US"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324" y="2170023"/>
            <a:ext cx="695325"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199" y="2398623"/>
            <a:ext cx="476250" cy="35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99" y="2200160"/>
            <a:ext cx="752475"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6407" y="2398623"/>
            <a:ext cx="438150"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reeform 2"/>
          <p:cNvSpPr/>
          <p:nvPr/>
        </p:nvSpPr>
        <p:spPr>
          <a:xfrm>
            <a:off x="1432560" y="3635654"/>
            <a:ext cx="826618" cy="585216"/>
          </a:xfrm>
          <a:custGeom>
            <a:avLst/>
            <a:gdLst>
              <a:gd name="connsiteX0" fmla="*/ 0 w 826618"/>
              <a:gd name="connsiteY0" fmla="*/ 131674 h 585216"/>
              <a:gd name="connsiteX1" fmla="*/ 73152 w 826618"/>
              <a:gd name="connsiteY1" fmla="*/ 585216 h 585216"/>
              <a:gd name="connsiteX2" fmla="*/ 826618 w 826618"/>
              <a:gd name="connsiteY2" fmla="*/ 453543 h 585216"/>
              <a:gd name="connsiteX3" fmla="*/ 746150 w 826618"/>
              <a:gd name="connsiteY3" fmla="*/ 0 h 585216"/>
              <a:gd name="connsiteX4" fmla="*/ 0 w 826618"/>
              <a:gd name="connsiteY4" fmla="*/ 131674 h 585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618" h="585216">
                <a:moveTo>
                  <a:pt x="0" y="131674"/>
                </a:moveTo>
                <a:lnTo>
                  <a:pt x="73152" y="585216"/>
                </a:lnTo>
                <a:lnTo>
                  <a:pt x="826618" y="453543"/>
                </a:lnTo>
                <a:lnTo>
                  <a:pt x="746150" y="0"/>
                </a:lnTo>
                <a:lnTo>
                  <a:pt x="0" y="131674"/>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reeform 3"/>
          <p:cNvSpPr/>
          <p:nvPr/>
        </p:nvSpPr>
        <p:spPr>
          <a:xfrm>
            <a:off x="2607639" y="3463747"/>
            <a:ext cx="819303" cy="929030"/>
          </a:xfrm>
          <a:custGeom>
            <a:avLst/>
            <a:gdLst>
              <a:gd name="connsiteX0" fmla="*/ 0 w 819303"/>
              <a:gd name="connsiteY0" fmla="*/ 36576 h 929030"/>
              <a:gd name="connsiteX1" fmla="*/ 190195 w 819303"/>
              <a:gd name="connsiteY1" fmla="*/ 929030 h 929030"/>
              <a:gd name="connsiteX2" fmla="*/ 329184 w 819303"/>
              <a:gd name="connsiteY2" fmla="*/ 892454 h 929030"/>
              <a:gd name="connsiteX3" fmla="*/ 248717 w 819303"/>
              <a:gd name="connsiteY3" fmla="*/ 468172 h 929030"/>
              <a:gd name="connsiteX4" fmla="*/ 431597 w 819303"/>
              <a:gd name="connsiteY4" fmla="*/ 365760 h 929030"/>
              <a:gd name="connsiteX5" fmla="*/ 760781 w 819303"/>
              <a:gd name="connsiteY5" fmla="*/ 541324 h 929030"/>
              <a:gd name="connsiteX6" fmla="*/ 819303 w 819303"/>
              <a:gd name="connsiteY6" fmla="*/ 402336 h 929030"/>
              <a:gd name="connsiteX7" fmla="*/ 299923 w 819303"/>
              <a:gd name="connsiteY7" fmla="*/ 0 h 929030"/>
              <a:gd name="connsiteX8" fmla="*/ 0 w 819303"/>
              <a:gd name="connsiteY8" fmla="*/ 36576 h 9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9303" h="929030">
                <a:moveTo>
                  <a:pt x="0" y="36576"/>
                </a:moveTo>
                <a:lnTo>
                  <a:pt x="190195" y="929030"/>
                </a:lnTo>
                <a:lnTo>
                  <a:pt x="329184" y="892454"/>
                </a:lnTo>
                <a:lnTo>
                  <a:pt x="248717" y="468172"/>
                </a:lnTo>
                <a:lnTo>
                  <a:pt x="431597" y="365760"/>
                </a:lnTo>
                <a:lnTo>
                  <a:pt x="760781" y="541324"/>
                </a:lnTo>
                <a:lnTo>
                  <a:pt x="819303" y="402336"/>
                </a:lnTo>
                <a:lnTo>
                  <a:pt x="299923" y="0"/>
                </a:lnTo>
                <a:lnTo>
                  <a:pt x="0" y="365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reeform 4"/>
          <p:cNvSpPr/>
          <p:nvPr/>
        </p:nvSpPr>
        <p:spPr>
          <a:xfrm>
            <a:off x="3964838" y="3569818"/>
            <a:ext cx="877824" cy="563270"/>
          </a:xfrm>
          <a:custGeom>
            <a:avLst/>
            <a:gdLst>
              <a:gd name="connsiteX0" fmla="*/ 0 w 877824"/>
              <a:gd name="connsiteY0" fmla="*/ 270662 h 563270"/>
              <a:gd name="connsiteX1" fmla="*/ 58522 w 877824"/>
              <a:gd name="connsiteY1" fmla="*/ 563270 h 563270"/>
              <a:gd name="connsiteX2" fmla="*/ 877824 w 877824"/>
              <a:gd name="connsiteY2" fmla="*/ 490118 h 563270"/>
              <a:gd name="connsiteX3" fmla="*/ 424282 w 877824"/>
              <a:gd name="connsiteY3" fmla="*/ 0 h 563270"/>
              <a:gd name="connsiteX4" fmla="*/ 212141 w 877824"/>
              <a:gd name="connsiteY4" fmla="*/ 109728 h 563270"/>
              <a:gd name="connsiteX5" fmla="*/ 299924 w 877824"/>
              <a:gd name="connsiteY5" fmla="*/ 204825 h 563270"/>
              <a:gd name="connsiteX6" fmla="*/ 0 w 877824"/>
              <a:gd name="connsiteY6" fmla="*/ 270662 h 563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824" h="563270">
                <a:moveTo>
                  <a:pt x="0" y="270662"/>
                </a:moveTo>
                <a:lnTo>
                  <a:pt x="58522" y="563270"/>
                </a:lnTo>
                <a:lnTo>
                  <a:pt x="877824" y="490118"/>
                </a:lnTo>
                <a:lnTo>
                  <a:pt x="424282" y="0"/>
                </a:lnTo>
                <a:lnTo>
                  <a:pt x="212141" y="109728"/>
                </a:lnTo>
                <a:lnTo>
                  <a:pt x="299924" y="204825"/>
                </a:lnTo>
                <a:lnTo>
                  <a:pt x="0" y="27066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6"/>
          <p:cNvSpPr/>
          <p:nvPr/>
        </p:nvSpPr>
        <p:spPr>
          <a:xfrm>
            <a:off x="5442509" y="3547872"/>
            <a:ext cx="548640" cy="833933"/>
          </a:xfrm>
          <a:custGeom>
            <a:avLst/>
            <a:gdLst>
              <a:gd name="connsiteX0" fmla="*/ 0 w 548640"/>
              <a:gd name="connsiteY0" fmla="*/ 7315 h 833933"/>
              <a:gd name="connsiteX1" fmla="*/ 402336 w 548640"/>
              <a:gd name="connsiteY1" fmla="*/ 833933 h 833933"/>
              <a:gd name="connsiteX2" fmla="*/ 548640 w 548640"/>
              <a:gd name="connsiteY2" fmla="*/ 746150 h 833933"/>
              <a:gd name="connsiteX3" fmla="*/ 329184 w 548640"/>
              <a:gd name="connsiteY3" fmla="*/ 270662 h 833933"/>
              <a:gd name="connsiteX4" fmla="*/ 431597 w 548640"/>
              <a:gd name="connsiteY4" fmla="*/ 212141 h 833933"/>
              <a:gd name="connsiteX5" fmla="*/ 446227 w 548640"/>
              <a:gd name="connsiteY5" fmla="*/ 0 h 833933"/>
              <a:gd name="connsiteX6" fmla="*/ 0 w 548640"/>
              <a:gd name="connsiteY6" fmla="*/ 7315 h 83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640" h="833933">
                <a:moveTo>
                  <a:pt x="0" y="7315"/>
                </a:moveTo>
                <a:lnTo>
                  <a:pt x="402336" y="833933"/>
                </a:lnTo>
                <a:lnTo>
                  <a:pt x="548640" y="746150"/>
                </a:lnTo>
                <a:lnTo>
                  <a:pt x="329184" y="270662"/>
                </a:lnTo>
                <a:lnTo>
                  <a:pt x="431597" y="212141"/>
                </a:lnTo>
                <a:lnTo>
                  <a:pt x="446227" y="0"/>
                </a:lnTo>
                <a:lnTo>
                  <a:pt x="0" y="731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1607362" y="3752088"/>
            <a:ext cx="632918" cy="381000"/>
          </a:xfrm>
          <a:prstGeom prst="rect">
            <a:avLst/>
          </a:prstGeom>
          <a:noFill/>
        </p:spPr>
        <p:txBody>
          <a:bodyPr wrap="square" rtlCol="0">
            <a:spAutoFit/>
          </a:bodyPr>
          <a:lstStyle/>
          <a:p>
            <a:r>
              <a:rPr lang="en-GB" dirty="0"/>
              <a:t>id</a:t>
            </a:r>
          </a:p>
        </p:txBody>
      </p:sp>
      <p:sp>
        <p:nvSpPr>
          <p:cNvPr id="14" name="TextBox 13"/>
          <p:cNvSpPr txBox="1"/>
          <p:nvPr/>
        </p:nvSpPr>
        <p:spPr>
          <a:xfrm>
            <a:off x="2631527" y="3485083"/>
            <a:ext cx="632918" cy="381000"/>
          </a:xfrm>
          <a:prstGeom prst="rect">
            <a:avLst/>
          </a:prstGeom>
          <a:noFill/>
        </p:spPr>
        <p:txBody>
          <a:bodyPr wrap="square" rtlCol="0">
            <a:spAutoFit/>
          </a:bodyPr>
          <a:lstStyle/>
          <a:p>
            <a:r>
              <a:rPr lang="en-GB" dirty="0"/>
              <a:t>19</a:t>
            </a:r>
          </a:p>
        </p:txBody>
      </p:sp>
      <p:sp>
        <p:nvSpPr>
          <p:cNvPr id="16" name="TextBox 15"/>
          <p:cNvSpPr txBox="1"/>
          <p:nvPr/>
        </p:nvSpPr>
        <p:spPr>
          <a:xfrm>
            <a:off x="4087291" y="3737762"/>
            <a:ext cx="632918" cy="381000"/>
          </a:xfrm>
          <a:prstGeom prst="rect">
            <a:avLst/>
          </a:prstGeom>
          <a:noFill/>
        </p:spPr>
        <p:txBody>
          <a:bodyPr wrap="square" rtlCol="0">
            <a:spAutoFit/>
          </a:bodyPr>
          <a:lstStyle/>
          <a:p>
            <a:r>
              <a:rPr lang="en-GB" dirty="0"/>
              <a:t>203</a:t>
            </a:r>
          </a:p>
        </p:txBody>
      </p:sp>
      <p:sp>
        <p:nvSpPr>
          <p:cNvPr id="17" name="TextBox 16"/>
          <p:cNvSpPr txBox="1"/>
          <p:nvPr/>
        </p:nvSpPr>
        <p:spPr>
          <a:xfrm>
            <a:off x="5468186" y="3540251"/>
            <a:ext cx="632918" cy="381000"/>
          </a:xfrm>
          <a:prstGeom prst="rect">
            <a:avLst/>
          </a:prstGeom>
          <a:noFill/>
        </p:spPr>
        <p:txBody>
          <a:bodyPr wrap="square" rtlCol="0">
            <a:spAutoFit/>
          </a:bodyPr>
          <a:lstStyle/>
          <a:p>
            <a:r>
              <a:rPr lang="en-GB" dirty="0"/>
              <a:t>47</a:t>
            </a:r>
          </a:p>
        </p:txBody>
      </p:sp>
      <p:sp>
        <p:nvSpPr>
          <p:cNvPr id="9" name="Freeform 8"/>
          <p:cNvSpPr/>
          <p:nvPr/>
        </p:nvSpPr>
        <p:spPr>
          <a:xfrm>
            <a:off x="6870819" y="3375589"/>
            <a:ext cx="1085316" cy="1316052"/>
          </a:xfrm>
          <a:custGeom>
            <a:avLst/>
            <a:gdLst>
              <a:gd name="connsiteX0" fmla="*/ 0 w 1085316"/>
              <a:gd name="connsiteY0" fmla="*/ 0 h 1316052"/>
              <a:gd name="connsiteX1" fmla="*/ 743484 w 1085316"/>
              <a:gd name="connsiteY1" fmla="*/ 0 h 1316052"/>
              <a:gd name="connsiteX2" fmla="*/ 743484 w 1085316"/>
              <a:gd name="connsiteY2" fmla="*/ 205099 h 1316052"/>
              <a:gd name="connsiteX3" fmla="*/ 606751 w 1085316"/>
              <a:gd name="connsiteY3" fmla="*/ 273465 h 1316052"/>
              <a:gd name="connsiteX4" fmla="*/ 1085316 w 1085316"/>
              <a:gd name="connsiteY4" fmla="*/ 1187865 h 1316052"/>
              <a:gd name="connsiteX5" fmla="*/ 846033 w 1085316"/>
              <a:gd name="connsiteY5" fmla="*/ 1316052 h 1316052"/>
              <a:gd name="connsiteX6" fmla="*/ 0 w 1085316"/>
              <a:gd name="connsiteY6" fmla="*/ 0 h 131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5316" h="1316052">
                <a:moveTo>
                  <a:pt x="0" y="0"/>
                </a:moveTo>
                <a:lnTo>
                  <a:pt x="743484" y="0"/>
                </a:lnTo>
                <a:lnTo>
                  <a:pt x="743484" y="205099"/>
                </a:lnTo>
                <a:lnTo>
                  <a:pt x="606751" y="273465"/>
                </a:lnTo>
                <a:lnTo>
                  <a:pt x="1085316" y="1187865"/>
                </a:lnTo>
                <a:lnTo>
                  <a:pt x="846033" y="1316052"/>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17"/>
          <p:cNvSpPr/>
          <p:nvPr/>
        </p:nvSpPr>
        <p:spPr>
          <a:xfrm>
            <a:off x="6934200" y="3094062"/>
            <a:ext cx="1085316" cy="1316052"/>
          </a:xfrm>
          <a:custGeom>
            <a:avLst/>
            <a:gdLst>
              <a:gd name="connsiteX0" fmla="*/ 0 w 1085316"/>
              <a:gd name="connsiteY0" fmla="*/ 0 h 1316052"/>
              <a:gd name="connsiteX1" fmla="*/ 743484 w 1085316"/>
              <a:gd name="connsiteY1" fmla="*/ 0 h 1316052"/>
              <a:gd name="connsiteX2" fmla="*/ 743484 w 1085316"/>
              <a:gd name="connsiteY2" fmla="*/ 205099 h 1316052"/>
              <a:gd name="connsiteX3" fmla="*/ 606751 w 1085316"/>
              <a:gd name="connsiteY3" fmla="*/ 273465 h 1316052"/>
              <a:gd name="connsiteX4" fmla="*/ 1085316 w 1085316"/>
              <a:gd name="connsiteY4" fmla="*/ 1187865 h 1316052"/>
              <a:gd name="connsiteX5" fmla="*/ 846033 w 1085316"/>
              <a:gd name="connsiteY5" fmla="*/ 1316052 h 1316052"/>
              <a:gd name="connsiteX6" fmla="*/ 0 w 1085316"/>
              <a:gd name="connsiteY6" fmla="*/ 0 h 131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5316" h="1316052">
                <a:moveTo>
                  <a:pt x="0" y="0"/>
                </a:moveTo>
                <a:lnTo>
                  <a:pt x="743484" y="0"/>
                </a:lnTo>
                <a:lnTo>
                  <a:pt x="743484" y="205099"/>
                </a:lnTo>
                <a:lnTo>
                  <a:pt x="606751" y="273465"/>
                </a:lnTo>
                <a:lnTo>
                  <a:pt x="1085316" y="1187865"/>
                </a:lnTo>
                <a:lnTo>
                  <a:pt x="846033" y="1316052"/>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19"/>
          <p:cNvSpPr/>
          <p:nvPr/>
        </p:nvSpPr>
        <p:spPr>
          <a:xfrm>
            <a:off x="6862273" y="3110670"/>
            <a:ext cx="931491" cy="1598064"/>
          </a:xfrm>
          <a:custGeom>
            <a:avLst/>
            <a:gdLst>
              <a:gd name="connsiteX0" fmla="*/ 42729 w 931491"/>
              <a:gd name="connsiteY0" fmla="*/ 0 h 1615155"/>
              <a:gd name="connsiteX1" fmla="*/ 0 w 931491"/>
              <a:gd name="connsiteY1" fmla="*/ 299102 h 1615155"/>
              <a:gd name="connsiteX2" fmla="*/ 854579 w 931491"/>
              <a:gd name="connsiteY2" fmla="*/ 1615155 h 1615155"/>
              <a:gd name="connsiteX3" fmla="*/ 931491 w 931491"/>
              <a:gd name="connsiteY3" fmla="*/ 1307506 h 1615155"/>
              <a:gd name="connsiteX4" fmla="*/ 42729 w 931491"/>
              <a:gd name="connsiteY4" fmla="*/ 0 h 1615155"/>
              <a:gd name="connsiteX0" fmla="*/ 68366 w 931491"/>
              <a:gd name="connsiteY0" fmla="*/ 0 h 1640793"/>
              <a:gd name="connsiteX1" fmla="*/ 0 w 931491"/>
              <a:gd name="connsiteY1" fmla="*/ 324740 h 1640793"/>
              <a:gd name="connsiteX2" fmla="*/ 854579 w 931491"/>
              <a:gd name="connsiteY2" fmla="*/ 1640793 h 1640793"/>
              <a:gd name="connsiteX3" fmla="*/ 931491 w 931491"/>
              <a:gd name="connsiteY3" fmla="*/ 1333144 h 1640793"/>
              <a:gd name="connsiteX4" fmla="*/ 68366 w 931491"/>
              <a:gd name="connsiteY4" fmla="*/ 0 h 1640793"/>
              <a:gd name="connsiteX0" fmla="*/ 68366 w 931491"/>
              <a:gd name="connsiteY0" fmla="*/ 0 h 1598064"/>
              <a:gd name="connsiteX1" fmla="*/ 0 w 931491"/>
              <a:gd name="connsiteY1" fmla="*/ 282011 h 1598064"/>
              <a:gd name="connsiteX2" fmla="*/ 854579 w 931491"/>
              <a:gd name="connsiteY2" fmla="*/ 1598064 h 1598064"/>
              <a:gd name="connsiteX3" fmla="*/ 931491 w 931491"/>
              <a:gd name="connsiteY3" fmla="*/ 1290415 h 1598064"/>
              <a:gd name="connsiteX4" fmla="*/ 68366 w 931491"/>
              <a:gd name="connsiteY4" fmla="*/ 0 h 159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1491" h="1598064">
                <a:moveTo>
                  <a:pt x="68366" y="0"/>
                </a:moveTo>
                <a:lnTo>
                  <a:pt x="0" y="282011"/>
                </a:lnTo>
                <a:lnTo>
                  <a:pt x="854579" y="1598064"/>
                </a:lnTo>
                <a:lnTo>
                  <a:pt x="931491" y="1290415"/>
                </a:lnTo>
                <a:lnTo>
                  <a:pt x="68366"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Freeform 20"/>
          <p:cNvSpPr/>
          <p:nvPr/>
        </p:nvSpPr>
        <p:spPr>
          <a:xfrm>
            <a:off x="7716852" y="4281443"/>
            <a:ext cx="307649" cy="427290"/>
          </a:xfrm>
          <a:custGeom>
            <a:avLst/>
            <a:gdLst>
              <a:gd name="connsiteX0" fmla="*/ 307649 w 307649"/>
              <a:gd name="connsiteY0" fmla="*/ 0 h 427290"/>
              <a:gd name="connsiteX1" fmla="*/ 239283 w 307649"/>
              <a:gd name="connsiteY1" fmla="*/ 282011 h 427290"/>
              <a:gd name="connsiteX2" fmla="*/ 0 w 307649"/>
              <a:gd name="connsiteY2" fmla="*/ 427290 h 427290"/>
              <a:gd name="connsiteX3" fmla="*/ 68367 w 307649"/>
              <a:gd name="connsiteY3" fmla="*/ 111095 h 427290"/>
              <a:gd name="connsiteX4" fmla="*/ 307649 w 307649"/>
              <a:gd name="connsiteY4" fmla="*/ 0 h 427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49" h="427290">
                <a:moveTo>
                  <a:pt x="307649" y="0"/>
                </a:moveTo>
                <a:lnTo>
                  <a:pt x="239283" y="282011"/>
                </a:lnTo>
                <a:lnTo>
                  <a:pt x="0" y="427290"/>
                </a:lnTo>
                <a:lnTo>
                  <a:pt x="68367" y="111095"/>
                </a:lnTo>
                <a:lnTo>
                  <a:pt x="307649"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reeform 24"/>
          <p:cNvSpPr>
            <a:spLocks/>
          </p:cNvSpPr>
          <p:nvPr/>
        </p:nvSpPr>
        <p:spPr>
          <a:xfrm>
            <a:off x="7119572" y="3023190"/>
            <a:ext cx="868253" cy="1052842"/>
          </a:xfrm>
          <a:custGeom>
            <a:avLst/>
            <a:gdLst>
              <a:gd name="connsiteX0" fmla="*/ 0 w 1085316"/>
              <a:gd name="connsiteY0" fmla="*/ 0 h 1316052"/>
              <a:gd name="connsiteX1" fmla="*/ 743484 w 1085316"/>
              <a:gd name="connsiteY1" fmla="*/ 0 h 1316052"/>
              <a:gd name="connsiteX2" fmla="*/ 743484 w 1085316"/>
              <a:gd name="connsiteY2" fmla="*/ 205099 h 1316052"/>
              <a:gd name="connsiteX3" fmla="*/ 606751 w 1085316"/>
              <a:gd name="connsiteY3" fmla="*/ 273465 h 1316052"/>
              <a:gd name="connsiteX4" fmla="*/ 1085316 w 1085316"/>
              <a:gd name="connsiteY4" fmla="*/ 1187865 h 1316052"/>
              <a:gd name="connsiteX5" fmla="*/ 846033 w 1085316"/>
              <a:gd name="connsiteY5" fmla="*/ 1316052 h 1316052"/>
              <a:gd name="connsiteX6" fmla="*/ 0 w 1085316"/>
              <a:gd name="connsiteY6" fmla="*/ 0 h 131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5316" h="1316052">
                <a:moveTo>
                  <a:pt x="0" y="0"/>
                </a:moveTo>
                <a:lnTo>
                  <a:pt x="743484" y="0"/>
                </a:lnTo>
                <a:lnTo>
                  <a:pt x="743484" y="205099"/>
                </a:lnTo>
                <a:lnTo>
                  <a:pt x="606751" y="273465"/>
                </a:lnTo>
                <a:lnTo>
                  <a:pt x="1085316" y="1187865"/>
                </a:lnTo>
                <a:lnTo>
                  <a:pt x="846033" y="1316052"/>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reeform 25"/>
          <p:cNvSpPr/>
          <p:nvPr/>
        </p:nvSpPr>
        <p:spPr>
          <a:xfrm>
            <a:off x="6929215" y="3015255"/>
            <a:ext cx="888762" cy="1410057"/>
          </a:xfrm>
          <a:custGeom>
            <a:avLst/>
            <a:gdLst>
              <a:gd name="connsiteX0" fmla="*/ 42729 w 931491"/>
              <a:gd name="connsiteY0" fmla="*/ 0 h 1615155"/>
              <a:gd name="connsiteX1" fmla="*/ 0 w 931491"/>
              <a:gd name="connsiteY1" fmla="*/ 299102 h 1615155"/>
              <a:gd name="connsiteX2" fmla="*/ 854579 w 931491"/>
              <a:gd name="connsiteY2" fmla="*/ 1615155 h 1615155"/>
              <a:gd name="connsiteX3" fmla="*/ 931491 w 931491"/>
              <a:gd name="connsiteY3" fmla="*/ 1307506 h 1615155"/>
              <a:gd name="connsiteX4" fmla="*/ 42729 w 931491"/>
              <a:gd name="connsiteY4" fmla="*/ 0 h 1615155"/>
              <a:gd name="connsiteX0" fmla="*/ 68366 w 931491"/>
              <a:gd name="connsiteY0" fmla="*/ 0 h 1640793"/>
              <a:gd name="connsiteX1" fmla="*/ 0 w 931491"/>
              <a:gd name="connsiteY1" fmla="*/ 324740 h 1640793"/>
              <a:gd name="connsiteX2" fmla="*/ 854579 w 931491"/>
              <a:gd name="connsiteY2" fmla="*/ 1640793 h 1640793"/>
              <a:gd name="connsiteX3" fmla="*/ 931491 w 931491"/>
              <a:gd name="connsiteY3" fmla="*/ 1333144 h 1640793"/>
              <a:gd name="connsiteX4" fmla="*/ 68366 w 931491"/>
              <a:gd name="connsiteY4" fmla="*/ 0 h 1640793"/>
              <a:gd name="connsiteX0" fmla="*/ 68366 w 931491"/>
              <a:gd name="connsiteY0" fmla="*/ 0 h 1598064"/>
              <a:gd name="connsiteX1" fmla="*/ 0 w 931491"/>
              <a:gd name="connsiteY1" fmla="*/ 282011 h 1598064"/>
              <a:gd name="connsiteX2" fmla="*/ 854579 w 931491"/>
              <a:gd name="connsiteY2" fmla="*/ 1598064 h 1598064"/>
              <a:gd name="connsiteX3" fmla="*/ 931491 w 931491"/>
              <a:gd name="connsiteY3" fmla="*/ 1290415 h 1598064"/>
              <a:gd name="connsiteX4" fmla="*/ 68366 w 931491"/>
              <a:gd name="connsiteY4" fmla="*/ 0 h 1598064"/>
              <a:gd name="connsiteX0" fmla="*/ 205099 w 931491"/>
              <a:gd name="connsiteY0" fmla="*/ 0 h 1410057"/>
              <a:gd name="connsiteX1" fmla="*/ 0 w 931491"/>
              <a:gd name="connsiteY1" fmla="*/ 94004 h 1410057"/>
              <a:gd name="connsiteX2" fmla="*/ 854579 w 931491"/>
              <a:gd name="connsiteY2" fmla="*/ 1410057 h 1410057"/>
              <a:gd name="connsiteX3" fmla="*/ 931491 w 931491"/>
              <a:gd name="connsiteY3" fmla="*/ 1102408 h 1410057"/>
              <a:gd name="connsiteX4" fmla="*/ 205099 w 931491"/>
              <a:gd name="connsiteY4" fmla="*/ 0 h 1410057"/>
              <a:gd name="connsiteX0" fmla="*/ 205099 w 888762"/>
              <a:gd name="connsiteY0" fmla="*/ 0 h 1410057"/>
              <a:gd name="connsiteX1" fmla="*/ 0 w 888762"/>
              <a:gd name="connsiteY1" fmla="*/ 94004 h 1410057"/>
              <a:gd name="connsiteX2" fmla="*/ 854579 w 888762"/>
              <a:gd name="connsiteY2" fmla="*/ 1410057 h 1410057"/>
              <a:gd name="connsiteX3" fmla="*/ 888762 w 888762"/>
              <a:gd name="connsiteY3" fmla="*/ 1008404 h 1410057"/>
              <a:gd name="connsiteX4" fmla="*/ 205099 w 888762"/>
              <a:gd name="connsiteY4" fmla="*/ 0 h 1410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762" h="1410057">
                <a:moveTo>
                  <a:pt x="205099" y="0"/>
                </a:moveTo>
                <a:lnTo>
                  <a:pt x="0" y="94004"/>
                </a:lnTo>
                <a:lnTo>
                  <a:pt x="854579" y="1410057"/>
                </a:lnTo>
                <a:lnTo>
                  <a:pt x="888762" y="1008404"/>
                </a:lnTo>
                <a:lnTo>
                  <a:pt x="205099"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reeform 26"/>
          <p:cNvSpPr/>
          <p:nvPr/>
        </p:nvSpPr>
        <p:spPr>
          <a:xfrm>
            <a:off x="7786144" y="3990959"/>
            <a:ext cx="239283" cy="418744"/>
          </a:xfrm>
          <a:custGeom>
            <a:avLst/>
            <a:gdLst>
              <a:gd name="connsiteX0" fmla="*/ 307649 w 307649"/>
              <a:gd name="connsiteY0" fmla="*/ 0 h 427290"/>
              <a:gd name="connsiteX1" fmla="*/ 239283 w 307649"/>
              <a:gd name="connsiteY1" fmla="*/ 282011 h 427290"/>
              <a:gd name="connsiteX2" fmla="*/ 0 w 307649"/>
              <a:gd name="connsiteY2" fmla="*/ 427290 h 427290"/>
              <a:gd name="connsiteX3" fmla="*/ 68367 w 307649"/>
              <a:gd name="connsiteY3" fmla="*/ 111095 h 427290"/>
              <a:gd name="connsiteX4" fmla="*/ 307649 w 307649"/>
              <a:gd name="connsiteY4" fmla="*/ 0 h 427290"/>
              <a:gd name="connsiteX0" fmla="*/ 307649 w 307649"/>
              <a:gd name="connsiteY0" fmla="*/ 0 h 427290"/>
              <a:gd name="connsiteX1" fmla="*/ 239283 w 307649"/>
              <a:gd name="connsiteY1" fmla="*/ 282011 h 427290"/>
              <a:gd name="connsiteX2" fmla="*/ 0 w 307649"/>
              <a:gd name="connsiteY2" fmla="*/ 427290 h 427290"/>
              <a:gd name="connsiteX3" fmla="*/ 42729 w 307649"/>
              <a:gd name="connsiteY3" fmla="*/ 68366 h 427290"/>
              <a:gd name="connsiteX4" fmla="*/ 307649 w 307649"/>
              <a:gd name="connsiteY4" fmla="*/ 0 h 427290"/>
              <a:gd name="connsiteX0" fmla="*/ 230737 w 239283"/>
              <a:gd name="connsiteY0" fmla="*/ 0 h 435835"/>
              <a:gd name="connsiteX1" fmla="*/ 239283 w 239283"/>
              <a:gd name="connsiteY1" fmla="*/ 290556 h 435835"/>
              <a:gd name="connsiteX2" fmla="*/ 0 w 239283"/>
              <a:gd name="connsiteY2" fmla="*/ 435835 h 435835"/>
              <a:gd name="connsiteX3" fmla="*/ 42729 w 239283"/>
              <a:gd name="connsiteY3" fmla="*/ 76911 h 435835"/>
              <a:gd name="connsiteX4" fmla="*/ 230737 w 239283"/>
              <a:gd name="connsiteY4" fmla="*/ 0 h 435835"/>
              <a:gd name="connsiteX0" fmla="*/ 205100 w 239283"/>
              <a:gd name="connsiteY0" fmla="*/ 0 h 418744"/>
              <a:gd name="connsiteX1" fmla="*/ 239283 w 239283"/>
              <a:gd name="connsiteY1" fmla="*/ 273465 h 418744"/>
              <a:gd name="connsiteX2" fmla="*/ 0 w 239283"/>
              <a:gd name="connsiteY2" fmla="*/ 418744 h 418744"/>
              <a:gd name="connsiteX3" fmla="*/ 42729 w 239283"/>
              <a:gd name="connsiteY3" fmla="*/ 59820 h 418744"/>
              <a:gd name="connsiteX4" fmla="*/ 205100 w 239283"/>
              <a:gd name="connsiteY4" fmla="*/ 0 h 418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283" h="418744">
                <a:moveTo>
                  <a:pt x="205100" y="0"/>
                </a:moveTo>
                <a:lnTo>
                  <a:pt x="239283" y="273465"/>
                </a:lnTo>
                <a:lnTo>
                  <a:pt x="0" y="418744"/>
                </a:lnTo>
                <a:lnTo>
                  <a:pt x="42729" y="59820"/>
                </a:lnTo>
                <a:lnTo>
                  <a:pt x="20510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17310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Custom 3">
      <a:majorFont>
        <a:latin typeface="Times New Roman"/>
        <a:ea typeface=""/>
        <a:cs typeface=""/>
      </a:majorFont>
      <a:minorFont>
        <a:latin typeface="Times New Roman"/>
        <a:ea typeface=""/>
        <a:cs typeface=""/>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4524</TotalTime>
  <Words>2991</Words>
  <Application>Microsoft Office PowerPoint</Application>
  <PresentationFormat>On-screen Show (4:3)</PresentationFormat>
  <Paragraphs>284</Paragraphs>
  <Slides>27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Cambria</vt:lpstr>
      <vt:lpstr>Times New Roman</vt:lpstr>
      <vt:lpstr>Verdana</vt:lpstr>
      <vt:lpstr>Wingdings 2</vt:lpstr>
      <vt:lpstr>Solstice</vt:lpstr>
      <vt:lpstr>Image</vt:lpstr>
      <vt:lpstr>Top Image Processing libraries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dc:creator>sam</dc:creator>
  <cp:lastModifiedBy>Xiaosong Yang</cp:lastModifiedBy>
  <cp:revision>475</cp:revision>
  <dcterms:created xsi:type="dcterms:W3CDTF">2006-08-16T00:00:00Z</dcterms:created>
  <dcterms:modified xsi:type="dcterms:W3CDTF">2025-07-09T16:17:30Z</dcterms:modified>
</cp:coreProperties>
</file>