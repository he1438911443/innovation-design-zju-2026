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sldIdLst>
    <p:sldId id="256" r:id="rId2"/>
    <p:sldId id="424" r:id="rId3"/>
    <p:sldId id="454" r:id="rId4"/>
    <p:sldId id="455" r:id="rId5"/>
    <p:sldId id="444" r:id="rId6"/>
    <p:sldId id="419" r:id="rId7"/>
    <p:sldId id="431" r:id="rId8"/>
    <p:sldId id="428" r:id="rId9"/>
    <p:sldId id="430" r:id="rId10"/>
    <p:sldId id="432" r:id="rId11"/>
    <p:sldId id="445" r:id="rId12"/>
    <p:sldId id="446" r:id="rId13"/>
    <p:sldId id="434" r:id="rId14"/>
    <p:sldId id="433" r:id="rId15"/>
    <p:sldId id="435" r:id="rId16"/>
    <p:sldId id="436" r:id="rId17"/>
    <p:sldId id="452" r:id="rId18"/>
    <p:sldId id="437" r:id="rId19"/>
    <p:sldId id="438" r:id="rId20"/>
    <p:sldId id="439" r:id="rId21"/>
    <p:sldId id="440" r:id="rId22"/>
    <p:sldId id="429" r:id="rId23"/>
    <p:sldId id="447" r:id="rId24"/>
    <p:sldId id="442" r:id="rId25"/>
    <p:sldId id="448" r:id="rId26"/>
    <p:sldId id="441" r:id="rId27"/>
    <p:sldId id="451" r:id="rId28"/>
    <p:sldId id="453" r:id="rId29"/>
    <p:sldId id="449" r:id="rId30"/>
    <p:sldId id="450"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782" autoAdjust="0"/>
  </p:normalViewPr>
  <p:slideViewPr>
    <p:cSldViewPr>
      <p:cViewPr varScale="1">
        <p:scale>
          <a:sx n="85" d="100"/>
          <a:sy n="85" d="100"/>
        </p:scale>
        <p:origin x="1230" y="5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EA53BF4-7EE1-4233-A521-E3C69A495E07}" type="datetimeFigureOut">
              <a:rPr lang="en-GB" smtClean="0"/>
              <a:t>21/07/2026</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5453B54-C8A9-4EF3-9543-E0C73C11667D}" type="slidenum">
              <a:rPr lang="en-GB" smtClean="0"/>
              <a:t>‹#›</a:t>
            </a:fld>
            <a:endParaRPr lang="en-GB"/>
          </a:p>
        </p:txBody>
      </p:sp>
    </p:spTree>
    <p:extLst>
      <p:ext uri="{BB962C8B-B14F-4D97-AF65-F5344CB8AC3E}">
        <p14:creationId xmlns:p14="http://schemas.microsoft.com/office/powerpoint/2010/main" val="4147165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5453B54-C8A9-4EF3-9543-E0C73C11667D}" type="slidenum">
              <a:rPr lang="en-GB" smtClean="0"/>
              <a:t>5</a:t>
            </a:fld>
            <a:endParaRPr lang="en-GB"/>
          </a:p>
        </p:txBody>
      </p:sp>
    </p:spTree>
    <p:extLst>
      <p:ext uri="{BB962C8B-B14F-4D97-AF65-F5344CB8AC3E}">
        <p14:creationId xmlns:p14="http://schemas.microsoft.com/office/powerpoint/2010/main" val="13689810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35453B54-C8A9-4EF3-9543-E0C73C11667D}" type="slidenum">
              <a:rPr lang="en-GB" smtClean="0"/>
              <a:t>30</a:t>
            </a:fld>
            <a:endParaRPr lang="en-GB"/>
          </a:p>
        </p:txBody>
      </p:sp>
    </p:spTree>
    <p:extLst>
      <p:ext uri="{BB962C8B-B14F-4D97-AF65-F5344CB8AC3E}">
        <p14:creationId xmlns:p14="http://schemas.microsoft.com/office/powerpoint/2010/main" val="36457540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4" name="Title 13"/>
          <p:cNvSpPr>
            <a:spLocks noGrp="1"/>
          </p:cNvSpPr>
          <p:nvPr>
            <p:ph type="ctrTitle"/>
          </p:nvPr>
        </p:nvSpPr>
        <p:spPr>
          <a:xfrm>
            <a:off x="1432560" y="359898"/>
            <a:ext cx="7406640" cy="1472184"/>
          </a:xfrm>
        </p:spPr>
        <p:txBody>
          <a:bodyPr anchor="b"/>
          <a:lstStyle>
            <a:lvl1pPr algn="l">
              <a:defRPr/>
            </a:lvl1pPr>
            <a:extLst/>
          </a:lstStyle>
          <a:p>
            <a:r>
              <a:rPr kumimoji="0" lang="en-US"/>
              <a:t>Click to edit Master title style</a:t>
            </a:r>
          </a:p>
        </p:txBody>
      </p:sp>
      <p:sp>
        <p:nvSpPr>
          <p:cNvPr id="22" name="Subtitle 21"/>
          <p:cNvSpPr>
            <a:spLocks noGrp="1"/>
          </p:cNvSpPr>
          <p:nvPr>
            <p:ph type="subTitle" idx="1"/>
          </p:nvPr>
        </p:nvSpPr>
        <p:spPr>
          <a:xfrm>
            <a:off x="1432560" y="1850064"/>
            <a:ext cx="7406640" cy="1752600"/>
          </a:xfrm>
        </p:spPr>
        <p:txBody>
          <a:bodyPr tIns="0"/>
          <a:lstStyle>
            <a:lvl1pPr marL="27432" indent="0" algn="l">
              <a:buNone/>
              <a:defRPr sz="2600">
                <a:solidFill>
                  <a:schemeClr val="tx2">
                    <a:shade val="30000"/>
                    <a:satMod val="1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sp>
        <p:nvSpPr>
          <p:cNvPr id="7" name="Date Placeholder 6"/>
          <p:cNvSpPr>
            <a:spLocks noGrp="1"/>
          </p:cNvSpPr>
          <p:nvPr>
            <p:ph type="dt" sz="half" idx="10"/>
          </p:nvPr>
        </p:nvSpPr>
        <p:spPr/>
        <p:txBody>
          <a:bodyPr/>
          <a:lstStyle/>
          <a:p>
            <a:fld id="{1D8BD707-D9CF-40AE-B4C6-C98DA3205C09}" type="datetimeFigureOut">
              <a:rPr lang="en-US" smtClean="0"/>
              <a:pPr/>
              <a:t>7/21/2026</a:t>
            </a:fld>
            <a:endParaRPr lang="en-US"/>
          </a:p>
        </p:txBody>
      </p:sp>
      <p:sp>
        <p:nvSpPr>
          <p:cNvPr id="20" name="Footer Placeholder 19"/>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B6F15528-21DE-4FAA-801E-634DDDAF4B2B}" type="slidenum">
              <a:rPr lang="en-US" smtClean="0"/>
              <a:pPr/>
              <a:t>‹#›</a:t>
            </a:fld>
            <a:endParaRPr lang="en-US"/>
          </a:p>
        </p:txBody>
      </p:sp>
      <p:sp>
        <p:nvSpPr>
          <p:cNvPr id="8" name="Oval 7"/>
          <p:cNvSpPr/>
          <p:nvPr/>
        </p:nvSpPr>
        <p:spPr>
          <a:xfrm>
            <a:off x="921433" y="1413802"/>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1157176" y="1345016"/>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282890" y="-54"/>
            <a:ext cx="6858000"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2578392" y="2600325"/>
            <a:ext cx="6400800" cy="2286000"/>
          </a:xfrm>
        </p:spPr>
        <p:txBody>
          <a:bodyPr anchor="t"/>
          <a:lstStyle>
            <a:lvl1pPr algn="l">
              <a:lnSpc>
                <a:spcPts val="4500"/>
              </a:lnSpc>
              <a:buNone/>
              <a:defRPr sz="4000" b="1" cap="all"/>
            </a:lvl1pPr>
            <a:extLst/>
          </a:lstStyle>
          <a:p>
            <a:r>
              <a:rPr kumimoji="0" lang="en-US"/>
              <a:t>Click to edit Master title style</a:t>
            </a:r>
          </a:p>
        </p:txBody>
      </p:sp>
      <p:sp>
        <p:nvSpPr>
          <p:cNvPr id="3" name="Text Placeholder 2"/>
          <p:cNvSpPr>
            <a:spLocks noGrp="1"/>
          </p:cNvSpPr>
          <p:nvPr>
            <p:ph type="body" idx="1"/>
          </p:nvPr>
        </p:nvSpPr>
        <p:spPr>
          <a:xfrm>
            <a:off x="2578392" y="1066800"/>
            <a:ext cx="6400800" cy="1509712"/>
          </a:xfrm>
        </p:spPr>
        <p:txBody>
          <a:bodyPr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10" name="Rectangle 9"/>
          <p:cNvSpPr/>
          <p:nvPr/>
        </p:nvSpPr>
        <p:spPr bwMode="invGray">
          <a:xfrm>
            <a:off x="2286000" y="0"/>
            <a:ext cx="76200"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2172321" y="2814656"/>
            <a:ext cx="210312" cy="210312"/>
          </a:xfrm>
          <a:prstGeom prst="ellipse">
            <a:avLst/>
          </a:prstGeom>
          <a:gradFill rotWithShape="1">
            <a:gsLst>
              <a:gs pos="0">
                <a:schemeClr val="accent1">
                  <a:tint val="20000"/>
                  <a:satMod val="450000"/>
                  <a:alpha val="95000"/>
                </a:schemeClr>
              </a:gs>
              <a:gs pos="50000">
                <a:schemeClr val="accent1">
                  <a:tint val="38000"/>
                  <a:satMod val="250000"/>
                  <a:alpha val="90000"/>
                </a:schemeClr>
              </a:gs>
              <a:gs pos="95000">
                <a:schemeClr val="accent1">
                  <a:tint val="75000"/>
                  <a:satMod val="255000"/>
                  <a:alpha val="88000"/>
                </a:schemeClr>
              </a:gs>
              <a:gs pos="100000">
                <a:schemeClr val="accent1">
                  <a:tint val="100000"/>
                  <a:shade val="90000"/>
                  <a:satMod val="255000"/>
                  <a:alpha val="85000"/>
                </a:schemeClr>
              </a:gs>
            </a:gsLst>
            <a:path path="circle">
              <a:fillToRect l="25000" t="12500" r="75000" b="87500"/>
            </a:path>
          </a:gradFill>
          <a:ln w="2000" cap="rnd" cmpd="sng" algn="ctr">
            <a:solidFill>
              <a:schemeClr val="accent1">
                <a:shade val="90000"/>
                <a:satMod val="110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
        <p:nvSpPr>
          <p:cNvPr id="9" name="Oval 8"/>
          <p:cNvSpPr/>
          <p:nvPr/>
        </p:nvSpPr>
        <p:spPr>
          <a:xfrm>
            <a:off x="2408064" y="2745870"/>
            <a:ext cx="64008" cy="64008"/>
          </a:xfrm>
          <a:prstGeom prst="ellipse">
            <a:avLst/>
          </a:prstGeom>
          <a:noFill/>
          <a:ln w="12700" cap="rnd" cmpd="sng" algn="ctr">
            <a:solidFill>
              <a:schemeClr val="accent1">
                <a:shade val="75000"/>
                <a:alpha val="60000"/>
              </a:schemeClr>
            </a:solidFill>
            <a:prstDash val="solid"/>
          </a:ln>
          <a:effectLst/>
        </p:spPr>
        <p:style>
          <a:lnRef idx="1">
            <a:schemeClr val="accent1"/>
          </a:lnRef>
          <a:fillRef idx="2">
            <a:schemeClr val="accent1"/>
          </a:fillRef>
          <a:effectRef idx="1">
            <a:schemeClr val="accent1"/>
          </a:effectRef>
          <a:fontRef idx="minor">
            <a:schemeClr val="dk1"/>
          </a:fontRef>
        </p:style>
        <p:txBody>
          <a:bodyPr anchor="ctr"/>
          <a:lstStyle/>
          <a:p>
            <a:pPr algn="ctr" eaLnBrk="1" latinLnBrk="0" hangingPunct="1"/>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lstStyle/>
          <a:p>
            <a:r>
              <a:rPr kumimoji="0" lang="en-US"/>
              <a:t>Click to edit Master title style</a:t>
            </a:r>
          </a:p>
        </p:txBody>
      </p:sp>
      <p:sp>
        <p:nvSpPr>
          <p:cNvPr id="3" name="Content Placeholder 2"/>
          <p:cNvSpPr>
            <a:spLocks noGrp="1"/>
          </p:cNvSpPr>
          <p:nvPr>
            <p:ph sz="half" idx="1"/>
          </p:nvPr>
        </p:nvSpPr>
        <p:spPr>
          <a:xfrm>
            <a:off x="143560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5276088" y="1524000"/>
            <a:ext cx="3657600" cy="4663440"/>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5160336"/>
            <a:ext cx="8229600" cy="1143000"/>
          </a:xfrm>
        </p:spPr>
        <p:txBody>
          <a:bodyPr anchor="ctr"/>
          <a:lstStyle>
            <a:lvl1pPr algn="ctr">
              <a:defRPr sz="4500" b="1" cap="none" baseline="0"/>
            </a:lvl1pPr>
            <a:extLst/>
          </a:lstStyle>
          <a:p>
            <a:r>
              <a:rPr kumimoji="0" lang="en-US"/>
              <a:t>Click to edit Master title style</a:t>
            </a:r>
          </a:p>
        </p:txBody>
      </p:sp>
      <p:sp>
        <p:nvSpPr>
          <p:cNvPr id="3" name="Text Placeholder 2"/>
          <p:cNvSpPr>
            <a:spLocks noGrp="1"/>
          </p:cNvSpPr>
          <p:nvPr>
            <p:ph type="body" idx="1"/>
          </p:nvPr>
        </p:nvSpPr>
        <p:spPr>
          <a:xfrm>
            <a:off x="45720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63440" y="328278"/>
            <a:ext cx="4023360" cy="640080"/>
          </a:xfrm>
          <a:solidFill>
            <a:schemeClr val="bg1"/>
          </a:solidFill>
          <a:ln w="10795">
            <a:solidFill>
              <a:schemeClr val="bg1"/>
            </a:solidFill>
            <a:miter lim="800000"/>
          </a:ln>
        </p:spPr>
        <p:txBody>
          <a:bodyPr anchor="ctr"/>
          <a:lstStyle>
            <a:lvl1pPr marL="64008" indent="0" algn="l">
              <a:lnSpc>
                <a:spcPct val="100000"/>
              </a:lnSpc>
              <a:spcBef>
                <a:spcPts val="100"/>
              </a:spcBef>
              <a:buNone/>
              <a:defRPr sz="1900" b="0">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63440" y="969336"/>
            <a:ext cx="4023360" cy="4114800"/>
          </a:xfrm>
          <a:ln w="10795">
            <a:solidFill>
              <a:schemeClr val="bg1"/>
            </a:solidFill>
            <a:prstDash val="dash"/>
            <a:miter lim="800000"/>
          </a:ln>
        </p:spPr>
        <p:txBody>
          <a:bodyPr/>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435608" y="274320"/>
            <a:ext cx="7498080" cy="1143000"/>
          </a:xfrm>
        </p:spPr>
        <p:txBody>
          <a:bodyPr anchor="ct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1014984" y="0"/>
            <a:ext cx="8129016" cy="6858000"/>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Date Placeholder 1"/>
          <p:cNvSpPr>
            <a:spLocks noGrp="1"/>
          </p:cNvSpPr>
          <p:nvPr>
            <p:ph type="dt" sz="half" idx="10"/>
          </p:nvPr>
        </p:nvSpPr>
        <p:spPr/>
        <p:txBody>
          <a:bodyPr/>
          <a:lstStyle/>
          <a:p>
            <a:fld id="{1D8BD707-D9CF-40AE-B4C6-C98DA3205C09}" type="datetimeFigureOut">
              <a:rPr lang="en-US" smtClean="0"/>
              <a:pPr/>
              <a:t>7/21/2026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6" name="Rectangle 5"/>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16778"/>
            <a:ext cx="3810000" cy="1162050"/>
          </a:xfrm>
          <a:ln>
            <a:noFill/>
          </a:ln>
        </p:spPr>
        <p:txBody>
          <a:bodyPr anchor="b"/>
          <a:lstStyle>
            <a:lvl1pPr algn="l">
              <a:lnSpc>
                <a:spcPts val="2000"/>
              </a:lnSpc>
              <a:buNone/>
              <a:defRPr sz="2200" b="1" cap="all" baseline="0"/>
            </a:lvl1pPr>
            <a:extLst/>
          </a:lstStyle>
          <a:p>
            <a:r>
              <a:rPr kumimoji="0" lang="en-US"/>
              <a:t>Click to edit Master title style</a:t>
            </a:r>
          </a:p>
        </p:txBody>
      </p:sp>
      <p:sp>
        <p:nvSpPr>
          <p:cNvPr id="3" name="Text Placeholder 2"/>
          <p:cNvSpPr>
            <a:spLocks noGrp="1"/>
          </p:cNvSpPr>
          <p:nvPr>
            <p:ph type="body" idx="2"/>
          </p:nvPr>
        </p:nvSpPr>
        <p:spPr>
          <a:xfrm>
            <a:off x="457200" y="1406964"/>
            <a:ext cx="3810000" cy="698500"/>
          </a:xfrm>
        </p:spPr>
        <p:txBody>
          <a:bodyPr/>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457200" y="2133600"/>
            <a:ext cx="8153400" cy="3992563"/>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86896" y="1066800"/>
            <a:ext cx="2743200" cy="1981200"/>
          </a:xfrm>
        </p:spPr>
        <p:txBody>
          <a:bodyPr anchor="b">
            <a:noAutofit/>
          </a:bodyPr>
          <a:lstStyle>
            <a:lvl1pPr algn="l">
              <a:buNone/>
              <a:defRPr sz="2100" b="1">
                <a:effectLst/>
              </a:defRPr>
            </a:lvl1pPr>
            <a:extLst/>
          </a:lstStyle>
          <a:p>
            <a:r>
              <a:rPr kumimoji="0" lang="en-US"/>
              <a:t>Click to edit Master title style</a:t>
            </a:r>
          </a:p>
        </p:txBody>
      </p:sp>
      <p:sp>
        <p:nvSpPr>
          <p:cNvPr id="5" name="Date Placeholder 4"/>
          <p:cNvSpPr>
            <a:spLocks noGrp="1"/>
          </p:cNvSpPr>
          <p:nvPr>
            <p:ph type="dt" sz="half" idx="10"/>
          </p:nvPr>
        </p:nvSpPr>
        <p:spPr/>
        <p:txBody>
          <a:bodyPr/>
          <a:lstStyle/>
          <a:p>
            <a:fld id="{1D8BD707-D9CF-40AE-B4C6-C98DA3205C09}" type="datetimeFigureOut">
              <a:rPr lang="en-US" smtClean="0"/>
              <a:pPr/>
              <a:t>7/21/2026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Rectangle 7"/>
          <p:cNvSpPr/>
          <p:nvPr/>
        </p:nvSpPr>
        <p:spPr>
          <a:xfrm>
            <a:off x="762000" y="1066800"/>
            <a:ext cx="4572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n-US" sz="3200" kern="1200">
              <a:solidFill>
                <a:schemeClr val="tx1"/>
              </a:solidFill>
              <a:latin typeface="+mn-lt"/>
              <a:ea typeface="+mn-ea"/>
              <a:cs typeface="+mn-cs"/>
            </a:endParaRPr>
          </a:p>
        </p:txBody>
      </p:sp>
      <p:sp>
        <p:nvSpPr>
          <p:cNvPr id="3" name="Picture Placeholder 2"/>
          <p:cNvSpPr>
            <a:spLocks noGrp="1"/>
          </p:cNvSpPr>
          <p:nvPr>
            <p:ph type="pic" idx="1"/>
          </p:nvPr>
        </p:nvSpPr>
        <p:spPr>
          <a:xfrm>
            <a:off x="838200" y="1143003"/>
            <a:ext cx="4419600" cy="3514531"/>
          </a:xfrm>
          <a:prstGeom prst="roundRect">
            <a:avLst>
              <a:gd name="adj" fmla="val 783"/>
            </a:avLst>
          </a:prstGeom>
          <a:solidFill>
            <a:schemeClr val="bg2"/>
          </a:solidFill>
          <a:ln w="127000">
            <a:noFill/>
            <a:miter lim="800000"/>
          </a:ln>
          <a:effectLst/>
        </p:spPr>
        <p:txBody>
          <a:bodyPr lIns="91440" tIns="274320" anchor="t"/>
          <a:lstStyle>
            <a:lvl1pPr indent="0">
              <a:buNone/>
              <a:defRPr sz="3200"/>
            </a:lvl1pPr>
            <a:extLst/>
          </a:lstStyle>
          <a:p>
            <a:pPr marL="0" algn="l" eaLnBrk="1" latinLnBrk="0" hangingPunct="1"/>
            <a:r>
              <a:rPr kumimoji="0" lang="en-US"/>
              <a:t>Click icon to add picture</a:t>
            </a:r>
            <a:endParaRPr kumimoji="0" lang="en-US" dirty="0"/>
          </a:p>
        </p:txBody>
      </p:sp>
      <p:sp>
        <p:nvSpPr>
          <p:cNvPr id="9" name="Flowchart: Process 8"/>
          <p:cNvSpPr/>
          <p:nvPr/>
        </p:nvSpPr>
        <p:spPr>
          <a:xfrm rot="19468671">
            <a:off x="396725" y="954341"/>
            <a:ext cx="6858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Flowchart: Process 9"/>
          <p:cNvSpPr/>
          <p:nvPr/>
        </p:nvSpPr>
        <p:spPr>
          <a:xfrm rot="2103354" flipH="1">
            <a:off x="5003667" y="936786"/>
            <a:ext cx="649224"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4" name="Text Placeholder 3"/>
          <p:cNvSpPr>
            <a:spLocks noGrp="1"/>
          </p:cNvSpPr>
          <p:nvPr>
            <p:ph type="body" sz="half" idx="2"/>
          </p:nvPr>
        </p:nvSpPr>
        <p:spPr>
          <a:xfrm>
            <a:off x="838200" y="4800600"/>
            <a:ext cx="4419600" cy="762000"/>
          </a:xfrm>
        </p:spPr>
        <p:txBody>
          <a:bodyPr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8000" y="274639"/>
            <a:ext cx="18288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1430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Pie 6"/>
          <p:cNvSpPr/>
          <p:nvPr/>
        </p:nvSpPr>
        <p:spPr>
          <a:xfrm>
            <a:off x="-815927" y="-815922"/>
            <a:ext cx="1638887" cy="1638887"/>
          </a:xfrm>
          <a:prstGeom prst="pie">
            <a:avLst>
              <a:gd name="adj1" fmla="val 0"/>
              <a:gd name="adj2" fmla="val 5402120"/>
            </a:avLst>
          </a:prstGeom>
          <a:solidFill>
            <a:schemeClr val="bg2">
              <a:tint val="18000"/>
              <a:satMod val="220000"/>
              <a:alpha val="33000"/>
            </a:schemeClr>
          </a:solidFill>
          <a:ln w="3175" cap="rnd" cmpd="sng" algn="ctr">
            <a:solidFill>
              <a:schemeClr val="bg2">
                <a:shade val="70000"/>
                <a:satMod val="200000"/>
                <a:alpha val="100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Oval 7"/>
          <p:cNvSpPr/>
          <p:nvPr/>
        </p:nvSpPr>
        <p:spPr>
          <a:xfrm>
            <a:off x="168816" y="21102"/>
            <a:ext cx="1702191" cy="1702191"/>
          </a:xfrm>
          <a:prstGeom prst="ellipse">
            <a:avLst/>
          </a:prstGeom>
          <a:noFill/>
          <a:ln w="27305" cap="rnd" cmpd="sng" algn="ctr">
            <a:solidFill>
              <a:schemeClr val="bg2">
                <a:tint val="45000"/>
                <a:satMod val="325000"/>
                <a:alpha val="100000"/>
              </a:schemeClr>
            </a:solidFill>
            <a:prstDash val="solid"/>
          </a:ln>
          <a:effectLst>
            <a:outerShdw blurRad="25400" dist="25400" dir="5400000" algn="tl" rotWithShape="0">
              <a:schemeClr val="bg2">
                <a:shade val="50000"/>
                <a:satMod val="150000"/>
                <a:alpha val="8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onut 10"/>
          <p:cNvSpPr/>
          <p:nvPr/>
        </p:nvSpPr>
        <p:spPr>
          <a:xfrm rot="2315675">
            <a:off x="182881" y="1055077"/>
            <a:ext cx="1125717" cy="1102624"/>
          </a:xfrm>
          <a:prstGeom prst="donut">
            <a:avLst>
              <a:gd name="adj" fmla="val 11833"/>
            </a:avLst>
          </a:prstGeom>
          <a:gradFill rotWithShape="1">
            <a:gsLst>
              <a:gs pos="0">
                <a:schemeClr val="bg2">
                  <a:tint val="10000"/>
                  <a:shade val="99000"/>
                  <a:satMod val="355000"/>
                  <a:alpha val="70000"/>
                </a:schemeClr>
              </a:gs>
              <a:gs pos="70000">
                <a:schemeClr val="bg2">
                  <a:tint val="6000"/>
                  <a:shade val="100000"/>
                  <a:satMod val="400000"/>
                  <a:alpha val="55000"/>
                </a:schemeClr>
              </a:gs>
              <a:gs pos="100000">
                <a:schemeClr val="bg2">
                  <a:tint val="100000"/>
                  <a:shade val="75000"/>
                  <a:satMod val="370000"/>
                  <a:alpha val="60000"/>
                </a:schemeClr>
              </a:gs>
            </a:gsLst>
            <a:path path="circle">
              <a:fillToRect l="-407500" t="-50000" r="507500" b="150000"/>
            </a:path>
          </a:gradFill>
          <a:ln w="7350" cap="rnd" cmpd="sng" algn="ctr">
            <a:solidFill>
              <a:schemeClr val="bg2">
                <a:shade val="60000"/>
                <a:satMod val="220000"/>
                <a:alpha val="100000"/>
              </a:schemeClr>
            </a:solidFill>
            <a:prstDash val="solid"/>
          </a:ln>
          <a:effectLst>
            <a:outerShdw blurRad="12700" dist="15000" dir="4500000" algn="tl" rotWithShape="0">
              <a:schemeClr val="bg2">
                <a:shade val="10000"/>
                <a:satMod val="200000"/>
                <a:alpha val="3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1012873" y="-54"/>
            <a:ext cx="8131127" cy="6858054"/>
          </a:xfrm>
          <a:prstGeom prst="rect">
            <a:avLst/>
          </a:prstGeom>
          <a:solidFill>
            <a:schemeClr val="bg1"/>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5" name="Title Placeholder 4"/>
          <p:cNvSpPr>
            <a:spLocks noGrp="1"/>
          </p:cNvSpPr>
          <p:nvPr>
            <p:ph type="title"/>
          </p:nvPr>
        </p:nvSpPr>
        <p:spPr>
          <a:xfrm>
            <a:off x="1435608" y="274638"/>
            <a:ext cx="7498080" cy="1143000"/>
          </a:xfrm>
          <a:prstGeom prst="rect">
            <a:avLst/>
          </a:prstGeom>
        </p:spPr>
        <p:txBody>
          <a:bodyPr anchor="ctr">
            <a:normAutofit/>
          </a:bodyPr>
          <a:lstStyle/>
          <a:p>
            <a:r>
              <a:rPr kumimoji="0" lang="en-US"/>
              <a:t>Click to edit Master title style</a:t>
            </a:r>
          </a:p>
        </p:txBody>
      </p:sp>
      <p:sp>
        <p:nvSpPr>
          <p:cNvPr id="9" name="Text Placeholder 8"/>
          <p:cNvSpPr>
            <a:spLocks noGrp="1"/>
          </p:cNvSpPr>
          <p:nvPr>
            <p:ph type="body" idx="1"/>
          </p:nvPr>
        </p:nvSpPr>
        <p:spPr>
          <a:xfrm>
            <a:off x="1435608" y="1447800"/>
            <a:ext cx="7498080" cy="48006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24" name="Date Placeholder 23"/>
          <p:cNvSpPr>
            <a:spLocks noGrp="1"/>
          </p:cNvSpPr>
          <p:nvPr>
            <p:ph type="dt" sz="half" idx="2"/>
          </p:nvPr>
        </p:nvSpPr>
        <p:spPr>
          <a:xfrm>
            <a:off x="3581400" y="6305550"/>
            <a:ext cx="2133600" cy="476250"/>
          </a:xfrm>
          <a:prstGeom prst="rect">
            <a:avLst/>
          </a:prstGeom>
        </p:spPr>
        <p:txBody>
          <a:bodyPr anchor="b"/>
          <a:lstStyle>
            <a:lvl1pPr algn="r" eaLnBrk="1" latinLnBrk="0" hangingPunct="1">
              <a:defRPr kumimoji="0" sz="1200">
                <a:solidFill>
                  <a:schemeClr val="bg2">
                    <a:shade val="50000"/>
                    <a:satMod val="200000"/>
                  </a:schemeClr>
                </a:solidFill>
              </a:defRPr>
            </a:lvl1pPr>
            <a:extLst/>
          </a:lstStyle>
          <a:p>
            <a:fld id="{1D8BD707-D9CF-40AE-B4C6-C98DA3205C09}" type="datetimeFigureOut">
              <a:rPr lang="en-US" smtClean="0"/>
              <a:pPr/>
              <a:t>7/21/2026</a:t>
            </a:fld>
            <a:endParaRPr lang="en-US"/>
          </a:p>
        </p:txBody>
      </p:sp>
      <p:sp>
        <p:nvSpPr>
          <p:cNvPr id="10" name="Footer Placeholder 9"/>
          <p:cNvSpPr>
            <a:spLocks noGrp="1"/>
          </p:cNvSpPr>
          <p:nvPr>
            <p:ph type="ftr" sz="quarter" idx="3"/>
          </p:nvPr>
        </p:nvSpPr>
        <p:spPr>
          <a:xfrm>
            <a:off x="5715000" y="6305550"/>
            <a:ext cx="2895600" cy="476250"/>
          </a:xfrm>
          <a:prstGeom prst="rect">
            <a:avLst/>
          </a:prstGeom>
        </p:spPr>
        <p:txBody>
          <a:bodyPr anchor="b"/>
          <a:lstStyle>
            <a:lvl1pPr eaLnBrk="1" latinLnBrk="0" hangingPunct="1">
              <a:defRPr kumimoji="0" sz="1200">
                <a:solidFill>
                  <a:schemeClr val="bg2">
                    <a:shade val="50000"/>
                    <a:satMod val="200000"/>
                  </a:schemeClr>
                </a:solidFill>
                <a:effectLst/>
              </a:defRPr>
            </a:lvl1pPr>
            <a:extLst/>
          </a:lstStyle>
          <a:p>
            <a:endParaRPr lang="en-US"/>
          </a:p>
        </p:txBody>
      </p:sp>
      <p:sp>
        <p:nvSpPr>
          <p:cNvPr id="22" name="Slide Number Placeholder 21"/>
          <p:cNvSpPr>
            <a:spLocks noGrp="1"/>
          </p:cNvSpPr>
          <p:nvPr>
            <p:ph type="sldNum" sz="quarter" idx="4"/>
          </p:nvPr>
        </p:nvSpPr>
        <p:spPr>
          <a:xfrm>
            <a:off x="8613648" y="6305550"/>
            <a:ext cx="457200" cy="476250"/>
          </a:xfrm>
          <a:prstGeom prst="rect">
            <a:avLst/>
          </a:prstGeom>
        </p:spPr>
        <p:txBody>
          <a:bodyPr anchor="b"/>
          <a:lstStyle>
            <a:lvl1pPr algn="ctr" eaLnBrk="1" latinLnBrk="0" hangingPunct="1">
              <a:defRPr kumimoji="0" sz="1200">
                <a:solidFill>
                  <a:schemeClr val="bg2">
                    <a:shade val="50000"/>
                    <a:satMod val="200000"/>
                  </a:schemeClr>
                </a:solidFill>
                <a:effectLst/>
              </a:defRPr>
            </a:lvl1pPr>
            <a:extLst/>
          </a:lstStyle>
          <a:p>
            <a:fld id="{B6F15528-21DE-4FAA-801E-634DDDAF4B2B}" type="slidenum">
              <a:rPr lang="en-US" smtClean="0"/>
              <a:pPr/>
              <a:t>‹#›</a:t>
            </a:fld>
            <a:endParaRPr lang="en-US"/>
          </a:p>
        </p:txBody>
      </p:sp>
      <p:sp>
        <p:nvSpPr>
          <p:cNvPr id="15" name="Rectangle 14"/>
          <p:cNvSpPr/>
          <p:nvPr/>
        </p:nvSpPr>
        <p:spPr bwMode="invGray">
          <a:xfrm>
            <a:off x="1014984" y="-54"/>
            <a:ext cx="73152" cy="6858054"/>
          </a:xfrm>
          <a:prstGeom prst="rect">
            <a:avLst/>
          </a:prstGeom>
          <a:solidFill>
            <a:schemeClr val="bg1"/>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buClr>
        <a:buSzPct val="80000"/>
        <a:buFont typeface="Wingdings 2"/>
        <a:buChar char=""/>
        <a:defRPr kumimoji="0" sz="3200" kern="1200">
          <a:solidFill>
            <a:schemeClr val="tx1"/>
          </a:solidFill>
          <a:latin typeface="+mn-lt"/>
          <a:ea typeface="+mn-ea"/>
          <a:cs typeface="+mn-cs"/>
        </a:defRPr>
      </a:lvl1pPr>
      <a:lvl2pPr marL="640080" indent="-237744" algn="l" rtl="0" eaLnBrk="1" latinLnBrk="0" hangingPunct="1">
        <a:lnSpc>
          <a:spcPct val="100000"/>
        </a:lnSpc>
        <a:spcBef>
          <a:spcPts val="550"/>
        </a:spcBef>
        <a:buClr>
          <a:schemeClr val="accent1"/>
        </a:buClr>
        <a:buFont typeface="Verdana"/>
        <a:buChar char="◦"/>
        <a:defRPr kumimoji="0" sz="2800" kern="1200">
          <a:solidFill>
            <a:schemeClr val="tx1"/>
          </a:solidFill>
          <a:latin typeface="+mn-lt"/>
          <a:ea typeface="+mn-ea"/>
          <a:cs typeface="+mn-cs"/>
        </a:defRPr>
      </a:lvl2pPr>
      <a:lvl3pPr marL="886968" indent="-228600" algn="l" rtl="0" eaLnBrk="1" latinLnBrk="0" hangingPunct="1">
        <a:lnSpc>
          <a:spcPct val="100000"/>
        </a:lnSpc>
        <a:spcBef>
          <a:spcPct val="20000"/>
        </a:spcBef>
        <a:buClr>
          <a:schemeClr val="accent2"/>
        </a:buClr>
        <a:buFont typeface="Wingdings 2"/>
        <a:buChar char=""/>
        <a:defRPr kumimoji="0" sz="2400" kern="1200">
          <a:solidFill>
            <a:schemeClr val="tx1"/>
          </a:solidFill>
          <a:latin typeface="+mn-lt"/>
          <a:ea typeface="+mn-ea"/>
          <a:cs typeface="+mn-cs"/>
        </a:defRPr>
      </a:lvl3pPr>
      <a:lvl4pPr marL="1097280" indent="-173736" algn="l" rtl="0" eaLnBrk="1" latinLnBrk="0" hangingPunct="1">
        <a:lnSpc>
          <a:spcPct val="100000"/>
        </a:lnSpc>
        <a:spcBef>
          <a:spcPct val="20000"/>
        </a:spcBef>
        <a:buClr>
          <a:schemeClr val="accent3"/>
        </a:buClr>
        <a:buFont typeface="Wingdings 2"/>
        <a:buChar char=""/>
        <a:defRPr kumimoji="0" sz="2000" kern="1200">
          <a:solidFill>
            <a:schemeClr val="tx1"/>
          </a:solidFill>
          <a:latin typeface="+mn-lt"/>
          <a:ea typeface="+mn-ea"/>
          <a:cs typeface="+mn-cs"/>
        </a:defRPr>
      </a:lvl4pPr>
      <a:lvl5pPr marL="1298448" indent="-182880" algn="l" rtl="0" eaLnBrk="1" latinLnBrk="0" hangingPunct="1">
        <a:lnSpc>
          <a:spcPct val="100000"/>
        </a:lnSpc>
        <a:spcBef>
          <a:spcPct val="20000"/>
        </a:spcBef>
        <a:buClr>
          <a:schemeClr val="accent4"/>
        </a:buClr>
        <a:buFont typeface="Wingdings 2"/>
        <a:buChar char=""/>
        <a:defRPr kumimoji="0" sz="2000" kern="1200">
          <a:solidFill>
            <a:schemeClr val="tx1"/>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tmp"/><Relationship Id="rId2" Type="http://schemas.openxmlformats.org/officeDocument/2006/relationships/image" Target="../media/image4.tmp"/><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hyperlink" Target="https://help.autodesk.com/view/MAYADEV/2027/ENU/index.html?contextId=COMMANDSPYTHON-INDEX" TargetMode="External"/><Relationship Id="rId2" Type="http://schemas.openxmlformats.org/officeDocument/2006/relationships/image" Target="../media/image11.tmp"/><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hyperlink" Target="http://help.autodesk.com/cloudhelp/2019/ENU/Maya-Tech-Docs/CommandsPython/setParent.html#flagmenu" TargetMode="External"/><Relationship Id="rId2" Type="http://schemas.openxmlformats.org/officeDocument/2006/relationships/hyperlink" Target="http://help.autodesk.com/cloudhelp/2019/ENU/Maya-Tech-Docs/CommandsPython/setParent.html#flagdefineTemplate" TargetMode="External"/><Relationship Id="rId1" Type="http://schemas.openxmlformats.org/officeDocument/2006/relationships/slideLayout" Target="../slideLayouts/slideLayout1.xml"/><Relationship Id="rId6" Type="http://schemas.openxmlformats.org/officeDocument/2006/relationships/hyperlink" Target="http://help.autodesk.com/cloudhelp/2019/ENU/Maya-Tech-Docs/CommandsPython/setParent.html#flaguseTemplate" TargetMode="External"/><Relationship Id="rId5" Type="http://schemas.openxmlformats.org/officeDocument/2006/relationships/hyperlink" Target="http://help.autodesk.com/cloudhelp/2019/ENU/Maya-Tech-Docs/CommandsPython/setParent.html#flagupLevel" TargetMode="External"/><Relationship Id="rId4" Type="http://schemas.openxmlformats.org/officeDocument/2006/relationships/hyperlink" Target="http://help.autodesk.com/cloudhelp/2019/ENU/Maya-Tech-Docs/CommandsPython/setParent.html#flagtopLeve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32560" y="1066800"/>
            <a:ext cx="7406640" cy="765282"/>
          </a:xfrm>
        </p:spPr>
        <p:txBody>
          <a:bodyPr/>
          <a:lstStyle/>
          <a:p>
            <a:r>
              <a:rPr lang="en-GB" dirty="0"/>
              <a:t>Maya Python GUI Design</a:t>
            </a:r>
            <a:endParaRPr lang="en-US" dirty="0"/>
          </a:p>
        </p:txBody>
      </p:sp>
      <p:sp>
        <p:nvSpPr>
          <p:cNvPr id="11" name="Subtitle 2"/>
          <p:cNvSpPr>
            <a:spLocks noGrp="1"/>
          </p:cNvSpPr>
          <p:nvPr>
            <p:ph type="subTitle" idx="1"/>
          </p:nvPr>
        </p:nvSpPr>
        <p:spPr>
          <a:xfrm>
            <a:off x="1432560" y="3276600"/>
            <a:ext cx="7406640" cy="3581400"/>
          </a:xfrm>
        </p:spPr>
        <p:txBody>
          <a:bodyPr>
            <a:noAutofit/>
          </a:bodyPr>
          <a:lstStyle/>
          <a:p>
            <a:endParaRPr lang="en-GB" sz="2000" b="1" dirty="0"/>
          </a:p>
          <a:p>
            <a:r>
              <a:rPr lang="en-GB" sz="2000" b="1" dirty="0"/>
              <a:t>Prof Xiaosong Yang</a:t>
            </a:r>
          </a:p>
          <a:p>
            <a:endParaRPr lang="en-GB" sz="2000" b="1" dirty="0"/>
          </a:p>
          <a:p>
            <a:r>
              <a:rPr lang="en-GB" sz="1600" dirty="0"/>
              <a:t>Professor of Computer Animation</a:t>
            </a:r>
          </a:p>
          <a:p>
            <a:endParaRPr lang="en-GB" sz="1600" dirty="0"/>
          </a:p>
          <a:p>
            <a:pPr>
              <a:spcBef>
                <a:spcPts val="0"/>
              </a:spcBef>
            </a:pPr>
            <a:r>
              <a:rPr lang="en-GB" sz="1200" dirty="0"/>
              <a:t>National Centre for Computer Animation</a:t>
            </a:r>
          </a:p>
          <a:p>
            <a:pPr>
              <a:spcBef>
                <a:spcPts val="0"/>
              </a:spcBef>
            </a:pPr>
            <a:r>
              <a:rPr lang="en-GB" sz="1200" dirty="0"/>
              <a:t>Faculty of Media and Communication</a:t>
            </a:r>
          </a:p>
          <a:p>
            <a:pPr>
              <a:spcBef>
                <a:spcPts val="0"/>
              </a:spcBef>
            </a:pPr>
            <a:r>
              <a:rPr lang="en-GB" sz="1200" dirty="0"/>
              <a:t>Bournemouth University</a:t>
            </a:r>
          </a:p>
          <a:p>
            <a:pPr>
              <a:spcBef>
                <a:spcPts val="0"/>
              </a:spcBef>
            </a:pPr>
            <a:r>
              <a:rPr lang="en-GB" sz="1200" dirty="0"/>
              <a:t>Email: </a:t>
            </a:r>
            <a:r>
              <a:rPr lang="en-GB" sz="1200" dirty="0" err="1"/>
              <a:t>xyang@bournemouth.ac.uk</a:t>
            </a:r>
            <a:r>
              <a:rPr lang="en-GB" sz="1200" dirty="0"/>
              <a:t> </a:t>
            </a:r>
          </a:p>
          <a:p>
            <a:pPr>
              <a:spcBef>
                <a:spcPts val="0"/>
              </a:spcBef>
            </a:pPr>
            <a:r>
              <a:rPr lang="en-GB" sz="1200" dirty="0"/>
              <a:t>http://staffprofiles.bournemouth.ac.uk/display/xyang</a:t>
            </a:r>
            <a:endParaRPr lang="en-GB" sz="2000" b="1" dirty="0"/>
          </a:p>
          <a:p>
            <a:endParaRPr lang="en-GB" sz="2000" dirty="0"/>
          </a:p>
          <a:p>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3AC6DF-8DEB-570C-8ADE-D2D8C27B7CDA}"/>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D6481EA8-666B-67BD-0383-6F131DD8EA51}"/>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User interface</a:t>
            </a:r>
            <a:endParaRPr lang="en-US" dirty="0"/>
          </a:p>
        </p:txBody>
      </p:sp>
      <p:pic>
        <p:nvPicPr>
          <p:cNvPr id="4098" name="Picture 2">
            <a:extLst>
              <a:ext uri="{FF2B5EF4-FFF2-40B4-BE49-F238E27FC236}">
                <a16:creationId xmlns:a16="http://schemas.microsoft.com/office/drawing/2014/main" id="{D2867172-938A-33C0-529D-6288EEB42F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88760" y="2590800"/>
            <a:ext cx="2252540"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a:extLst>
              <a:ext uri="{FF2B5EF4-FFF2-40B4-BE49-F238E27FC236}">
                <a16:creationId xmlns:a16="http://schemas.microsoft.com/office/drawing/2014/main" id="{BDA4AF22-E2EA-877B-CB7F-70EF52CC3A0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00200" y="2590800"/>
            <a:ext cx="3690440" cy="2428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9099068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68A577-9356-71BF-9FBE-A9AC0653D78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EFBDA6D-29CD-F2C9-8169-60AD5AB16999}"/>
              </a:ext>
            </a:extLst>
          </p:cNvPr>
          <p:cNvSpPr>
            <a:spLocks noGrp="1"/>
          </p:cNvSpPr>
          <p:nvPr>
            <p:ph type="subTitle" idx="1"/>
          </p:nvPr>
        </p:nvSpPr>
        <p:spPr>
          <a:xfrm>
            <a:off x="1432560" y="1926264"/>
            <a:ext cx="6492240" cy="4169736"/>
          </a:xfrm>
        </p:spPr>
        <p:txBody>
          <a:bodyPr>
            <a:noAutofit/>
          </a:bodyPr>
          <a:lstStyle/>
          <a:p>
            <a:pPr marL="541782" indent="-514350"/>
            <a:r>
              <a:rPr lang="en-GB" sz="2400" b="1" dirty="0">
                <a:solidFill>
                  <a:srgbClr val="FF0000"/>
                </a:solidFill>
              </a:rPr>
              <a:t>10: scripting</a:t>
            </a:r>
            <a:r>
              <a:rPr lang="en-GB" sz="2400" b="1" dirty="0"/>
              <a:t>, 5 doc how to use it, 10 different result with relevant UI snapshot</a:t>
            </a:r>
          </a:p>
        </p:txBody>
      </p:sp>
      <p:sp>
        <p:nvSpPr>
          <p:cNvPr id="6" name="Title 1">
            <a:extLst>
              <a:ext uri="{FF2B5EF4-FFF2-40B4-BE49-F238E27FC236}">
                <a16:creationId xmlns:a16="http://schemas.microsoft.com/office/drawing/2014/main" id="{435207B4-B419-6717-4B48-292349D7108A}"/>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User interface (10 + 5 + 10)</a:t>
            </a:r>
            <a:endParaRPr lang="en-US" dirty="0"/>
          </a:p>
        </p:txBody>
      </p:sp>
      <p:pic>
        <p:nvPicPr>
          <p:cNvPr id="5" name="Picture 4">
            <a:extLst>
              <a:ext uri="{FF2B5EF4-FFF2-40B4-BE49-F238E27FC236}">
                <a16:creationId xmlns:a16="http://schemas.microsoft.com/office/drawing/2014/main" id="{F7FA3CD6-6BB5-20B4-DC21-4284D0E31A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7584" y="2757025"/>
            <a:ext cx="7543800" cy="792892"/>
          </a:xfrm>
          <a:prstGeom prst="rect">
            <a:avLst/>
          </a:prstGeom>
        </p:spPr>
      </p:pic>
      <p:pic>
        <p:nvPicPr>
          <p:cNvPr id="8" name="Picture 7" descr="A computer code with text&#10;&#10;Description automatically generated">
            <a:extLst>
              <a:ext uri="{FF2B5EF4-FFF2-40B4-BE49-F238E27FC236}">
                <a16:creationId xmlns:a16="http://schemas.microsoft.com/office/drawing/2014/main" id="{AAEB96DE-2B98-0688-34DA-14883824E2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2560" y="3963739"/>
            <a:ext cx="6296904" cy="2305372"/>
          </a:xfrm>
          <a:prstGeom prst="rect">
            <a:avLst/>
          </a:prstGeom>
        </p:spPr>
      </p:pic>
    </p:spTree>
    <p:extLst>
      <p:ext uri="{BB962C8B-B14F-4D97-AF65-F5344CB8AC3E}">
        <p14:creationId xmlns:p14="http://schemas.microsoft.com/office/powerpoint/2010/main" val="12849607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CCB19-6EFC-0EAF-3890-365E101EB968}"/>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064CA352-7C54-5A5F-CFCA-A3D2F68F797F}"/>
              </a:ext>
            </a:extLst>
          </p:cNvPr>
          <p:cNvSpPr>
            <a:spLocks noGrp="1"/>
          </p:cNvSpPr>
          <p:nvPr>
            <p:ph type="subTitle" idx="1"/>
          </p:nvPr>
        </p:nvSpPr>
        <p:spPr>
          <a:xfrm>
            <a:off x="1432560" y="1926264"/>
            <a:ext cx="6492240" cy="4169736"/>
          </a:xfrm>
        </p:spPr>
        <p:txBody>
          <a:bodyPr>
            <a:noAutofit/>
          </a:bodyPr>
          <a:lstStyle/>
          <a:p>
            <a:pPr marL="541782" indent="-514350"/>
            <a:r>
              <a:rPr lang="en-GB" sz="2400" b="1" dirty="0"/>
              <a:t>10: scripting, </a:t>
            </a:r>
            <a:r>
              <a:rPr lang="en-GB" sz="2400" b="1" dirty="0">
                <a:solidFill>
                  <a:srgbClr val="FF0000"/>
                </a:solidFill>
              </a:rPr>
              <a:t>5 doc how to use it, 10 different result with relevant UI snapshot</a:t>
            </a:r>
          </a:p>
        </p:txBody>
      </p:sp>
      <p:sp>
        <p:nvSpPr>
          <p:cNvPr id="6" name="Title 1">
            <a:extLst>
              <a:ext uri="{FF2B5EF4-FFF2-40B4-BE49-F238E27FC236}">
                <a16:creationId xmlns:a16="http://schemas.microsoft.com/office/drawing/2014/main" id="{A1964D17-4AA5-5F44-1916-D7AA6A4B100C}"/>
              </a:ext>
            </a:extLst>
          </p:cNvPr>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User interface (10 + 5 + 10)</a:t>
            </a:r>
            <a:endParaRPr lang="en-US" dirty="0"/>
          </a:p>
        </p:txBody>
      </p:sp>
      <p:pic>
        <p:nvPicPr>
          <p:cNvPr id="2" name="Picture 2">
            <a:extLst>
              <a:ext uri="{FF2B5EF4-FFF2-40B4-BE49-F238E27FC236}">
                <a16:creationId xmlns:a16="http://schemas.microsoft.com/office/drawing/2014/main" id="{7F6904D4-11E2-119F-17A1-632B8F201C0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804" b="22906"/>
          <a:stretch/>
        </p:blipFill>
        <p:spPr bwMode="auto">
          <a:xfrm>
            <a:off x="1505745" y="3048000"/>
            <a:ext cx="3596640" cy="34331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 name="Picture 3">
            <a:extLst>
              <a:ext uri="{FF2B5EF4-FFF2-40B4-BE49-F238E27FC236}">
                <a16:creationId xmlns:a16="http://schemas.microsoft.com/office/drawing/2014/main" id="{581AAC73-8EEA-2891-EAF0-15F7D74213D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5045" b="27504"/>
          <a:stretch/>
        </p:blipFill>
        <p:spPr bwMode="auto">
          <a:xfrm>
            <a:off x="5486400" y="3048000"/>
            <a:ext cx="2975372" cy="1066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86689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85000" lnSpcReduction="1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GUI Design – essential information</a:t>
            </a:r>
            <a:endParaRPr lang="en-US" dirty="0"/>
          </a:p>
        </p:txBody>
      </p:sp>
      <p:sp>
        <p:nvSpPr>
          <p:cNvPr id="7" name="Rectangle 6"/>
          <p:cNvSpPr/>
          <p:nvPr/>
        </p:nvSpPr>
        <p:spPr>
          <a:xfrm>
            <a:off x="1524000" y="1981200"/>
            <a:ext cx="7315200" cy="3354765"/>
          </a:xfrm>
          <a:prstGeom prst="rect">
            <a:avLst/>
          </a:prstGeom>
        </p:spPr>
        <p:txBody>
          <a:bodyPr wrap="square">
            <a:spAutoFit/>
          </a:bodyPr>
          <a:lstStyle/>
          <a:p>
            <a:pPr>
              <a:spcBef>
                <a:spcPts val="600"/>
              </a:spcBef>
            </a:pPr>
            <a:r>
              <a:rPr lang="en-GB" sz="2400" b="1" dirty="0"/>
              <a:t>10 minutes work: </a:t>
            </a:r>
          </a:p>
          <a:p>
            <a:pPr marL="285750" indent="-285750">
              <a:spcBef>
                <a:spcPts val="600"/>
              </a:spcBef>
              <a:buFont typeface="Arial" panose="020B0604020202020204" pitchFamily="34" charset="0"/>
              <a:buChar char="•"/>
            </a:pPr>
            <a:r>
              <a:rPr lang="en-GB" sz="2400" dirty="0"/>
              <a:t>Settle down the key information you want to collect from users</a:t>
            </a:r>
          </a:p>
          <a:p>
            <a:pPr marL="285750" indent="-285750">
              <a:spcBef>
                <a:spcPts val="600"/>
              </a:spcBef>
              <a:buFont typeface="Arial" panose="020B0604020202020204" pitchFamily="34" charset="0"/>
              <a:buChar char="•"/>
            </a:pPr>
            <a:r>
              <a:rPr lang="en-GB" sz="2400" dirty="0"/>
              <a:t>write a list</a:t>
            </a:r>
          </a:p>
          <a:p>
            <a:pPr marL="285750" indent="-285750">
              <a:spcBef>
                <a:spcPts val="600"/>
              </a:spcBef>
              <a:buFont typeface="Arial" panose="020B0604020202020204" pitchFamily="34" charset="0"/>
              <a:buChar char="•"/>
            </a:pPr>
            <a:r>
              <a:rPr lang="en-GB" sz="2400" dirty="0"/>
              <a:t>For each input, what is the data type, what is default value, range, options, etc.</a:t>
            </a:r>
          </a:p>
          <a:p>
            <a:pPr>
              <a:spcBef>
                <a:spcPts val="600"/>
              </a:spcBef>
            </a:pPr>
            <a:r>
              <a:rPr lang="en-GB" sz="2400" dirty="0"/>
              <a:t>Today: Implement the basic interface collecting (all) the required information</a:t>
            </a:r>
          </a:p>
        </p:txBody>
      </p:sp>
    </p:spTree>
    <p:extLst>
      <p:ext uri="{BB962C8B-B14F-4D97-AF65-F5344CB8AC3E}">
        <p14:creationId xmlns:p14="http://schemas.microsoft.com/office/powerpoint/2010/main" val="2196763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How to put them into GUI</a:t>
            </a:r>
            <a:endParaRPr lang="en-US" dirty="0"/>
          </a:p>
        </p:txBody>
      </p:sp>
      <p:pic>
        <p:nvPicPr>
          <p:cNvPr id="1026" name="Picture 2" descr="http://deex.info/wordpress2/wp-content/uploads/2011/07/2011-09-27_05542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91000" y="1905000"/>
            <a:ext cx="2483827" cy="396289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www.bg3d.com/wp-content/uploads/2013/03/cura-Export-Wind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90" y="1905000"/>
            <a:ext cx="2414710" cy="188068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guillaume.barlier.com/public/screenshots/anim_picker/picker_sampl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621" y="3982081"/>
            <a:ext cx="2450855" cy="2725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04689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Python command for GUI</a:t>
            </a:r>
            <a:endParaRPr lang="en-US" dirty="0"/>
          </a:p>
        </p:txBody>
      </p:sp>
      <p:pic>
        <p:nvPicPr>
          <p:cNvPr id="3" name="Picture 2" descr="A screenshot of a computer&#10;&#10;Description automatically generated">
            <a:extLst>
              <a:ext uri="{FF2B5EF4-FFF2-40B4-BE49-F238E27FC236}">
                <a16:creationId xmlns:a16="http://schemas.microsoft.com/office/drawing/2014/main" id="{C89B58FA-EE1E-0B17-9FAB-988816EC07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26550" y="1981200"/>
            <a:ext cx="7620000" cy="3298982"/>
          </a:xfrm>
          <a:prstGeom prst="rect">
            <a:avLst/>
          </a:prstGeom>
        </p:spPr>
      </p:pic>
      <p:sp>
        <p:nvSpPr>
          <p:cNvPr id="5" name="TextBox 4">
            <a:extLst>
              <a:ext uri="{FF2B5EF4-FFF2-40B4-BE49-F238E27FC236}">
                <a16:creationId xmlns:a16="http://schemas.microsoft.com/office/drawing/2014/main" id="{F339148F-471C-A48B-0E9B-18B6EF875D31}"/>
              </a:ext>
            </a:extLst>
          </p:cNvPr>
          <p:cNvSpPr txBox="1"/>
          <p:nvPr/>
        </p:nvSpPr>
        <p:spPr>
          <a:xfrm>
            <a:off x="1330736" y="5606534"/>
            <a:ext cx="7508463" cy="646331"/>
          </a:xfrm>
          <a:prstGeom prst="rect">
            <a:avLst/>
          </a:prstGeom>
          <a:noFill/>
        </p:spPr>
        <p:txBody>
          <a:bodyPr wrap="square">
            <a:spAutoFit/>
          </a:bodyPr>
          <a:lstStyle/>
          <a:p>
            <a:r>
              <a:rPr lang="en-GB" dirty="0">
                <a:hlinkClick r:id="rId3"/>
              </a:rPr>
              <a:t>https://help.autodesk.com/view/MAYADEV/2027/ENU/index.html?contextId=COMMANDSPYTHON-INDEX</a:t>
            </a:r>
            <a:r>
              <a:rPr lang="en-GB" dirty="0"/>
              <a:t> </a:t>
            </a:r>
          </a:p>
        </p:txBody>
      </p:sp>
    </p:spTree>
    <p:extLst>
      <p:ext uri="{BB962C8B-B14F-4D97-AF65-F5344CB8AC3E}">
        <p14:creationId xmlns:p14="http://schemas.microsoft.com/office/powerpoint/2010/main" val="3510680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925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basic code structure</a:t>
            </a:r>
            <a:endParaRPr lang="en-US" dirty="0"/>
          </a:p>
        </p:txBody>
      </p:sp>
      <p:sp>
        <p:nvSpPr>
          <p:cNvPr id="4" name="Rounded Rectangle 3"/>
          <p:cNvSpPr/>
          <p:nvPr/>
        </p:nvSpPr>
        <p:spPr>
          <a:xfrm>
            <a:off x="1432560" y="1905000"/>
            <a:ext cx="6492240" cy="47244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2000" dirty="0"/>
              <a:t>import </a:t>
            </a:r>
            <a:r>
              <a:rPr lang="en-GB" sz="2000" dirty="0" err="1"/>
              <a:t>maya.cmds</a:t>
            </a:r>
            <a:r>
              <a:rPr lang="en-GB" sz="2000" dirty="0"/>
              <a:t> as </a:t>
            </a:r>
            <a:r>
              <a:rPr lang="en-GB" sz="2000" dirty="0" err="1"/>
              <a:t>cmds</a:t>
            </a:r>
            <a:endParaRPr lang="en-GB" sz="2000" dirty="0"/>
          </a:p>
          <a:p>
            <a:endParaRPr lang="en-GB" sz="2000" dirty="0"/>
          </a:p>
          <a:p>
            <a:r>
              <a:rPr lang="en-GB" sz="2000" dirty="0" err="1"/>
              <a:t>def</a:t>
            </a:r>
            <a:r>
              <a:rPr lang="en-GB" sz="2000" dirty="0"/>
              <a:t> </a:t>
            </a:r>
            <a:r>
              <a:rPr lang="en-GB" sz="2000" dirty="0" err="1"/>
              <a:t>createUI</a:t>
            </a:r>
            <a:r>
              <a:rPr lang="en-GB" sz="2000" dirty="0"/>
              <a:t> ( ):</a:t>
            </a:r>
          </a:p>
          <a:p>
            <a:pPr lvl="0"/>
            <a:r>
              <a:rPr lang="en-GB" sz="2000" dirty="0">
                <a:solidFill>
                  <a:prstClr val="black"/>
                </a:solidFill>
              </a:rPr>
              <a:t>        ...</a:t>
            </a:r>
          </a:p>
          <a:p>
            <a:pPr lvl="0"/>
            <a:r>
              <a:rPr lang="en-GB" dirty="0">
                <a:solidFill>
                  <a:prstClr val="black"/>
                </a:solidFill>
              </a:rPr>
              <a:t>        </a:t>
            </a:r>
            <a:r>
              <a:rPr lang="en-GB" dirty="0" err="1">
                <a:solidFill>
                  <a:prstClr val="black"/>
                </a:solidFill>
              </a:rPr>
              <a:t>cmds.button</a:t>
            </a:r>
            <a:r>
              <a:rPr lang="en-GB" dirty="0">
                <a:solidFill>
                  <a:prstClr val="black"/>
                </a:solidFill>
              </a:rPr>
              <a:t>(command=</a:t>
            </a:r>
            <a:r>
              <a:rPr lang="en-GB" dirty="0" err="1">
                <a:solidFill>
                  <a:prstClr val="black"/>
                </a:solidFill>
              </a:rPr>
              <a:t>actionCallback</a:t>
            </a:r>
            <a:r>
              <a:rPr lang="en-GB" dirty="0">
                <a:solidFill>
                  <a:prstClr val="black"/>
                </a:solidFill>
              </a:rPr>
              <a:t>)</a:t>
            </a:r>
            <a:endParaRPr lang="en-GB" dirty="0"/>
          </a:p>
          <a:p>
            <a:endParaRPr lang="en-GB" sz="2000" dirty="0"/>
          </a:p>
          <a:p>
            <a:endParaRPr lang="en-GB" sz="2000" dirty="0"/>
          </a:p>
          <a:p>
            <a:r>
              <a:rPr lang="en-GB" sz="2000" dirty="0" err="1"/>
              <a:t>def</a:t>
            </a:r>
            <a:r>
              <a:rPr lang="en-GB" sz="2000" dirty="0"/>
              <a:t> </a:t>
            </a:r>
            <a:r>
              <a:rPr lang="en-GB" sz="2000" dirty="0" err="1"/>
              <a:t>actionCallback</a:t>
            </a:r>
            <a:r>
              <a:rPr lang="en-GB" sz="2000" dirty="0"/>
              <a:t>(*</a:t>
            </a:r>
            <a:r>
              <a:rPr lang="en-GB" sz="2000" dirty="0" err="1"/>
              <a:t>pArgs</a:t>
            </a:r>
            <a:r>
              <a:rPr lang="en-GB" sz="2000" dirty="0"/>
              <a:t>): </a:t>
            </a:r>
            <a:r>
              <a:rPr lang="en-GB" sz="1400" dirty="0"/>
              <a:t>#Variable-length arguments</a:t>
            </a:r>
            <a:endParaRPr lang="en-GB" sz="2000" dirty="0"/>
          </a:p>
          <a:p>
            <a:r>
              <a:rPr lang="en-GB" sz="2000" dirty="0"/>
              <a:t>        ...</a:t>
            </a:r>
          </a:p>
          <a:p>
            <a:r>
              <a:rPr lang="en-GB" sz="2000" dirty="0"/>
              <a:t>        ...</a:t>
            </a:r>
          </a:p>
          <a:p>
            <a:endParaRPr lang="en-GB" sz="2000" dirty="0"/>
          </a:p>
          <a:p>
            <a:r>
              <a:rPr lang="en-GB" sz="1600" dirty="0"/>
              <a:t># main program start from here ....</a:t>
            </a:r>
          </a:p>
          <a:p>
            <a:r>
              <a:rPr lang="en-GB" sz="1600" dirty="0"/>
              <a:t># main program </a:t>
            </a:r>
          </a:p>
          <a:p>
            <a:r>
              <a:rPr lang="en-GB" sz="1600" dirty="0"/>
              <a:t>if __name__ == "__main__":</a:t>
            </a:r>
          </a:p>
          <a:p>
            <a:r>
              <a:rPr lang="en-GB" sz="2000" dirty="0"/>
              <a:t>      </a:t>
            </a:r>
            <a:r>
              <a:rPr lang="en-GB" sz="2000" dirty="0" err="1"/>
              <a:t>createUI</a:t>
            </a:r>
            <a:r>
              <a:rPr lang="en-GB" sz="2000" dirty="0"/>
              <a:t>( )</a:t>
            </a:r>
          </a:p>
        </p:txBody>
      </p:sp>
      <p:sp>
        <p:nvSpPr>
          <p:cNvPr id="2" name="Rectangle 1"/>
          <p:cNvSpPr/>
          <p:nvPr/>
        </p:nvSpPr>
        <p:spPr>
          <a:xfrm>
            <a:off x="1524000" y="2590800"/>
            <a:ext cx="4419600" cy="1066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1524000" y="4038600"/>
            <a:ext cx="5029200" cy="1066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524000" y="5410200"/>
            <a:ext cx="3048000" cy="1066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50950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create a window</a:t>
            </a:r>
            <a:endParaRPr lang="en-US" dirty="0"/>
          </a:p>
        </p:txBody>
      </p:sp>
      <p:sp>
        <p:nvSpPr>
          <p:cNvPr id="4" name="Rounded Rectangle 3"/>
          <p:cNvSpPr/>
          <p:nvPr/>
        </p:nvSpPr>
        <p:spPr>
          <a:xfrm>
            <a:off x="1432560" y="2209800"/>
            <a:ext cx="7406640" cy="20574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2000" dirty="0" err="1"/>
              <a:t>def</a:t>
            </a:r>
            <a:r>
              <a:rPr lang="en-GB" sz="2000" dirty="0"/>
              <a:t> </a:t>
            </a:r>
            <a:r>
              <a:rPr lang="en-GB" sz="2000" dirty="0" err="1"/>
              <a:t>createUI</a:t>
            </a:r>
            <a:r>
              <a:rPr lang="en-GB" sz="2000" dirty="0"/>
              <a:t> ( ):</a:t>
            </a:r>
          </a:p>
          <a:p>
            <a:r>
              <a:rPr lang="en-GB" dirty="0"/>
              <a:t>    # Make a new window # </a:t>
            </a:r>
          </a:p>
          <a:p>
            <a:r>
              <a:rPr lang="en-GB" dirty="0"/>
              <a:t>    </a:t>
            </a:r>
            <a:r>
              <a:rPr lang="en-GB" dirty="0" err="1"/>
              <a:t>winControl</a:t>
            </a:r>
            <a:r>
              <a:rPr lang="en-GB" dirty="0"/>
              <a:t> = </a:t>
            </a:r>
            <a:r>
              <a:rPr lang="en-GB" dirty="0" err="1"/>
              <a:t>cmds.window</a:t>
            </a:r>
            <a:r>
              <a:rPr lang="en-GB" dirty="0"/>
              <a:t>( title="Long Name", </a:t>
            </a:r>
            <a:r>
              <a:rPr lang="en-GB" dirty="0" err="1"/>
              <a:t>widthHeight</a:t>
            </a:r>
            <a:r>
              <a:rPr lang="en-GB" dirty="0"/>
              <a:t>=(200, 55) ) </a:t>
            </a:r>
          </a:p>
          <a:p>
            <a:r>
              <a:rPr lang="en-GB" dirty="0"/>
              <a:t>    ...</a:t>
            </a:r>
          </a:p>
          <a:p>
            <a:r>
              <a:rPr lang="en-GB" dirty="0"/>
              <a:t>    ...</a:t>
            </a:r>
          </a:p>
          <a:p>
            <a:r>
              <a:rPr lang="en-GB" dirty="0"/>
              <a:t>    </a:t>
            </a:r>
            <a:r>
              <a:rPr lang="en-GB" dirty="0" err="1"/>
              <a:t>cmds.showWindow</a:t>
            </a:r>
            <a:r>
              <a:rPr lang="en-GB" dirty="0"/>
              <a:t>( </a:t>
            </a:r>
            <a:r>
              <a:rPr lang="en-GB" dirty="0" err="1"/>
              <a:t>winControl</a:t>
            </a:r>
            <a:r>
              <a:rPr lang="en-GB" dirty="0"/>
              <a:t> ) </a:t>
            </a:r>
          </a:p>
          <a:p>
            <a:endParaRPr lang="en-GB" sz="20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5452" y="4648200"/>
            <a:ext cx="4772025"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58130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create a window</a:t>
            </a:r>
            <a:endParaRPr lang="en-US" dirty="0"/>
          </a:p>
        </p:txBody>
      </p:sp>
      <p:sp>
        <p:nvSpPr>
          <p:cNvPr id="4" name="Rounded Rectangle 3"/>
          <p:cNvSpPr/>
          <p:nvPr/>
        </p:nvSpPr>
        <p:spPr>
          <a:xfrm>
            <a:off x="1219200" y="2209800"/>
            <a:ext cx="7620000" cy="31242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Times New Roman"/>
                <a:ea typeface="+mn-ea"/>
                <a:cs typeface="+mn-cs"/>
              </a:rPr>
              <a:t>def </a:t>
            </a:r>
            <a:r>
              <a:rPr kumimoji="0" lang="en-GB" sz="1800" b="0" i="0" u="none" strike="noStrike" kern="1200" cap="none" spc="0" normalizeH="0" baseline="0" noProof="0" dirty="0" err="1">
                <a:ln>
                  <a:noFill/>
                </a:ln>
                <a:solidFill>
                  <a:prstClr val="black"/>
                </a:solidFill>
                <a:effectLst/>
                <a:uLnTx/>
                <a:uFillTx/>
                <a:latin typeface="Times New Roman"/>
                <a:ea typeface="+mn-ea"/>
                <a:cs typeface="+mn-cs"/>
              </a:rPr>
              <a:t>createUI</a:t>
            </a:r>
            <a:r>
              <a:rPr kumimoji="0" lang="en-GB" sz="1800" b="0" i="0" u="none" strike="noStrike" kern="1200" cap="none" spc="0" normalizeH="0" baseline="0" noProof="0" dirty="0">
                <a:ln>
                  <a:noFill/>
                </a:ln>
                <a:solidFill>
                  <a:prstClr val="black"/>
                </a:solidFill>
                <a:effectLst/>
                <a:uLnTx/>
                <a:uFillTx/>
                <a:latin typeface="Times New Roman"/>
                <a:ea typeface="+mn-ea"/>
                <a:cs typeface="+mn-cs"/>
              </a:rPr>
              <a:t> (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dirty="0">
                <a:ln>
                  <a:noFill/>
                </a:ln>
                <a:solidFill>
                  <a:prstClr val="black"/>
                </a:solidFill>
                <a:effectLst/>
                <a:uLnTx/>
                <a:uFillTx/>
                <a:latin typeface="Times New Roman"/>
                <a:ea typeface="+mn-ea"/>
                <a:cs typeface="+mn-cs"/>
              </a:rPr>
              <a:t>   </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windowID</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 = "</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myWindow</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imes New Roman"/>
                <a:ea typeface="+mn-ea"/>
                <a:cs typeface="+mn-cs"/>
              </a:rPr>
              <a:t>    if </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cmds.window</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windowID</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 exists=True):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imes New Roman"/>
                <a:ea typeface="+mn-ea"/>
                <a:cs typeface="+mn-cs"/>
              </a:rPr>
              <a:t>          </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cmds.deleteUI</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windowID</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dirty="0">
              <a:ln>
                <a:noFill/>
              </a:ln>
              <a:solidFill>
                <a:prstClr val="black"/>
              </a:solidFill>
              <a:effectLst/>
              <a:uLnTx/>
              <a:uFillTx/>
              <a:latin typeface="Times New Roman"/>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imes New Roman"/>
                <a:ea typeface="+mn-ea"/>
                <a:cs typeface="+mn-cs"/>
              </a:rPr>
              <a:t>    # Make a new window #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imes New Roman"/>
                <a:ea typeface="+mn-ea"/>
                <a:cs typeface="+mn-cs"/>
              </a:rPr>
              <a:t>    </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cmds.window</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 </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windowID</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 title="Long Name", </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widthHeight</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=(200, 55)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imes New Roman"/>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prstClr val="black"/>
                </a:solidFill>
                <a:effectLst/>
                <a:uLnTx/>
                <a:uFillTx/>
                <a:latin typeface="Times New Roman"/>
                <a:ea typeface="+mn-ea"/>
                <a:cs typeface="+mn-cs"/>
              </a:rPr>
              <a:t>    </a:t>
            </a:r>
            <a:r>
              <a:rPr kumimoji="0" lang="en-GB" sz="1600" b="0" i="0" u="none" strike="noStrike" kern="1200" cap="none" spc="0" normalizeH="0" baseline="0" noProof="0" dirty="0" err="1">
                <a:ln>
                  <a:noFill/>
                </a:ln>
                <a:solidFill>
                  <a:prstClr val="black"/>
                </a:solidFill>
                <a:effectLst/>
                <a:uLnTx/>
                <a:uFillTx/>
                <a:latin typeface="Times New Roman"/>
                <a:ea typeface="+mn-ea"/>
                <a:cs typeface="+mn-cs"/>
              </a:rPr>
              <a:t>cmds.showWindow</a:t>
            </a:r>
            <a:r>
              <a:rPr kumimoji="0" lang="en-GB" sz="1600" b="0" i="0" u="none" strike="noStrike" kern="1200" cap="none" spc="0" normalizeH="0" baseline="0" noProof="0" dirty="0">
                <a:ln>
                  <a:noFill/>
                </a:ln>
                <a:solidFill>
                  <a:prstClr val="black"/>
                </a:solidFill>
                <a:effectLst/>
                <a:uLnTx/>
                <a:uFillTx/>
                <a:latin typeface="Times New Roman"/>
                <a:ea typeface="+mn-ea"/>
                <a:cs typeface="+mn-cs"/>
              </a:rPr>
              <a:t>( ) </a:t>
            </a:r>
          </a:p>
        </p:txBody>
      </p:sp>
      <p:sp>
        <p:nvSpPr>
          <p:cNvPr id="5" name="Rectangle 4"/>
          <p:cNvSpPr/>
          <p:nvPr/>
        </p:nvSpPr>
        <p:spPr>
          <a:xfrm>
            <a:off x="1447800" y="2819400"/>
            <a:ext cx="3688080" cy="838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301025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create a window</a:t>
            </a:r>
            <a:endParaRPr lang="en-US" dirty="0"/>
          </a:p>
        </p:txBody>
      </p:sp>
      <p:sp>
        <p:nvSpPr>
          <p:cNvPr id="4" name="Rounded Rectangle 3"/>
          <p:cNvSpPr/>
          <p:nvPr/>
        </p:nvSpPr>
        <p:spPr>
          <a:xfrm>
            <a:off x="609600" y="2788688"/>
            <a:ext cx="8382000" cy="36576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i="1" dirty="0"/>
              <a:t>amount = 0</a:t>
            </a:r>
          </a:p>
          <a:p>
            <a:r>
              <a:rPr lang="en-GB" sz="1400" i="1" dirty="0" err="1"/>
              <a:t>cmds.progressWindow</a:t>
            </a:r>
            <a:r>
              <a:rPr lang="en-GB" sz="1400" i="1" dirty="0"/>
              <a:t>(title='Doing Nothing', progress=amount, status='Sleeping: 0%', </a:t>
            </a:r>
            <a:r>
              <a:rPr lang="en-GB" sz="1400" i="1" dirty="0" err="1"/>
              <a:t>isInterruptable</a:t>
            </a:r>
            <a:r>
              <a:rPr lang="en-GB" sz="1400" i="1" dirty="0"/>
              <a:t>=True )</a:t>
            </a:r>
          </a:p>
          <a:p>
            <a:r>
              <a:rPr lang="en-GB" sz="1400" i="1" dirty="0"/>
              <a:t>while True :</a:t>
            </a:r>
          </a:p>
          <a:p>
            <a:r>
              <a:rPr lang="en-GB" sz="1400" i="1" dirty="0"/>
              <a:t>	# Check if the dialog has been cancelled</a:t>
            </a:r>
          </a:p>
          <a:p>
            <a:r>
              <a:rPr lang="en-GB" sz="1400" i="1" dirty="0"/>
              <a:t>	if </a:t>
            </a:r>
            <a:r>
              <a:rPr lang="en-GB" sz="1400" i="1" dirty="0" err="1"/>
              <a:t>cmds.progressWindow</a:t>
            </a:r>
            <a:r>
              <a:rPr lang="en-GB" sz="1400" i="1" dirty="0"/>
              <a:t>( query=True, </a:t>
            </a:r>
            <a:r>
              <a:rPr lang="en-GB" sz="1400" i="1" dirty="0" err="1"/>
              <a:t>isCancelled</a:t>
            </a:r>
            <a:r>
              <a:rPr lang="en-GB" sz="1400" i="1" dirty="0"/>
              <a:t>=True ) :</a:t>
            </a:r>
          </a:p>
          <a:p>
            <a:r>
              <a:rPr lang="en-GB" sz="1400" i="1" dirty="0"/>
              <a:t>		break</a:t>
            </a:r>
          </a:p>
          <a:p>
            <a:endParaRPr lang="en-GB" sz="1400" i="1" dirty="0"/>
          </a:p>
          <a:p>
            <a:r>
              <a:rPr lang="en-GB" sz="1400" i="1" dirty="0"/>
              <a:t>	# Check if end condition has been reached</a:t>
            </a:r>
          </a:p>
          <a:p>
            <a:r>
              <a:rPr lang="en-GB" sz="1400" i="1" dirty="0"/>
              <a:t>	if </a:t>
            </a:r>
            <a:r>
              <a:rPr lang="en-GB" sz="1400" i="1" dirty="0" err="1"/>
              <a:t>cmds.progressWindow</a:t>
            </a:r>
            <a:r>
              <a:rPr lang="en-GB" sz="1400" i="1" dirty="0"/>
              <a:t>( query=True, progress=True ) &gt;= 100 :</a:t>
            </a:r>
          </a:p>
          <a:p>
            <a:r>
              <a:rPr lang="en-GB" sz="1400" i="1" dirty="0"/>
              <a:t>		break</a:t>
            </a:r>
          </a:p>
          <a:p>
            <a:endParaRPr lang="en-GB" sz="1400" i="1" dirty="0"/>
          </a:p>
          <a:p>
            <a:r>
              <a:rPr lang="en-GB" sz="1400" i="1" dirty="0"/>
              <a:t>	</a:t>
            </a:r>
            <a:r>
              <a:rPr lang="en-GB" sz="1400" b="1" i="1" dirty="0">
                <a:solidFill>
                  <a:srgbClr val="FF0000"/>
                </a:solidFill>
              </a:rPr>
              <a:t>amount += 5</a:t>
            </a:r>
          </a:p>
          <a:p>
            <a:r>
              <a:rPr lang="en-GB" sz="1400" i="1" dirty="0"/>
              <a:t>	</a:t>
            </a:r>
            <a:r>
              <a:rPr lang="en-GB" sz="1400" i="1" dirty="0" err="1"/>
              <a:t>cmds.progressWindow</a:t>
            </a:r>
            <a:r>
              <a:rPr lang="en-GB" sz="1400" i="1" dirty="0"/>
              <a:t>( edit=True, progress=amount, status=('Sleeping: ‘ + str(amount) + '%' ) )</a:t>
            </a:r>
          </a:p>
          <a:p>
            <a:r>
              <a:rPr lang="en-GB" sz="1400" i="1" dirty="0"/>
              <a:t>	</a:t>
            </a:r>
            <a:r>
              <a:rPr lang="en-GB" sz="1400" i="1" dirty="0" err="1">
                <a:solidFill>
                  <a:schemeClr val="accent2">
                    <a:lumMod val="75000"/>
                  </a:schemeClr>
                </a:solidFill>
              </a:rPr>
              <a:t>cmds.pause</a:t>
            </a:r>
            <a:r>
              <a:rPr lang="en-GB" sz="1400" i="1" dirty="0">
                <a:solidFill>
                  <a:schemeClr val="accent2">
                    <a:lumMod val="75000"/>
                  </a:schemeClr>
                </a:solidFill>
              </a:rPr>
              <a:t>( seconds=1 )</a:t>
            </a:r>
          </a:p>
          <a:p>
            <a:endParaRPr lang="en-GB" sz="1400" i="1" dirty="0"/>
          </a:p>
          <a:p>
            <a:r>
              <a:rPr lang="en-GB" sz="1400" i="1" dirty="0" err="1"/>
              <a:t>cmds.progressWindow</a:t>
            </a:r>
            <a:r>
              <a:rPr lang="en-GB" sz="1400" i="1" dirty="0"/>
              <a:t>(</a:t>
            </a:r>
            <a:r>
              <a:rPr lang="en-GB" sz="1400" i="1" dirty="0" err="1"/>
              <a:t>endProgress</a:t>
            </a:r>
            <a:r>
              <a:rPr lang="en-GB" sz="1400" i="1" dirty="0"/>
              <a:t>=1)</a:t>
            </a:r>
            <a:endParaRPr lang="en-GB" sz="1200" i="1" dirty="0"/>
          </a:p>
        </p:txBody>
      </p:sp>
      <p:sp>
        <p:nvSpPr>
          <p:cNvPr id="5" name="Rectangle 4"/>
          <p:cNvSpPr/>
          <p:nvPr/>
        </p:nvSpPr>
        <p:spPr>
          <a:xfrm>
            <a:off x="1432560" y="1848720"/>
            <a:ext cx="7162800" cy="738664"/>
          </a:xfrm>
          <a:prstGeom prst="rect">
            <a:avLst/>
          </a:prstGeom>
        </p:spPr>
        <p:txBody>
          <a:bodyPr wrap="square">
            <a:spAutoFit/>
          </a:bodyPr>
          <a:lstStyle/>
          <a:p>
            <a:r>
              <a:rPr lang="en-GB" b="1" dirty="0" err="1">
                <a:solidFill>
                  <a:srgbClr val="FF0000"/>
                </a:solidFill>
              </a:rPr>
              <a:t>progressWindow</a:t>
            </a:r>
            <a:endParaRPr lang="en-GB" b="1" dirty="0">
              <a:solidFill>
                <a:srgbClr val="FF0000"/>
              </a:solidFill>
            </a:endParaRPr>
          </a:p>
          <a:p>
            <a:r>
              <a:rPr lang="en-GB" sz="1200" i="1" dirty="0"/>
              <a:t>The </a:t>
            </a:r>
            <a:r>
              <a:rPr lang="en-GB" sz="1200" i="1" dirty="0" err="1"/>
              <a:t>progressWindow</a:t>
            </a:r>
            <a:r>
              <a:rPr lang="en-GB" sz="1200" i="1" dirty="0"/>
              <a:t> command creates a window containing a status message, a graphical progress gauge, and optionally a "Hit ESC to Cancel" label for </a:t>
            </a:r>
            <a:r>
              <a:rPr lang="en-GB" sz="1200" i="1" dirty="0" err="1"/>
              <a:t>interruptable</a:t>
            </a:r>
            <a:r>
              <a:rPr lang="en-GB" sz="1200" i="1" dirty="0"/>
              <a:t> operations.</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72200" y="210558"/>
            <a:ext cx="2590800" cy="1000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80245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create a window</a:t>
            </a:r>
            <a:endParaRPr lang="en-US" dirty="0"/>
          </a:p>
        </p:txBody>
      </p:sp>
      <p:sp>
        <p:nvSpPr>
          <p:cNvPr id="4" name="Rounded Rectangle 3"/>
          <p:cNvSpPr/>
          <p:nvPr/>
        </p:nvSpPr>
        <p:spPr>
          <a:xfrm>
            <a:off x="1676400" y="3581400"/>
            <a:ext cx="5562600" cy="2667000"/>
          </a:xfrm>
          <a:prstGeom prst="roundRect">
            <a:avLst>
              <a:gd name="adj" fmla="val 10382"/>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400" i="1" dirty="0"/>
              <a:t>result = </a:t>
            </a:r>
            <a:r>
              <a:rPr lang="en-GB" sz="1400" i="1" dirty="0" err="1"/>
              <a:t>cmds.promptDialog</a:t>
            </a:r>
            <a:r>
              <a:rPr lang="en-GB" sz="1400" i="1" dirty="0"/>
              <a:t>(</a:t>
            </a:r>
          </a:p>
          <a:p>
            <a:r>
              <a:rPr lang="en-GB" sz="1400" i="1" dirty="0"/>
              <a:t>		title='Rename Object',</a:t>
            </a:r>
          </a:p>
          <a:p>
            <a:r>
              <a:rPr lang="en-GB" sz="1400" i="1" dirty="0"/>
              <a:t>		message='Enter Name:',</a:t>
            </a:r>
          </a:p>
          <a:p>
            <a:r>
              <a:rPr lang="en-GB" sz="1400" i="1" dirty="0"/>
              <a:t>		button=['OK', 'Cancel'],</a:t>
            </a:r>
          </a:p>
          <a:p>
            <a:r>
              <a:rPr lang="en-GB" sz="1400" i="1" dirty="0"/>
              <a:t>		</a:t>
            </a:r>
            <a:r>
              <a:rPr lang="en-GB" sz="1400" i="1" dirty="0" err="1"/>
              <a:t>defaultButton</a:t>
            </a:r>
            <a:r>
              <a:rPr lang="en-GB" sz="1400" i="1" dirty="0"/>
              <a:t>='OK',</a:t>
            </a:r>
          </a:p>
          <a:p>
            <a:r>
              <a:rPr lang="en-GB" sz="1400" i="1" dirty="0"/>
              <a:t>		</a:t>
            </a:r>
            <a:r>
              <a:rPr lang="en-GB" sz="1400" i="1" dirty="0" err="1"/>
              <a:t>cancelButton</a:t>
            </a:r>
            <a:r>
              <a:rPr lang="en-GB" sz="1400" i="1" dirty="0"/>
              <a:t>='Cancel',</a:t>
            </a:r>
          </a:p>
          <a:p>
            <a:r>
              <a:rPr lang="en-GB" sz="1400" i="1" dirty="0"/>
              <a:t>		</a:t>
            </a:r>
            <a:r>
              <a:rPr lang="en-GB" sz="1400" i="1" dirty="0" err="1"/>
              <a:t>dismissString</a:t>
            </a:r>
            <a:r>
              <a:rPr lang="en-GB" sz="1400" i="1" dirty="0"/>
              <a:t>='Cancel')</a:t>
            </a:r>
          </a:p>
          <a:p>
            <a:endParaRPr lang="en-GB" sz="1400" i="1" dirty="0"/>
          </a:p>
          <a:p>
            <a:r>
              <a:rPr lang="en-GB" sz="1400" i="1" dirty="0"/>
              <a:t>if result == 'OK':</a:t>
            </a:r>
          </a:p>
          <a:p>
            <a:r>
              <a:rPr lang="en-GB" sz="1400" i="1" dirty="0"/>
              <a:t>	text = </a:t>
            </a:r>
            <a:r>
              <a:rPr lang="en-GB" sz="1400" i="1" dirty="0" err="1"/>
              <a:t>cmds.promptDialog</a:t>
            </a:r>
            <a:r>
              <a:rPr lang="en-GB" sz="1400" i="1" dirty="0"/>
              <a:t>(query=True, text=True)</a:t>
            </a:r>
          </a:p>
          <a:p>
            <a:r>
              <a:rPr lang="en-GB" sz="1400" i="1" dirty="0"/>
              <a:t>	print(text)</a:t>
            </a:r>
            <a:endParaRPr lang="en-GB" sz="1200" i="1" dirty="0"/>
          </a:p>
        </p:txBody>
      </p:sp>
      <p:sp>
        <p:nvSpPr>
          <p:cNvPr id="5" name="Rectangle 4"/>
          <p:cNvSpPr/>
          <p:nvPr/>
        </p:nvSpPr>
        <p:spPr>
          <a:xfrm>
            <a:off x="1524000" y="1981200"/>
            <a:ext cx="7162800" cy="1107996"/>
          </a:xfrm>
          <a:prstGeom prst="rect">
            <a:avLst/>
          </a:prstGeom>
        </p:spPr>
        <p:txBody>
          <a:bodyPr wrap="square">
            <a:spAutoFit/>
          </a:bodyPr>
          <a:lstStyle/>
          <a:p>
            <a:r>
              <a:rPr lang="en-GB" b="1" dirty="0" err="1">
                <a:solidFill>
                  <a:srgbClr val="FF0000"/>
                </a:solidFill>
              </a:rPr>
              <a:t>promptDialog</a:t>
            </a:r>
            <a:endParaRPr lang="en-GB" b="1" dirty="0">
              <a:solidFill>
                <a:srgbClr val="FF0000"/>
              </a:solidFill>
            </a:endParaRPr>
          </a:p>
          <a:p>
            <a:r>
              <a:rPr lang="en-GB" sz="1600" dirty="0"/>
              <a:t>The </a:t>
            </a:r>
            <a:r>
              <a:rPr lang="en-GB" sz="1600" dirty="0" err="1"/>
              <a:t>promptDialog</a:t>
            </a:r>
            <a:r>
              <a:rPr lang="en-GB" sz="1600" dirty="0"/>
              <a:t> command creates a </a:t>
            </a:r>
            <a:r>
              <a:rPr lang="en-GB" sz="1600" b="1" dirty="0">
                <a:solidFill>
                  <a:srgbClr val="FF0000"/>
                </a:solidFill>
              </a:rPr>
              <a:t>modal</a:t>
            </a:r>
            <a:r>
              <a:rPr lang="en-GB" sz="1600" dirty="0"/>
              <a:t> dialog with a message to the user, a text field in which the user may enter a response, and a variable number of buttons to dismiss the dialog. </a:t>
            </a:r>
            <a:endParaRPr lang="en-GB" sz="1600" i="1"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3200400"/>
            <a:ext cx="1943100" cy="1352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729172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925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Layout (</a:t>
            </a:r>
            <a:r>
              <a:rPr lang="en-GB" dirty="0">
                <a:solidFill>
                  <a:schemeClr val="accent3"/>
                </a:solidFill>
              </a:rPr>
              <a:t>hierarchical</a:t>
            </a:r>
            <a:r>
              <a:rPr lang="en-GB" dirty="0"/>
              <a:t>)  </a:t>
            </a:r>
            <a:endParaRPr lang="en-US" dirty="0"/>
          </a:p>
        </p:txBody>
      </p:sp>
      <p:sp>
        <p:nvSpPr>
          <p:cNvPr id="5" name="Rectangle 4"/>
          <p:cNvSpPr/>
          <p:nvPr/>
        </p:nvSpPr>
        <p:spPr>
          <a:xfrm>
            <a:off x="1524000" y="1981200"/>
            <a:ext cx="4572000" cy="4247317"/>
          </a:xfrm>
          <a:prstGeom prst="rect">
            <a:avLst/>
          </a:prstGeom>
        </p:spPr>
        <p:txBody>
          <a:bodyPr>
            <a:spAutoFit/>
          </a:bodyPr>
          <a:lstStyle/>
          <a:p>
            <a:r>
              <a:rPr lang="en-GB" dirty="0" err="1"/>
              <a:t>columnLayout</a:t>
            </a:r>
            <a:endParaRPr lang="en-GB" dirty="0"/>
          </a:p>
          <a:p>
            <a:r>
              <a:rPr lang="en-GB" dirty="0" err="1"/>
              <a:t>dockControl</a:t>
            </a:r>
            <a:endParaRPr lang="en-GB" dirty="0"/>
          </a:p>
          <a:p>
            <a:r>
              <a:rPr lang="en-GB" dirty="0" err="1"/>
              <a:t>flowLayout</a:t>
            </a:r>
            <a:endParaRPr lang="en-GB" dirty="0"/>
          </a:p>
          <a:p>
            <a:r>
              <a:rPr lang="en-GB" dirty="0" err="1"/>
              <a:t>formLayout</a:t>
            </a:r>
            <a:endParaRPr lang="en-GB" dirty="0"/>
          </a:p>
          <a:p>
            <a:r>
              <a:rPr lang="en-GB" dirty="0" err="1">
                <a:solidFill>
                  <a:srgbClr val="FF0000"/>
                </a:solidFill>
              </a:rPr>
              <a:t>frameLayout</a:t>
            </a:r>
            <a:endParaRPr lang="en-GB" dirty="0">
              <a:solidFill>
                <a:srgbClr val="FF0000"/>
              </a:solidFill>
            </a:endParaRPr>
          </a:p>
          <a:p>
            <a:r>
              <a:rPr lang="en-GB" dirty="0" err="1"/>
              <a:t>gridLayout</a:t>
            </a:r>
            <a:endParaRPr lang="en-GB" dirty="0"/>
          </a:p>
          <a:p>
            <a:r>
              <a:rPr lang="en-GB" dirty="0" err="1"/>
              <a:t>menuBarLayout</a:t>
            </a:r>
            <a:endParaRPr lang="en-GB" dirty="0"/>
          </a:p>
          <a:p>
            <a:r>
              <a:rPr lang="en-GB" dirty="0" err="1"/>
              <a:t>paneLayout</a:t>
            </a:r>
            <a:endParaRPr lang="en-GB" dirty="0"/>
          </a:p>
          <a:p>
            <a:r>
              <a:rPr lang="en-GB" dirty="0" err="1"/>
              <a:t>rowColumnLayout</a:t>
            </a:r>
            <a:endParaRPr lang="en-GB" dirty="0"/>
          </a:p>
          <a:p>
            <a:r>
              <a:rPr lang="en-GB" dirty="0" err="1"/>
              <a:t>rowLayout</a:t>
            </a:r>
            <a:endParaRPr lang="en-GB" dirty="0"/>
          </a:p>
          <a:p>
            <a:r>
              <a:rPr lang="en-GB" dirty="0" err="1">
                <a:solidFill>
                  <a:srgbClr val="FF0000"/>
                </a:solidFill>
              </a:rPr>
              <a:t>scrollLayout</a:t>
            </a:r>
            <a:endParaRPr lang="en-GB" dirty="0">
              <a:solidFill>
                <a:srgbClr val="FF0000"/>
              </a:solidFill>
            </a:endParaRPr>
          </a:p>
          <a:p>
            <a:r>
              <a:rPr lang="en-GB" dirty="0" err="1"/>
              <a:t>shelfLayout</a:t>
            </a:r>
            <a:endParaRPr lang="en-GB" dirty="0"/>
          </a:p>
          <a:p>
            <a:r>
              <a:rPr lang="en-GB" dirty="0" err="1"/>
              <a:t>shelfTabLayout</a:t>
            </a:r>
            <a:endParaRPr lang="en-GB" dirty="0"/>
          </a:p>
          <a:p>
            <a:r>
              <a:rPr lang="en-GB" dirty="0" err="1">
                <a:solidFill>
                  <a:srgbClr val="FF0000"/>
                </a:solidFill>
              </a:rPr>
              <a:t>tabLayout</a:t>
            </a:r>
            <a:endParaRPr lang="en-GB" dirty="0">
              <a:solidFill>
                <a:srgbClr val="FF0000"/>
              </a:solidFill>
            </a:endParaRPr>
          </a:p>
          <a:p>
            <a:r>
              <a:rPr lang="en-GB" dirty="0" err="1"/>
              <a:t>toolBar</a:t>
            </a:r>
            <a:endParaRPr lang="en-GB" dirty="0"/>
          </a:p>
        </p:txBody>
      </p:sp>
      <p:pic>
        <p:nvPicPr>
          <p:cNvPr id="4" name="Picture 2" descr="http://deex.info/wordpress2/wp-content/uploads/2011/07/2011-09-27_055425.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190998" y="2123413"/>
            <a:ext cx="2483827" cy="3962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8580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a:t>
            </a:r>
            <a:r>
              <a:rPr lang="en-GB" dirty="0" err="1"/>
              <a:t>columnLayout</a:t>
            </a:r>
            <a:endParaRPr lang="en-US" dirty="0"/>
          </a:p>
        </p:txBody>
      </p:sp>
      <p:sp>
        <p:nvSpPr>
          <p:cNvPr id="4" name="Rounded Rectangle 3"/>
          <p:cNvSpPr/>
          <p:nvPr/>
        </p:nvSpPr>
        <p:spPr>
          <a:xfrm>
            <a:off x="1524000" y="5257800"/>
            <a:ext cx="7391400" cy="14478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err="1"/>
              <a:t>cmds.window</a:t>
            </a:r>
            <a:r>
              <a:rPr lang="en-GB" sz="1600" dirty="0"/>
              <a:t>()</a:t>
            </a:r>
          </a:p>
          <a:p>
            <a:r>
              <a:rPr lang="en-GB" sz="1600" dirty="0" err="1"/>
              <a:t>cmds.columnLayout</a:t>
            </a:r>
            <a:r>
              <a:rPr lang="en-GB" sz="1600" dirty="0"/>
              <a:t>( </a:t>
            </a:r>
            <a:r>
              <a:rPr lang="en-GB" sz="1600" dirty="0" err="1"/>
              <a:t>columnAttach</a:t>
            </a:r>
            <a:r>
              <a:rPr lang="en-GB" sz="1600" dirty="0"/>
              <a:t>=('both', 5), </a:t>
            </a:r>
            <a:r>
              <a:rPr lang="en-GB" sz="1600" dirty="0" err="1"/>
              <a:t>rowSpacing</a:t>
            </a:r>
            <a:r>
              <a:rPr lang="en-GB" sz="1600" dirty="0"/>
              <a:t>=10, </a:t>
            </a:r>
            <a:r>
              <a:rPr lang="en-GB" sz="1600" dirty="0" err="1"/>
              <a:t>columnWidth</a:t>
            </a:r>
            <a:r>
              <a:rPr lang="en-GB" sz="1600" dirty="0"/>
              <a:t>=250 )</a:t>
            </a:r>
          </a:p>
          <a:p>
            <a:r>
              <a:rPr lang="en-GB" sz="1600" dirty="0" err="1"/>
              <a:t>cmds.button</a:t>
            </a:r>
            <a:r>
              <a:rPr lang="en-GB" sz="1600" dirty="0"/>
              <a:t>()</a:t>
            </a:r>
          </a:p>
          <a:p>
            <a:r>
              <a:rPr lang="en-GB" sz="1600" dirty="0" err="1"/>
              <a:t>cmds.button</a:t>
            </a:r>
            <a:r>
              <a:rPr lang="en-GB" sz="1600" dirty="0"/>
              <a:t>()</a:t>
            </a:r>
          </a:p>
          <a:p>
            <a:r>
              <a:rPr lang="en-GB" sz="1600" dirty="0" err="1"/>
              <a:t>cmds.button</a:t>
            </a:r>
            <a:r>
              <a:rPr lang="en-GB" sz="1600" dirty="0"/>
              <a:t>()</a:t>
            </a:r>
          </a:p>
          <a:p>
            <a:r>
              <a:rPr lang="en-GB" sz="1600" dirty="0" err="1"/>
              <a:t>cmds.showWindow</a:t>
            </a:r>
            <a:r>
              <a:rPr lang="en-GB" sz="1600" dirty="0"/>
              <a:t>()</a:t>
            </a:r>
            <a:endParaRPr lang="en-GB" sz="1400" dirty="0"/>
          </a:p>
        </p:txBody>
      </p:sp>
      <p:sp>
        <p:nvSpPr>
          <p:cNvPr id="3" name="Rectangle 2"/>
          <p:cNvSpPr/>
          <p:nvPr/>
        </p:nvSpPr>
        <p:spPr>
          <a:xfrm>
            <a:off x="1447800" y="2133600"/>
            <a:ext cx="7239000" cy="369332"/>
          </a:xfrm>
          <a:prstGeom prst="rect">
            <a:avLst/>
          </a:prstGeom>
        </p:spPr>
        <p:txBody>
          <a:bodyPr wrap="square">
            <a:spAutoFit/>
          </a:bodyPr>
          <a:lstStyle/>
          <a:p>
            <a:r>
              <a:rPr lang="en-GB" dirty="0"/>
              <a:t>This command creates a layout that arranges its children in a single column.</a:t>
            </a:r>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590800"/>
            <a:ext cx="5438775"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5568530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a:t>
            </a:r>
            <a:r>
              <a:rPr lang="en-GB" dirty="0" err="1"/>
              <a:t>gridLayout</a:t>
            </a:r>
            <a:endParaRPr lang="en-US" dirty="0"/>
          </a:p>
        </p:txBody>
      </p:sp>
      <p:sp>
        <p:nvSpPr>
          <p:cNvPr id="4" name="Rounded Rectangle 3"/>
          <p:cNvSpPr/>
          <p:nvPr/>
        </p:nvSpPr>
        <p:spPr>
          <a:xfrm>
            <a:off x="1529862" y="3200400"/>
            <a:ext cx="6096000" cy="25146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err="1"/>
              <a:t>cmds.window</a:t>
            </a:r>
            <a:r>
              <a:rPr lang="en-GB" sz="1600" dirty="0"/>
              <a:t>()</a:t>
            </a:r>
          </a:p>
          <a:p>
            <a:r>
              <a:rPr lang="en-GB" sz="1600" dirty="0" err="1"/>
              <a:t>cmds.gridLayout</a:t>
            </a:r>
            <a:r>
              <a:rPr lang="en-GB" sz="1600" dirty="0"/>
              <a:t>( </a:t>
            </a:r>
            <a:r>
              <a:rPr lang="en-GB" sz="1600" dirty="0" err="1"/>
              <a:t>numberOfColumns</a:t>
            </a:r>
            <a:r>
              <a:rPr lang="en-GB" sz="1600" dirty="0"/>
              <a:t>=2, </a:t>
            </a:r>
            <a:r>
              <a:rPr lang="en-GB" sz="1600" dirty="0" err="1"/>
              <a:t>cellWidthHeight</a:t>
            </a:r>
            <a:r>
              <a:rPr lang="en-GB" sz="1600" dirty="0"/>
              <a:t>=(50, 50) )</a:t>
            </a:r>
          </a:p>
          <a:p>
            <a:r>
              <a:rPr lang="en-GB" sz="1600" dirty="0" err="1"/>
              <a:t>cmds.button</a:t>
            </a:r>
            <a:r>
              <a:rPr lang="en-GB" sz="1600" dirty="0"/>
              <a:t>()</a:t>
            </a:r>
          </a:p>
          <a:p>
            <a:r>
              <a:rPr lang="en-GB" sz="1600" dirty="0" err="1"/>
              <a:t>cmds.button</a:t>
            </a:r>
            <a:r>
              <a:rPr lang="en-GB" sz="1600" dirty="0"/>
              <a:t>()</a:t>
            </a:r>
          </a:p>
          <a:p>
            <a:r>
              <a:rPr lang="en-GB" sz="1600" dirty="0" err="1"/>
              <a:t>cmds.button</a:t>
            </a:r>
            <a:r>
              <a:rPr lang="en-GB" sz="1600" dirty="0"/>
              <a:t>()</a:t>
            </a:r>
          </a:p>
          <a:p>
            <a:r>
              <a:rPr lang="en-GB" sz="1600" dirty="0" err="1"/>
              <a:t>cmds.button</a:t>
            </a:r>
            <a:r>
              <a:rPr lang="en-GB" sz="1600" dirty="0"/>
              <a:t>()</a:t>
            </a:r>
          </a:p>
          <a:p>
            <a:r>
              <a:rPr lang="en-GB" sz="1600" dirty="0" err="1"/>
              <a:t>cmds.button</a:t>
            </a:r>
            <a:r>
              <a:rPr lang="en-GB" sz="1600" dirty="0"/>
              <a:t>()</a:t>
            </a:r>
          </a:p>
          <a:p>
            <a:r>
              <a:rPr lang="en-GB" sz="1600" dirty="0" err="1"/>
              <a:t>cmds.button</a:t>
            </a:r>
            <a:r>
              <a:rPr lang="en-GB" sz="1600" dirty="0"/>
              <a:t>()</a:t>
            </a:r>
          </a:p>
          <a:p>
            <a:r>
              <a:rPr lang="en-GB" sz="1600" dirty="0" err="1"/>
              <a:t>cmds.button</a:t>
            </a:r>
            <a:r>
              <a:rPr lang="en-GB" sz="1600" dirty="0"/>
              <a:t>()</a:t>
            </a:r>
          </a:p>
          <a:p>
            <a:r>
              <a:rPr lang="en-GB" sz="1600" dirty="0" err="1"/>
              <a:t>cmds.showWindow</a:t>
            </a:r>
            <a:r>
              <a:rPr lang="en-GB" sz="1600" dirty="0"/>
              <a:t>()</a:t>
            </a:r>
          </a:p>
        </p:txBody>
      </p:sp>
      <p:sp>
        <p:nvSpPr>
          <p:cNvPr id="3" name="Rectangle 2"/>
          <p:cNvSpPr/>
          <p:nvPr/>
        </p:nvSpPr>
        <p:spPr>
          <a:xfrm>
            <a:off x="1447800" y="2133600"/>
            <a:ext cx="7239000" cy="923330"/>
          </a:xfrm>
          <a:prstGeom prst="rect">
            <a:avLst/>
          </a:prstGeom>
        </p:spPr>
        <p:txBody>
          <a:bodyPr wrap="square">
            <a:spAutoFit/>
          </a:bodyPr>
          <a:lstStyle/>
          <a:p>
            <a:r>
              <a:rPr lang="en-GB" dirty="0"/>
              <a:t>This layout arranges children in a grid fashion where every cell in the grid is the same size. You may specify the number of rows and columns as well as the width and height of the grid cells.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4038600"/>
            <a:ext cx="3562350" cy="2590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176264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a:t>
            </a:r>
            <a:r>
              <a:rPr lang="en-GB" dirty="0" err="1"/>
              <a:t>rowColumnLayout</a:t>
            </a:r>
            <a:endParaRPr lang="en-US" dirty="0"/>
          </a:p>
        </p:txBody>
      </p:sp>
      <p:sp>
        <p:nvSpPr>
          <p:cNvPr id="4" name="Rounded Rectangle 3"/>
          <p:cNvSpPr/>
          <p:nvPr/>
        </p:nvSpPr>
        <p:spPr>
          <a:xfrm>
            <a:off x="1432560" y="3820113"/>
            <a:ext cx="7787640" cy="2809287"/>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err="1"/>
              <a:t>cmds.window</a:t>
            </a:r>
            <a:r>
              <a:rPr lang="en-GB" sz="1600" dirty="0"/>
              <a:t>() </a:t>
            </a:r>
          </a:p>
          <a:p>
            <a:r>
              <a:rPr lang="en-GB" sz="1600" dirty="0" err="1"/>
              <a:t>cmds.rowColumnLayout</a:t>
            </a:r>
            <a:r>
              <a:rPr lang="en-GB" sz="1600" dirty="0"/>
              <a:t>( </a:t>
            </a:r>
            <a:r>
              <a:rPr lang="en-GB" sz="1600" dirty="0" err="1"/>
              <a:t>numberOfColumns</a:t>
            </a:r>
            <a:r>
              <a:rPr lang="en-GB" sz="1600" dirty="0"/>
              <a:t>=3, </a:t>
            </a:r>
            <a:r>
              <a:rPr lang="en-GB" sz="1600" dirty="0" err="1"/>
              <a:t>columnWidth</a:t>
            </a:r>
            <a:r>
              <a:rPr lang="en-GB" sz="1600" dirty="0"/>
              <a:t>=[(1, 60), (2, 80), (3, 100)] ) </a:t>
            </a:r>
          </a:p>
          <a:p>
            <a:r>
              <a:rPr lang="en-GB" sz="1600" dirty="0" err="1"/>
              <a:t>cmds.button</a:t>
            </a:r>
            <a:r>
              <a:rPr lang="en-GB" sz="1600" dirty="0"/>
              <a:t>() </a:t>
            </a:r>
          </a:p>
          <a:p>
            <a:r>
              <a:rPr lang="en-GB" sz="1600" dirty="0" err="1"/>
              <a:t>cmds.button</a:t>
            </a:r>
            <a:r>
              <a:rPr lang="en-GB" sz="1600" dirty="0"/>
              <a:t>() </a:t>
            </a:r>
          </a:p>
          <a:p>
            <a:r>
              <a:rPr lang="en-GB" sz="1600" dirty="0" err="1"/>
              <a:t>cmds.button</a:t>
            </a:r>
            <a:r>
              <a:rPr lang="en-GB" sz="1600" dirty="0"/>
              <a:t>() </a:t>
            </a:r>
          </a:p>
          <a:p>
            <a:r>
              <a:rPr lang="en-GB" sz="1600" dirty="0" err="1"/>
              <a:t>cmds.button</a:t>
            </a:r>
            <a:r>
              <a:rPr lang="en-GB" sz="1600" dirty="0"/>
              <a:t>() </a:t>
            </a:r>
          </a:p>
          <a:p>
            <a:r>
              <a:rPr lang="en-GB" sz="1600" dirty="0" err="1"/>
              <a:t>cmds.button</a:t>
            </a:r>
            <a:r>
              <a:rPr lang="en-GB" sz="1600" dirty="0"/>
              <a:t>() </a:t>
            </a:r>
          </a:p>
          <a:p>
            <a:r>
              <a:rPr lang="en-GB" sz="1600" dirty="0" err="1"/>
              <a:t>cmds.button</a:t>
            </a:r>
            <a:r>
              <a:rPr lang="en-GB" sz="1600" dirty="0"/>
              <a:t>() </a:t>
            </a:r>
          </a:p>
          <a:p>
            <a:r>
              <a:rPr lang="en-GB" sz="1600" dirty="0" err="1"/>
              <a:t>cmds.button</a:t>
            </a:r>
            <a:r>
              <a:rPr lang="en-GB" sz="1600" dirty="0"/>
              <a:t>() </a:t>
            </a:r>
          </a:p>
          <a:p>
            <a:r>
              <a:rPr lang="en-GB" sz="1600" dirty="0" err="1"/>
              <a:t>cmds.showWindow</a:t>
            </a:r>
            <a:r>
              <a:rPr lang="en-GB" sz="1600" dirty="0"/>
              <a:t>()</a:t>
            </a:r>
          </a:p>
        </p:txBody>
      </p:sp>
      <p:sp>
        <p:nvSpPr>
          <p:cNvPr id="3" name="Rectangle 2"/>
          <p:cNvSpPr/>
          <p:nvPr/>
        </p:nvSpPr>
        <p:spPr>
          <a:xfrm>
            <a:off x="1447800" y="2133600"/>
            <a:ext cx="7239000" cy="1384995"/>
          </a:xfrm>
          <a:prstGeom prst="rect">
            <a:avLst/>
          </a:prstGeom>
        </p:spPr>
        <p:txBody>
          <a:bodyPr wrap="square">
            <a:spAutoFit/>
          </a:bodyPr>
          <a:lstStyle/>
          <a:p>
            <a:r>
              <a:rPr lang="en-GB" sz="1400" dirty="0"/>
              <a:t>This command creates a </a:t>
            </a:r>
            <a:r>
              <a:rPr lang="en-GB" sz="1400" dirty="0" err="1"/>
              <a:t>rowColumn</a:t>
            </a:r>
            <a:r>
              <a:rPr lang="en-GB" sz="1400" dirty="0"/>
              <a:t> layout. A </a:t>
            </a:r>
            <a:r>
              <a:rPr lang="en-GB" sz="1400" dirty="0" err="1"/>
              <a:t>rowColumn</a:t>
            </a:r>
            <a:r>
              <a:rPr lang="en-GB" sz="1400" dirty="0"/>
              <a:t> layout positions children in either a row or column format. A column layout, specified with the </a:t>
            </a:r>
            <a:r>
              <a:rPr lang="en-GB" sz="1400" i="1" dirty="0"/>
              <a:t>-</a:t>
            </a:r>
            <a:r>
              <a:rPr lang="en-GB" sz="1400" i="1" dirty="0" err="1"/>
              <a:t>nc</a:t>
            </a:r>
            <a:r>
              <a:rPr lang="en-GB" sz="1400" i="1" dirty="0"/>
              <a:t>/</a:t>
            </a:r>
            <a:r>
              <a:rPr lang="en-GB" sz="1400" i="1" dirty="0" err="1"/>
              <a:t>numberOfColumns</a:t>
            </a:r>
            <a:r>
              <a:rPr lang="en-GB" sz="1400" dirty="0"/>
              <a:t> flag, allows you set text alignment, attachments and offsets for each column in the layout. Every member of a column will have the same alignment, attachment and offsets. Likewise the row format, specified by the </a:t>
            </a:r>
            <a:r>
              <a:rPr lang="en-GB" sz="1400" i="1" dirty="0"/>
              <a:t>-nr/</a:t>
            </a:r>
            <a:r>
              <a:rPr lang="en-GB" sz="1400" i="1" dirty="0" err="1"/>
              <a:t>numberOfRows</a:t>
            </a:r>
            <a:r>
              <a:rPr lang="en-GB" sz="1400" dirty="0"/>
              <a:t> flag, allows setting of these attributes for each row in the layout. Every member of a row will have the same attributes. </a:t>
            </a:r>
            <a:r>
              <a:rPr lang="en-GB" sz="1400" dirty="0">
                <a:solidFill>
                  <a:srgbClr val="FF0000"/>
                </a:solidFill>
              </a:rPr>
              <a:t>The layout must be either a row or column format</a:t>
            </a:r>
            <a:r>
              <a:rPr lang="en-GB" sz="1400" dirty="0"/>
              <a:t>.</a:t>
            </a: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3777" y="4572000"/>
            <a:ext cx="4653023" cy="182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022118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925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Layout (</a:t>
            </a:r>
            <a:r>
              <a:rPr lang="en-GB" dirty="0">
                <a:solidFill>
                  <a:schemeClr val="accent3"/>
                </a:solidFill>
              </a:rPr>
              <a:t>hierarchical</a:t>
            </a:r>
            <a:r>
              <a:rPr lang="en-GB" dirty="0"/>
              <a:t>)  </a:t>
            </a:r>
            <a:endParaRPr lang="en-US" dirty="0"/>
          </a:p>
        </p:txBody>
      </p:sp>
      <p:sp>
        <p:nvSpPr>
          <p:cNvPr id="5" name="Rectangle 4"/>
          <p:cNvSpPr/>
          <p:nvPr/>
        </p:nvSpPr>
        <p:spPr>
          <a:xfrm>
            <a:off x="1524000" y="1981200"/>
            <a:ext cx="7239000" cy="4770537"/>
          </a:xfrm>
          <a:prstGeom prst="rect">
            <a:avLst/>
          </a:prstGeom>
        </p:spPr>
        <p:txBody>
          <a:bodyPr wrap="square">
            <a:spAutoFit/>
          </a:bodyPr>
          <a:lstStyle/>
          <a:p>
            <a:r>
              <a:rPr lang="en-GB" b="1" dirty="0" err="1">
                <a:solidFill>
                  <a:srgbClr val="0070C0"/>
                </a:solidFill>
              </a:rPr>
              <a:t>columnLayout</a:t>
            </a:r>
            <a:endParaRPr lang="en-GB" b="1" dirty="0">
              <a:solidFill>
                <a:srgbClr val="0070C0"/>
              </a:solidFill>
            </a:endParaRPr>
          </a:p>
          <a:p>
            <a:r>
              <a:rPr lang="en-GB" dirty="0"/>
              <a:t>    </a:t>
            </a:r>
            <a:r>
              <a:rPr lang="en-GB" b="1" dirty="0" err="1">
                <a:solidFill>
                  <a:srgbClr val="FF0000"/>
                </a:solidFill>
              </a:rPr>
              <a:t>formLayout</a:t>
            </a:r>
            <a:endParaRPr lang="en-GB" b="1" dirty="0">
              <a:solidFill>
                <a:srgbClr val="FF0000"/>
              </a:solidFill>
            </a:endParaRPr>
          </a:p>
          <a:p>
            <a:r>
              <a:rPr lang="en-GB" dirty="0"/>
              <a:t>          </a:t>
            </a:r>
            <a:r>
              <a:rPr lang="en-GB" dirty="0">
                <a:solidFill>
                  <a:schemeClr val="accent2">
                    <a:lumMod val="75000"/>
                  </a:schemeClr>
                </a:solidFill>
              </a:rPr>
              <a:t>button1</a:t>
            </a:r>
          </a:p>
          <a:p>
            <a:r>
              <a:rPr lang="en-GB" dirty="0">
                <a:solidFill>
                  <a:schemeClr val="accent2">
                    <a:lumMod val="75000"/>
                  </a:schemeClr>
                </a:solidFill>
              </a:rPr>
              <a:t>          button2</a:t>
            </a:r>
          </a:p>
          <a:p>
            <a:r>
              <a:rPr lang="en-GB" dirty="0"/>
              <a:t>    </a:t>
            </a:r>
            <a:r>
              <a:rPr lang="en-GB" b="1" dirty="0" err="1">
                <a:solidFill>
                  <a:srgbClr val="FF0000"/>
                </a:solidFill>
              </a:rPr>
              <a:t>intField</a:t>
            </a:r>
            <a:endParaRPr lang="en-GB" b="1" dirty="0">
              <a:solidFill>
                <a:srgbClr val="FF0000"/>
              </a:solidFill>
            </a:endParaRPr>
          </a:p>
          <a:p>
            <a:r>
              <a:rPr lang="en-GB" dirty="0"/>
              <a:t>    </a:t>
            </a:r>
            <a:r>
              <a:rPr lang="en-GB" b="1" dirty="0" err="1">
                <a:solidFill>
                  <a:srgbClr val="FF0000"/>
                </a:solidFill>
              </a:rPr>
              <a:t>frameLayout</a:t>
            </a:r>
            <a:endParaRPr lang="en-GB" b="1" dirty="0">
              <a:solidFill>
                <a:srgbClr val="FF0000"/>
              </a:solidFill>
            </a:endParaRPr>
          </a:p>
          <a:p>
            <a:r>
              <a:rPr lang="en-GB" dirty="0"/>
              <a:t>          picture</a:t>
            </a:r>
          </a:p>
          <a:p>
            <a:endParaRPr lang="en-GB" dirty="0"/>
          </a:p>
          <a:p>
            <a:r>
              <a:rPr lang="en-GB" dirty="0"/>
              <a:t>“Current Parent” changes when create a new layout. </a:t>
            </a:r>
          </a:p>
          <a:p>
            <a:endParaRPr lang="en-GB" b="1" dirty="0"/>
          </a:p>
          <a:p>
            <a:r>
              <a:rPr lang="en-GB" b="1" dirty="0" err="1"/>
              <a:t>setParent</a:t>
            </a:r>
            <a:endParaRPr lang="en-GB" b="1" dirty="0"/>
          </a:p>
          <a:p>
            <a:endParaRPr lang="en-GB" b="1" dirty="0"/>
          </a:p>
          <a:p>
            <a:endParaRPr lang="en-GB" b="1" dirty="0"/>
          </a:p>
          <a:p>
            <a:r>
              <a:rPr lang="en-GB" sz="1400" dirty="0"/>
              <a:t>This command changes the default parent to be the specified parent. Two special parents are "|" which indicates the top level layout of the window hierarchy, or ".." which indicates one level up in the hierarchy.</a:t>
            </a:r>
          </a:p>
          <a:p>
            <a:r>
              <a:rPr lang="en-GB" sz="1400" dirty="0"/>
              <a:t>A control must be parented to a control layout. A control layout may be parented to another control layout or a window. </a:t>
            </a:r>
          </a:p>
        </p:txBody>
      </p:sp>
      <p:sp>
        <p:nvSpPr>
          <p:cNvPr id="2" name="Rectangle 1">
            <a:extLst>
              <a:ext uri="{FF2B5EF4-FFF2-40B4-BE49-F238E27FC236}">
                <a16:creationId xmlns:a16="http://schemas.microsoft.com/office/drawing/2014/main" id="{5CB71321-4EBE-4B2A-996C-F39657EDD83E}"/>
              </a:ext>
            </a:extLst>
          </p:cNvPr>
          <p:cNvSpPr>
            <a:spLocks noChangeArrowheads="1"/>
          </p:cNvSpPr>
          <p:nvPr/>
        </p:nvSpPr>
        <p:spPr bwMode="auto">
          <a:xfrm>
            <a:off x="1516380" y="5105400"/>
            <a:ext cx="723900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err="1">
                <a:ln>
                  <a:noFill/>
                </a:ln>
                <a:solidFill>
                  <a:schemeClr val="tx1"/>
                </a:solidFill>
                <a:effectLst/>
                <a:latin typeface="Arial Unicode MS"/>
              </a:rPr>
              <a:t>setParent</a:t>
            </a:r>
            <a:r>
              <a:rPr kumimoji="0" lang="en-US" altLang="en-US" sz="1000" b="0" i="0" u="none" strike="noStrike" cap="none" normalizeH="0" baseline="0" dirty="0">
                <a:ln>
                  <a:noFill/>
                </a:ln>
                <a:solidFill>
                  <a:schemeClr val="tx1"/>
                </a:solidFill>
                <a:effectLst/>
                <a:latin typeface="Arial Unicode MS"/>
              </a:rPr>
              <a:t>( [string] , [</a:t>
            </a:r>
            <a:r>
              <a:rPr kumimoji="0" lang="en-US" altLang="en-US" sz="1000" b="0" i="0" u="none" strike="noStrike" cap="none" normalizeH="0" baseline="0" dirty="0" err="1">
                <a:ln>
                  <a:noFill/>
                </a:ln>
                <a:solidFill>
                  <a:schemeClr val="tx1"/>
                </a:solidFill>
                <a:effectLst/>
                <a:latin typeface="Arial Unicode MS"/>
                <a:hlinkClick r:id="rId2"/>
              </a:rPr>
              <a:t>defineTemplate</a:t>
            </a:r>
            <a:r>
              <a:rPr kumimoji="0" lang="en-US" altLang="en-US" sz="1000" b="0" i="0" u="none" strike="noStrike" cap="none" normalizeH="0" baseline="0" dirty="0">
                <a:ln>
                  <a:noFill/>
                </a:ln>
                <a:solidFill>
                  <a:schemeClr val="tx1"/>
                </a:solidFill>
                <a:effectLst/>
                <a:latin typeface="Arial Unicode MS"/>
              </a:rPr>
              <a:t>=</a:t>
            </a:r>
            <a:r>
              <a:rPr kumimoji="0" lang="en-US" altLang="en-US" sz="1000" b="0" i="1" u="none" strike="noStrike" cap="none" normalizeH="0" baseline="0" dirty="0">
                <a:ln>
                  <a:noFill/>
                </a:ln>
                <a:solidFill>
                  <a:schemeClr val="tx1"/>
                </a:solidFill>
                <a:effectLst/>
                <a:latin typeface="Arial Unicode MS"/>
              </a:rPr>
              <a:t>string</a:t>
            </a:r>
            <a:r>
              <a:rPr kumimoji="0" lang="en-US" altLang="en-US" sz="1000" b="0" i="0" u="none" strike="noStrike" cap="none" normalizeH="0" baseline="0" dirty="0">
                <a:ln>
                  <a:noFill/>
                </a:ln>
                <a:solidFill>
                  <a:schemeClr val="tx1"/>
                </a:solidFill>
                <a:effectLst/>
                <a:latin typeface="Arial Unicode MS"/>
              </a:rPr>
              <a:t>], [</a:t>
            </a:r>
            <a:r>
              <a:rPr kumimoji="0" lang="en-US" altLang="en-US" sz="1000" b="0" i="0" u="none" strike="noStrike" cap="none" normalizeH="0" baseline="0" dirty="0">
                <a:ln>
                  <a:noFill/>
                </a:ln>
                <a:solidFill>
                  <a:schemeClr val="tx1"/>
                </a:solidFill>
                <a:effectLst/>
                <a:latin typeface="Arial Unicode MS"/>
                <a:hlinkClick r:id="rId3"/>
              </a:rPr>
              <a:t>menu</a:t>
            </a:r>
            <a:r>
              <a:rPr kumimoji="0" lang="en-US" altLang="en-US" sz="1000" b="0" i="0" u="none" strike="noStrike" cap="none" normalizeH="0" baseline="0" dirty="0">
                <a:ln>
                  <a:noFill/>
                </a:ln>
                <a:solidFill>
                  <a:schemeClr val="tx1"/>
                </a:solidFill>
                <a:effectLst/>
                <a:latin typeface="Arial Unicode MS"/>
              </a:rPr>
              <a:t>=</a:t>
            </a:r>
            <a:r>
              <a:rPr kumimoji="0" lang="en-US" altLang="en-US" sz="1000" b="0" i="1" u="none" strike="noStrike" cap="none" normalizeH="0" baseline="0" dirty="0" err="1">
                <a:ln>
                  <a:noFill/>
                </a:ln>
                <a:solidFill>
                  <a:schemeClr val="tx1"/>
                </a:solidFill>
                <a:effectLst/>
                <a:latin typeface="Arial Unicode MS"/>
              </a:rPr>
              <a:t>boolean</a:t>
            </a:r>
            <a:r>
              <a:rPr kumimoji="0" lang="en-US" altLang="en-US" sz="1000" b="0" i="0" u="none" strike="noStrike" cap="none" normalizeH="0" baseline="0" dirty="0">
                <a:ln>
                  <a:noFill/>
                </a:ln>
                <a:solidFill>
                  <a:schemeClr val="tx1"/>
                </a:solidFill>
                <a:effectLst/>
                <a:latin typeface="Arial Unicode MS"/>
              </a:rPr>
              <a:t>], [</a:t>
            </a:r>
            <a:r>
              <a:rPr kumimoji="0" lang="en-US" altLang="en-US" sz="1000" b="0" i="0" u="none" strike="noStrike" cap="none" normalizeH="0" baseline="0" dirty="0" err="1">
                <a:ln>
                  <a:noFill/>
                </a:ln>
                <a:solidFill>
                  <a:schemeClr val="tx1"/>
                </a:solidFill>
                <a:effectLst/>
                <a:latin typeface="Arial Unicode MS"/>
                <a:hlinkClick r:id="rId4"/>
              </a:rPr>
              <a:t>topLevel</a:t>
            </a:r>
            <a:r>
              <a:rPr kumimoji="0" lang="en-US" altLang="en-US" sz="1000" b="0" i="0" u="none" strike="noStrike" cap="none" normalizeH="0" baseline="0" dirty="0">
                <a:ln>
                  <a:noFill/>
                </a:ln>
                <a:solidFill>
                  <a:schemeClr val="tx1"/>
                </a:solidFill>
                <a:effectLst/>
                <a:latin typeface="Arial Unicode MS"/>
              </a:rPr>
              <a:t>=</a:t>
            </a:r>
            <a:r>
              <a:rPr kumimoji="0" lang="en-US" altLang="en-US" sz="1000" b="0" i="1" u="none" strike="noStrike" cap="none" normalizeH="0" baseline="0" dirty="0" err="1">
                <a:ln>
                  <a:noFill/>
                </a:ln>
                <a:solidFill>
                  <a:schemeClr val="tx1"/>
                </a:solidFill>
                <a:effectLst/>
                <a:latin typeface="Arial Unicode MS"/>
              </a:rPr>
              <a:t>boolean</a:t>
            </a:r>
            <a:r>
              <a:rPr kumimoji="0" lang="en-US" altLang="en-US" sz="1000" b="0" i="0" u="none" strike="noStrike" cap="none" normalizeH="0" baseline="0" dirty="0">
                <a:ln>
                  <a:noFill/>
                </a:ln>
                <a:solidFill>
                  <a:schemeClr val="tx1"/>
                </a:solidFill>
                <a:effectLst/>
                <a:latin typeface="Arial Unicode MS"/>
              </a:rPr>
              <a:t>], [</a:t>
            </a:r>
            <a:r>
              <a:rPr kumimoji="0" lang="en-US" altLang="en-US" sz="1000" b="0" i="0" u="none" strike="noStrike" cap="none" normalizeH="0" baseline="0" dirty="0" err="1">
                <a:ln>
                  <a:noFill/>
                </a:ln>
                <a:solidFill>
                  <a:schemeClr val="tx1"/>
                </a:solidFill>
                <a:effectLst/>
                <a:latin typeface="Arial Unicode MS"/>
                <a:hlinkClick r:id="rId5"/>
              </a:rPr>
              <a:t>upLevel</a:t>
            </a:r>
            <a:r>
              <a:rPr kumimoji="0" lang="en-US" altLang="en-US" sz="1000" b="0" i="0" u="none" strike="noStrike" cap="none" normalizeH="0" baseline="0" dirty="0">
                <a:ln>
                  <a:noFill/>
                </a:ln>
                <a:solidFill>
                  <a:schemeClr val="tx1"/>
                </a:solidFill>
                <a:effectLst/>
                <a:latin typeface="Arial Unicode MS"/>
              </a:rPr>
              <a:t>=</a:t>
            </a:r>
            <a:r>
              <a:rPr kumimoji="0" lang="en-US" altLang="en-US" sz="1000" b="0" i="1" u="none" strike="noStrike" cap="none" normalizeH="0" baseline="0" dirty="0" err="1">
                <a:ln>
                  <a:noFill/>
                </a:ln>
                <a:solidFill>
                  <a:schemeClr val="tx1"/>
                </a:solidFill>
                <a:effectLst/>
                <a:latin typeface="Arial Unicode MS"/>
              </a:rPr>
              <a:t>boolean</a:t>
            </a:r>
            <a:r>
              <a:rPr kumimoji="0" lang="en-US" altLang="en-US" sz="1000" b="0" i="0" u="none" strike="noStrike" cap="none" normalizeH="0" baseline="0" dirty="0">
                <a:ln>
                  <a:noFill/>
                </a:ln>
                <a:solidFill>
                  <a:schemeClr val="tx1"/>
                </a:solidFill>
                <a:effectLst/>
                <a:latin typeface="Arial Unicode MS"/>
              </a:rPr>
              <a:t>], [</a:t>
            </a:r>
            <a:r>
              <a:rPr kumimoji="0" lang="en-US" altLang="en-US" sz="1000" b="0" i="0" u="none" strike="noStrike" cap="none" normalizeH="0" baseline="0" dirty="0" err="1">
                <a:ln>
                  <a:noFill/>
                </a:ln>
                <a:solidFill>
                  <a:schemeClr val="tx1"/>
                </a:solidFill>
                <a:effectLst/>
                <a:latin typeface="Arial Unicode MS"/>
                <a:hlinkClick r:id="rId6"/>
              </a:rPr>
              <a:t>useTemplate</a:t>
            </a:r>
            <a:r>
              <a:rPr kumimoji="0" lang="en-US" altLang="en-US" sz="1000" b="0" i="0" u="none" strike="noStrike" cap="none" normalizeH="0" baseline="0" dirty="0">
                <a:ln>
                  <a:noFill/>
                </a:ln>
                <a:solidFill>
                  <a:schemeClr val="tx1"/>
                </a:solidFill>
                <a:effectLst/>
                <a:latin typeface="Arial Unicode MS"/>
              </a:rPr>
              <a:t>=</a:t>
            </a:r>
            <a:r>
              <a:rPr kumimoji="0" lang="en-US" altLang="en-US" sz="1000" b="0" i="1" u="none" strike="noStrike" cap="none" normalizeH="0" baseline="0" dirty="0">
                <a:ln>
                  <a:noFill/>
                </a:ln>
                <a:solidFill>
                  <a:schemeClr val="tx1"/>
                </a:solidFill>
                <a:effectLst/>
                <a:latin typeface="Arial Unicode MS"/>
              </a:rPr>
              <a:t>string</a:t>
            </a:r>
            <a:r>
              <a:rPr kumimoji="0" lang="en-US" altLang="en-US" sz="1000" b="0" i="0" u="none" strike="noStrike" cap="none" normalizeH="0" baseline="0" dirty="0">
                <a:ln>
                  <a:noFill/>
                </a:ln>
                <a:solidFill>
                  <a:schemeClr val="tx1"/>
                </a:solidFill>
                <a:effectLst/>
                <a:latin typeface="Arial Unicode MS"/>
              </a:rPr>
              <a:t>])</a:t>
            </a: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421259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Controls</a:t>
            </a:r>
            <a:endParaRPr lang="en-US" dirty="0"/>
          </a:p>
        </p:txBody>
      </p:sp>
      <p:sp>
        <p:nvSpPr>
          <p:cNvPr id="2" name="TextBox 1"/>
          <p:cNvSpPr txBox="1"/>
          <p:nvPr/>
        </p:nvSpPr>
        <p:spPr>
          <a:xfrm>
            <a:off x="1432560" y="1872587"/>
            <a:ext cx="7254240" cy="5017651"/>
          </a:xfrm>
          <a:prstGeom prst="rect">
            <a:avLst/>
          </a:prstGeom>
          <a:noFill/>
        </p:spPr>
        <p:txBody>
          <a:bodyPr wrap="square" numCol="3" rtlCol="0">
            <a:noAutofit/>
          </a:bodyPr>
          <a:lstStyle/>
          <a:p>
            <a:r>
              <a:rPr lang="en-GB" sz="1200" dirty="0" err="1"/>
              <a:t>attrColorSliderGrp</a:t>
            </a:r>
            <a:br>
              <a:rPr lang="en-GB" sz="1200" dirty="0"/>
            </a:br>
            <a:r>
              <a:rPr lang="en-GB" sz="1200" dirty="0" err="1"/>
              <a:t>attrControlGrp</a:t>
            </a:r>
            <a:br>
              <a:rPr lang="en-GB" sz="1200" dirty="0"/>
            </a:br>
            <a:r>
              <a:rPr lang="en-GB" sz="1200" dirty="0" err="1"/>
              <a:t>attrFieldGrp</a:t>
            </a:r>
            <a:br>
              <a:rPr lang="en-GB" sz="1200" dirty="0"/>
            </a:br>
            <a:r>
              <a:rPr lang="en-GB" sz="1200" dirty="0" err="1"/>
              <a:t>attrFieldSliderGrp</a:t>
            </a:r>
            <a:br>
              <a:rPr lang="en-GB" sz="1200" dirty="0"/>
            </a:br>
            <a:r>
              <a:rPr lang="en-GB" sz="1200" dirty="0" err="1"/>
              <a:t>attrNavigationControlGrp</a:t>
            </a:r>
            <a:br>
              <a:rPr lang="en-GB" sz="1200" dirty="0"/>
            </a:br>
            <a:r>
              <a:rPr lang="en-GB" sz="1200" b="1" dirty="0">
                <a:solidFill>
                  <a:srgbClr val="FF0000"/>
                </a:solidFill>
              </a:rPr>
              <a:t>button</a:t>
            </a:r>
            <a:br>
              <a:rPr lang="en-GB" sz="1200" dirty="0"/>
            </a:br>
            <a:r>
              <a:rPr lang="en-GB" sz="1200" dirty="0"/>
              <a:t>canvas</a:t>
            </a:r>
            <a:br>
              <a:rPr lang="en-GB" sz="1200" dirty="0"/>
            </a:br>
            <a:r>
              <a:rPr lang="en-GB" sz="1200" dirty="0" err="1"/>
              <a:t>channelBox</a:t>
            </a:r>
            <a:br>
              <a:rPr lang="en-GB" sz="1200" dirty="0"/>
            </a:br>
            <a:r>
              <a:rPr lang="en-GB" sz="1200" dirty="0" err="1"/>
              <a:t>checkBox</a:t>
            </a:r>
            <a:br>
              <a:rPr lang="en-GB" sz="1200" dirty="0"/>
            </a:br>
            <a:r>
              <a:rPr lang="en-GB" sz="1200" dirty="0" err="1"/>
              <a:t>checkBoxGrp</a:t>
            </a:r>
            <a:br>
              <a:rPr lang="en-GB" sz="1200" dirty="0"/>
            </a:br>
            <a:r>
              <a:rPr lang="en-GB" sz="1200" dirty="0" err="1"/>
              <a:t>cmdScrollFieldExecuter</a:t>
            </a:r>
            <a:br>
              <a:rPr lang="en-GB" sz="1200" dirty="0"/>
            </a:br>
            <a:r>
              <a:rPr lang="en-GB" sz="1200" dirty="0" err="1"/>
              <a:t>cmdScrollFieldReporter</a:t>
            </a:r>
            <a:br>
              <a:rPr lang="en-GB" sz="1200" dirty="0"/>
            </a:br>
            <a:r>
              <a:rPr lang="en-GB" sz="1200" dirty="0" err="1"/>
              <a:t>cmdShell</a:t>
            </a:r>
            <a:br>
              <a:rPr lang="en-GB" sz="1200" dirty="0"/>
            </a:br>
            <a:r>
              <a:rPr lang="en-GB" sz="1200" dirty="0" err="1"/>
              <a:t>colorIndexSliderGrp</a:t>
            </a:r>
            <a:br>
              <a:rPr lang="en-GB" sz="1200" dirty="0"/>
            </a:br>
            <a:r>
              <a:rPr lang="en-GB" sz="1200" dirty="0" err="1"/>
              <a:t>colorSliderButtonGrp</a:t>
            </a:r>
            <a:br>
              <a:rPr lang="en-GB" sz="1200" dirty="0"/>
            </a:br>
            <a:r>
              <a:rPr lang="en-GB" sz="1200" b="1" dirty="0" err="1">
                <a:solidFill>
                  <a:schemeClr val="accent3"/>
                </a:solidFill>
              </a:rPr>
              <a:t>colorSliderGrp</a:t>
            </a:r>
            <a:br>
              <a:rPr lang="en-GB" sz="1200" dirty="0"/>
            </a:br>
            <a:r>
              <a:rPr lang="en-GB" sz="1200" dirty="0" err="1"/>
              <a:t>commandLine</a:t>
            </a:r>
            <a:br>
              <a:rPr lang="en-GB" sz="1200" dirty="0"/>
            </a:br>
            <a:r>
              <a:rPr lang="en-GB" sz="1200" dirty="0" err="1"/>
              <a:t>componentBox</a:t>
            </a:r>
            <a:br>
              <a:rPr lang="en-GB" sz="1200" dirty="0"/>
            </a:br>
            <a:r>
              <a:rPr lang="en-GB" sz="1200" dirty="0"/>
              <a:t>control</a:t>
            </a:r>
            <a:br>
              <a:rPr lang="en-GB" sz="1200" dirty="0"/>
            </a:br>
            <a:r>
              <a:rPr lang="en-GB" sz="1200" dirty="0" err="1"/>
              <a:t>floatField</a:t>
            </a:r>
            <a:br>
              <a:rPr lang="en-GB" sz="1200" dirty="0"/>
            </a:br>
            <a:r>
              <a:rPr lang="en-GB" sz="1200" b="1" dirty="0" err="1">
                <a:solidFill>
                  <a:srgbClr val="FF0000"/>
                </a:solidFill>
              </a:rPr>
              <a:t>floatFieldGrp</a:t>
            </a:r>
            <a:br>
              <a:rPr lang="en-GB" sz="1200" dirty="0"/>
            </a:br>
            <a:r>
              <a:rPr lang="en-GB" sz="1200" dirty="0" err="1"/>
              <a:t>floatScrollBar</a:t>
            </a:r>
            <a:br>
              <a:rPr lang="en-GB" sz="1200" dirty="0"/>
            </a:br>
            <a:r>
              <a:rPr lang="en-GB" sz="1200" dirty="0" err="1"/>
              <a:t>floatSlider</a:t>
            </a:r>
            <a:br>
              <a:rPr lang="en-GB" sz="1200" dirty="0"/>
            </a:br>
            <a:r>
              <a:rPr lang="en-GB" sz="1200" dirty="0"/>
              <a:t>floatSlider2</a:t>
            </a:r>
            <a:br>
              <a:rPr lang="en-GB" sz="1200" dirty="0"/>
            </a:br>
            <a:r>
              <a:rPr lang="en-GB" sz="1200" dirty="0" err="1"/>
              <a:t>floatSliderButtonGrp</a:t>
            </a:r>
            <a:br>
              <a:rPr lang="en-GB" sz="1200" dirty="0"/>
            </a:br>
            <a:r>
              <a:rPr lang="en-GB" sz="1200" dirty="0" err="1"/>
              <a:t>floatSliderGrp</a:t>
            </a:r>
            <a:br>
              <a:rPr lang="en-GB" sz="1200" dirty="0"/>
            </a:br>
            <a:r>
              <a:rPr lang="en-GB" sz="1200" dirty="0" err="1"/>
              <a:t>gradientControl</a:t>
            </a:r>
            <a:br>
              <a:rPr lang="en-GB" sz="1200" dirty="0"/>
            </a:br>
            <a:r>
              <a:rPr lang="en-GB" sz="1200" dirty="0" err="1"/>
              <a:t>gradientControlNoAttr</a:t>
            </a:r>
            <a:br>
              <a:rPr lang="en-GB" sz="1200" dirty="0"/>
            </a:br>
            <a:r>
              <a:rPr lang="en-GB" sz="1200" dirty="0" err="1"/>
              <a:t>helpLine</a:t>
            </a:r>
            <a:br>
              <a:rPr lang="en-GB" sz="1200" dirty="0"/>
            </a:br>
            <a:r>
              <a:rPr lang="en-GB" sz="1200" dirty="0" err="1"/>
              <a:t>hudButton</a:t>
            </a:r>
            <a:br>
              <a:rPr lang="en-GB" sz="1200" dirty="0"/>
            </a:br>
            <a:r>
              <a:rPr lang="en-GB" sz="1200" dirty="0" err="1"/>
              <a:t>hudSlider</a:t>
            </a:r>
            <a:br>
              <a:rPr lang="en-GB" sz="1200" dirty="0"/>
            </a:br>
            <a:r>
              <a:rPr lang="en-GB" sz="1200" dirty="0" err="1"/>
              <a:t>hudSliderButton</a:t>
            </a:r>
            <a:br>
              <a:rPr lang="en-GB" sz="1200" dirty="0"/>
            </a:br>
            <a:r>
              <a:rPr lang="en-GB" sz="1200" dirty="0" err="1"/>
              <a:t>iconTextButton</a:t>
            </a:r>
            <a:br>
              <a:rPr lang="en-GB" sz="1200" dirty="0"/>
            </a:br>
            <a:r>
              <a:rPr lang="en-GB" sz="1200" dirty="0" err="1"/>
              <a:t>iconTextCheckBox</a:t>
            </a:r>
            <a:br>
              <a:rPr lang="en-GB" sz="1200" dirty="0"/>
            </a:br>
            <a:r>
              <a:rPr lang="en-GB" sz="1200" dirty="0" err="1"/>
              <a:t>iconTextRadioButton</a:t>
            </a:r>
            <a:br>
              <a:rPr lang="en-GB" sz="1200" dirty="0"/>
            </a:br>
            <a:r>
              <a:rPr lang="en-GB" sz="1200" dirty="0" err="1"/>
              <a:t>iconTextRadioCollection</a:t>
            </a:r>
            <a:br>
              <a:rPr lang="en-GB" sz="1200" dirty="0"/>
            </a:br>
            <a:r>
              <a:rPr lang="en-GB" sz="1200" dirty="0" err="1"/>
              <a:t>iconTextScrollList</a:t>
            </a:r>
            <a:br>
              <a:rPr lang="en-GB" sz="1200" dirty="0"/>
            </a:br>
            <a:r>
              <a:rPr lang="en-GB" sz="1200" dirty="0" err="1"/>
              <a:t>iconTextStaticLabel</a:t>
            </a:r>
            <a:br>
              <a:rPr lang="en-GB" sz="1200" dirty="0"/>
            </a:br>
            <a:r>
              <a:rPr lang="en-GB" sz="1200" dirty="0"/>
              <a:t>image</a:t>
            </a:r>
            <a:br>
              <a:rPr lang="en-GB" sz="1200" dirty="0"/>
            </a:br>
            <a:r>
              <a:rPr lang="en-GB" sz="1200" dirty="0" err="1"/>
              <a:t>intField</a:t>
            </a:r>
            <a:br>
              <a:rPr lang="en-GB" sz="1200" dirty="0"/>
            </a:br>
            <a:r>
              <a:rPr lang="en-GB" sz="1200" dirty="0" err="1"/>
              <a:t>intFieldGrp</a:t>
            </a:r>
            <a:br>
              <a:rPr lang="en-GB" sz="1200" dirty="0"/>
            </a:br>
            <a:r>
              <a:rPr lang="en-GB" sz="1200" dirty="0" err="1"/>
              <a:t>intScrollBar</a:t>
            </a:r>
            <a:br>
              <a:rPr lang="en-GB" sz="1200" dirty="0"/>
            </a:br>
            <a:r>
              <a:rPr lang="en-GB" sz="1200" dirty="0" err="1"/>
              <a:t>intSlider</a:t>
            </a:r>
            <a:br>
              <a:rPr lang="en-GB" sz="1200" dirty="0"/>
            </a:br>
            <a:r>
              <a:rPr lang="en-GB" sz="1200" b="1" dirty="0" err="1">
                <a:solidFill>
                  <a:srgbClr val="FF0000"/>
                </a:solidFill>
              </a:rPr>
              <a:t>intSliderGrp</a:t>
            </a:r>
            <a:br>
              <a:rPr lang="en-GB" sz="1200" dirty="0"/>
            </a:br>
            <a:r>
              <a:rPr lang="en-GB" sz="1200" dirty="0" err="1"/>
              <a:t>layerButton</a:t>
            </a:r>
            <a:br>
              <a:rPr lang="en-GB" sz="1200" dirty="0"/>
            </a:br>
            <a:r>
              <a:rPr lang="en-GB" sz="1200" dirty="0" err="1"/>
              <a:t>messageLine</a:t>
            </a:r>
            <a:br>
              <a:rPr lang="en-GB" sz="1200" dirty="0"/>
            </a:br>
            <a:r>
              <a:rPr lang="en-GB" sz="1200" dirty="0" err="1"/>
              <a:t>nameField</a:t>
            </a:r>
            <a:br>
              <a:rPr lang="en-GB" sz="1200" dirty="0"/>
            </a:br>
            <a:r>
              <a:rPr lang="en-GB" sz="1200" dirty="0" err="1"/>
              <a:t>nodeTreeLister</a:t>
            </a:r>
            <a:br>
              <a:rPr lang="en-GB" sz="1200" dirty="0"/>
            </a:br>
            <a:r>
              <a:rPr lang="en-GB" sz="1200" dirty="0" err="1"/>
              <a:t>palettePort</a:t>
            </a:r>
            <a:br>
              <a:rPr lang="en-GB" sz="1200" dirty="0"/>
            </a:br>
            <a:r>
              <a:rPr lang="en-GB" sz="1200" b="1" dirty="0">
                <a:solidFill>
                  <a:srgbClr val="FF0000"/>
                </a:solidFill>
              </a:rPr>
              <a:t>picture</a:t>
            </a:r>
            <a:br>
              <a:rPr lang="en-GB" sz="1200" dirty="0"/>
            </a:br>
            <a:r>
              <a:rPr lang="en-GB" sz="1200" b="1" dirty="0" err="1">
                <a:solidFill>
                  <a:srgbClr val="FF0000"/>
                </a:solidFill>
              </a:rPr>
              <a:t>progressBar</a:t>
            </a:r>
            <a:br>
              <a:rPr lang="en-GB" sz="1200" dirty="0"/>
            </a:br>
            <a:r>
              <a:rPr lang="en-GB" sz="1200" b="1" dirty="0" err="1">
                <a:solidFill>
                  <a:schemeClr val="accent3"/>
                </a:solidFill>
              </a:rPr>
              <a:t>radioButton</a:t>
            </a:r>
            <a:br>
              <a:rPr lang="en-GB" sz="1200" dirty="0"/>
            </a:br>
            <a:r>
              <a:rPr lang="en-GB" sz="1200" b="1" dirty="0" err="1">
                <a:solidFill>
                  <a:schemeClr val="accent3"/>
                </a:solidFill>
              </a:rPr>
              <a:t>radioButtonGrp</a:t>
            </a:r>
            <a:br>
              <a:rPr lang="en-GB" sz="1200" dirty="0"/>
            </a:br>
            <a:r>
              <a:rPr lang="en-GB" sz="1200" dirty="0" err="1"/>
              <a:t>radioCollection</a:t>
            </a:r>
            <a:br>
              <a:rPr lang="en-GB" sz="1200" dirty="0"/>
            </a:br>
            <a:r>
              <a:rPr lang="en-GB" sz="1200" dirty="0" err="1"/>
              <a:t>rangeControl</a:t>
            </a:r>
            <a:br>
              <a:rPr lang="en-GB" sz="1200" dirty="0"/>
            </a:br>
            <a:r>
              <a:rPr lang="en-GB" sz="1200" dirty="0" err="1"/>
              <a:t>scriptTable</a:t>
            </a:r>
            <a:br>
              <a:rPr lang="en-GB" sz="1200" dirty="0"/>
            </a:br>
            <a:r>
              <a:rPr lang="en-GB" sz="1200" dirty="0" err="1"/>
              <a:t>scrollField</a:t>
            </a:r>
            <a:br>
              <a:rPr lang="en-GB" sz="1200" dirty="0"/>
            </a:br>
            <a:r>
              <a:rPr lang="en-GB" sz="1200" b="1" dirty="0">
                <a:solidFill>
                  <a:schemeClr val="accent3"/>
                </a:solidFill>
              </a:rPr>
              <a:t>separator</a:t>
            </a:r>
            <a:br>
              <a:rPr lang="en-GB" sz="1200" dirty="0"/>
            </a:br>
            <a:r>
              <a:rPr lang="en-GB" sz="1200" dirty="0" err="1"/>
              <a:t>shelfButton</a:t>
            </a:r>
            <a:br>
              <a:rPr lang="en-GB" sz="1200" dirty="0"/>
            </a:br>
            <a:r>
              <a:rPr lang="en-GB" sz="1200" dirty="0" err="1"/>
              <a:t>soundControl</a:t>
            </a:r>
            <a:br>
              <a:rPr lang="en-GB" sz="1200" dirty="0"/>
            </a:br>
            <a:r>
              <a:rPr lang="en-GB" sz="1200" dirty="0" err="1"/>
              <a:t>swatchDisplayPort</a:t>
            </a:r>
            <a:br>
              <a:rPr lang="en-GB" sz="1200" dirty="0"/>
            </a:br>
            <a:r>
              <a:rPr lang="en-GB" sz="1200" dirty="0" err="1"/>
              <a:t>switchTable</a:t>
            </a:r>
            <a:br>
              <a:rPr lang="en-GB" sz="1200" dirty="0"/>
            </a:br>
            <a:r>
              <a:rPr lang="en-GB" sz="1200" dirty="0" err="1"/>
              <a:t>symbolButton</a:t>
            </a:r>
            <a:br>
              <a:rPr lang="en-GB" sz="1200" dirty="0"/>
            </a:br>
            <a:r>
              <a:rPr lang="en-GB" sz="1200" dirty="0" err="1"/>
              <a:t>symbolCheckBox</a:t>
            </a:r>
            <a:br>
              <a:rPr lang="en-GB" sz="1200" dirty="0"/>
            </a:br>
            <a:r>
              <a:rPr lang="en-GB" sz="1200" dirty="0"/>
              <a:t>text</a:t>
            </a:r>
            <a:br>
              <a:rPr lang="en-GB" sz="1200" dirty="0"/>
            </a:br>
            <a:r>
              <a:rPr lang="en-GB" sz="1200" b="1" dirty="0" err="1">
                <a:solidFill>
                  <a:schemeClr val="accent3"/>
                </a:solidFill>
              </a:rPr>
              <a:t>textField</a:t>
            </a:r>
            <a:br>
              <a:rPr lang="en-GB" sz="1200" dirty="0"/>
            </a:br>
            <a:r>
              <a:rPr lang="en-GB" sz="1200" dirty="0" err="1"/>
              <a:t>textFieldButtonGrp</a:t>
            </a:r>
            <a:br>
              <a:rPr lang="en-GB" sz="1200" dirty="0"/>
            </a:br>
            <a:r>
              <a:rPr lang="en-GB" sz="1200" dirty="0" err="1"/>
              <a:t>textFieldGrp</a:t>
            </a:r>
            <a:br>
              <a:rPr lang="en-GB" sz="1200" dirty="0"/>
            </a:br>
            <a:r>
              <a:rPr lang="en-GB" sz="1200" dirty="0" err="1"/>
              <a:t>textScrollList</a:t>
            </a:r>
            <a:br>
              <a:rPr lang="en-GB" sz="1200" dirty="0"/>
            </a:br>
            <a:r>
              <a:rPr lang="en-GB" sz="1200" dirty="0" err="1"/>
              <a:t>timeControl</a:t>
            </a:r>
            <a:br>
              <a:rPr lang="en-GB" sz="1200" dirty="0"/>
            </a:br>
            <a:r>
              <a:rPr lang="en-GB" sz="1200" dirty="0" err="1"/>
              <a:t>timePort</a:t>
            </a:r>
            <a:br>
              <a:rPr lang="en-GB" sz="1200" dirty="0"/>
            </a:br>
            <a:r>
              <a:rPr lang="en-GB" sz="1200" dirty="0" err="1"/>
              <a:t>toolButton</a:t>
            </a:r>
            <a:br>
              <a:rPr lang="en-GB" sz="1200" dirty="0"/>
            </a:br>
            <a:r>
              <a:rPr lang="en-GB" sz="1200" dirty="0" err="1"/>
              <a:t>toolCollection</a:t>
            </a:r>
            <a:br>
              <a:rPr lang="en-GB" sz="1200" dirty="0"/>
            </a:br>
            <a:r>
              <a:rPr lang="en-GB" sz="1200" dirty="0" err="1"/>
              <a:t>treeLister</a:t>
            </a:r>
            <a:br>
              <a:rPr lang="en-GB" sz="1200" dirty="0"/>
            </a:br>
            <a:r>
              <a:rPr lang="en-GB" sz="1200" dirty="0" err="1"/>
              <a:t>treeView</a:t>
            </a:r>
            <a:endParaRPr lang="en-GB" sz="1200" dirty="0"/>
          </a:p>
        </p:txBody>
      </p:sp>
    </p:spTree>
    <p:extLst>
      <p:ext uri="{BB962C8B-B14F-4D97-AF65-F5344CB8AC3E}">
        <p14:creationId xmlns:p14="http://schemas.microsoft.com/office/powerpoint/2010/main" val="1521578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button</a:t>
            </a:r>
            <a:endParaRPr lang="en-US" dirty="0"/>
          </a:p>
        </p:txBody>
      </p:sp>
      <p:sp>
        <p:nvSpPr>
          <p:cNvPr id="4" name="Rounded Rectangle 3"/>
          <p:cNvSpPr/>
          <p:nvPr/>
        </p:nvSpPr>
        <p:spPr>
          <a:xfrm>
            <a:off x="1432560" y="1981201"/>
            <a:ext cx="6096000" cy="4800599"/>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a:t>import </a:t>
            </a:r>
            <a:r>
              <a:rPr lang="en-GB" sz="1600" dirty="0" err="1"/>
              <a:t>maya.cmds</a:t>
            </a:r>
            <a:r>
              <a:rPr lang="en-GB" sz="1600" dirty="0"/>
              <a:t> as </a:t>
            </a:r>
            <a:r>
              <a:rPr lang="en-GB" sz="1600" dirty="0" err="1"/>
              <a:t>cmds</a:t>
            </a:r>
            <a:endParaRPr lang="en-GB" sz="1600" dirty="0"/>
          </a:p>
          <a:p>
            <a:endParaRPr lang="en-GB" sz="1600" dirty="0"/>
          </a:p>
          <a:p>
            <a:r>
              <a:rPr lang="en-GB" sz="1600" dirty="0" err="1"/>
              <a:t>def</a:t>
            </a:r>
            <a:r>
              <a:rPr lang="en-GB" sz="1600" dirty="0"/>
              <a:t> </a:t>
            </a:r>
            <a:r>
              <a:rPr lang="en-GB" sz="1600" dirty="0" err="1"/>
              <a:t>actionProc</a:t>
            </a:r>
            <a:r>
              <a:rPr lang="en-GB" sz="1600" dirty="0"/>
              <a:t>(*</a:t>
            </a:r>
            <a:r>
              <a:rPr lang="en-GB" sz="1600" dirty="0" err="1"/>
              <a:t>pArgs</a:t>
            </a:r>
            <a:r>
              <a:rPr lang="en-GB" sz="1600" dirty="0"/>
              <a:t>):</a:t>
            </a:r>
          </a:p>
          <a:p>
            <a:r>
              <a:rPr lang="en-GB" sz="1600" dirty="0"/>
              <a:t>    print("Start action")</a:t>
            </a:r>
          </a:p>
          <a:p>
            <a:r>
              <a:rPr lang="en-GB" sz="1600" dirty="0"/>
              <a:t>    </a:t>
            </a:r>
            <a:r>
              <a:rPr lang="en-GB" sz="1600" dirty="0" err="1"/>
              <a:t>cmds.deleteUI</a:t>
            </a:r>
            <a:r>
              <a:rPr lang="en-GB" sz="1600" dirty="0"/>
              <a:t>(</a:t>
            </a:r>
            <a:r>
              <a:rPr lang="en-GB" sz="1600" dirty="0">
                <a:solidFill>
                  <a:srgbClr val="C00000"/>
                </a:solidFill>
              </a:rPr>
              <a:t>"</a:t>
            </a:r>
            <a:r>
              <a:rPr lang="en-GB" sz="1600" dirty="0" err="1">
                <a:solidFill>
                  <a:srgbClr val="C00000"/>
                </a:solidFill>
              </a:rPr>
              <a:t>myWindow</a:t>
            </a:r>
            <a:r>
              <a:rPr lang="en-GB" sz="1600" dirty="0">
                <a:solidFill>
                  <a:srgbClr val="C00000"/>
                </a:solidFill>
              </a:rPr>
              <a:t>"</a:t>
            </a:r>
            <a:r>
              <a:rPr lang="en-GB" sz="1600" dirty="0"/>
              <a:t>)</a:t>
            </a:r>
          </a:p>
          <a:p>
            <a:r>
              <a:rPr lang="en-GB" sz="1600" dirty="0"/>
              <a:t>	</a:t>
            </a:r>
          </a:p>
          <a:p>
            <a:r>
              <a:rPr lang="en-GB" sz="1600" dirty="0" err="1"/>
              <a:t>def</a:t>
            </a:r>
            <a:r>
              <a:rPr lang="en-GB" sz="1600" dirty="0"/>
              <a:t> </a:t>
            </a:r>
            <a:r>
              <a:rPr lang="en-GB" sz="1600" dirty="0" err="1"/>
              <a:t>cancelProc</a:t>
            </a:r>
            <a:r>
              <a:rPr lang="en-GB" sz="1600" dirty="0"/>
              <a:t>(*</a:t>
            </a:r>
            <a:r>
              <a:rPr lang="en-GB" sz="1600" dirty="0" err="1"/>
              <a:t>pArgs</a:t>
            </a:r>
            <a:r>
              <a:rPr lang="en-GB" sz="1600" dirty="0"/>
              <a:t>):</a:t>
            </a:r>
          </a:p>
          <a:p>
            <a:r>
              <a:rPr lang="en-GB" sz="1600" dirty="0"/>
              <a:t>    print("action is cancelled")</a:t>
            </a:r>
          </a:p>
          <a:p>
            <a:r>
              <a:rPr lang="en-GB" sz="1600" dirty="0"/>
              <a:t>    </a:t>
            </a:r>
            <a:r>
              <a:rPr lang="en-GB" sz="1600" dirty="0" err="1"/>
              <a:t>cmds.deleteUI</a:t>
            </a:r>
            <a:r>
              <a:rPr lang="en-GB" sz="1600" dirty="0"/>
              <a:t>("</a:t>
            </a:r>
            <a:r>
              <a:rPr lang="en-GB" sz="1600" dirty="0" err="1"/>
              <a:t>myWindow</a:t>
            </a:r>
            <a:r>
              <a:rPr lang="en-GB" sz="1600" dirty="0"/>
              <a:t>")</a:t>
            </a:r>
          </a:p>
          <a:p>
            <a:endParaRPr lang="en-GB" sz="1600" dirty="0"/>
          </a:p>
          <a:p>
            <a:r>
              <a:rPr lang="en-GB" sz="1600" dirty="0"/>
              <a:t># the main program start from here ....	</a:t>
            </a:r>
          </a:p>
          <a:p>
            <a:r>
              <a:rPr lang="en-GB" sz="1600" dirty="0" err="1"/>
              <a:t>cmds.window</a:t>
            </a:r>
            <a:r>
              <a:rPr lang="en-GB" sz="1600" dirty="0"/>
              <a:t>(</a:t>
            </a:r>
            <a:r>
              <a:rPr lang="en-GB" sz="1600" dirty="0">
                <a:solidFill>
                  <a:srgbClr val="C00000"/>
                </a:solidFill>
              </a:rPr>
              <a:t>"</a:t>
            </a:r>
            <a:r>
              <a:rPr lang="en-GB" sz="1600" dirty="0" err="1">
                <a:solidFill>
                  <a:srgbClr val="C00000"/>
                </a:solidFill>
              </a:rPr>
              <a:t>myWindow</a:t>
            </a:r>
            <a:r>
              <a:rPr lang="en-GB" sz="1600" dirty="0">
                <a:solidFill>
                  <a:srgbClr val="C00000"/>
                </a:solidFill>
              </a:rPr>
              <a:t>"</a:t>
            </a:r>
            <a:r>
              <a:rPr lang="en-GB" sz="1600" dirty="0"/>
              <a:t>)</a:t>
            </a:r>
          </a:p>
          <a:p>
            <a:r>
              <a:rPr lang="en-GB" sz="1600" dirty="0" err="1"/>
              <a:t>cmds.rowLayout</a:t>
            </a:r>
            <a:r>
              <a:rPr lang="en-GB" sz="1600" dirty="0"/>
              <a:t>( </a:t>
            </a:r>
            <a:r>
              <a:rPr lang="en-GB" sz="1600" dirty="0" err="1"/>
              <a:t>numberOfColumns</a:t>
            </a:r>
            <a:r>
              <a:rPr lang="en-GB" sz="1600" dirty="0"/>
              <a:t>=2, columnWidth2=(80, 80))</a:t>
            </a:r>
          </a:p>
          <a:p>
            <a:endParaRPr lang="en-GB" sz="1600" dirty="0"/>
          </a:p>
          <a:p>
            <a:r>
              <a:rPr lang="en-GB" sz="1600" dirty="0" err="1"/>
              <a:t>cmds.button</a:t>
            </a:r>
            <a:r>
              <a:rPr lang="en-GB" sz="1600" dirty="0"/>
              <a:t>(label = "OK", command = </a:t>
            </a:r>
            <a:r>
              <a:rPr lang="en-GB" sz="1600" dirty="0" err="1"/>
              <a:t>actionProc</a:t>
            </a:r>
            <a:r>
              <a:rPr lang="en-GB" sz="1600" dirty="0"/>
              <a:t>)</a:t>
            </a:r>
          </a:p>
          <a:p>
            <a:r>
              <a:rPr lang="en-GB" sz="1600" dirty="0" err="1"/>
              <a:t>cmds.button</a:t>
            </a:r>
            <a:r>
              <a:rPr lang="en-GB" sz="1600" dirty="0"/>
              <a:t>(label = "Cancel", command = </a:t>
            </a:r>
            <a:r>
              <a:rPr lang="en-GB" sz="1600" dirty="0" err="1"/>
              <a:t>cancelProc</a:t>
            </a:r>
            <a:r>
              <a:rPr lang="en-GB" sz="1600" dirty="0"/>
              <a:t>)</a:t>
            </a:r>
          </a:p>
          <a:p>
            <a:endParaRPr lang="en-GB" sz="1600" dirty="0"/>
          </a:p>
          <a:p>
            <a:r>
              <a:rPr lang="en-GB" sz="1600" dirty="0" err="1"/>
              <a:t>cmds.showWindow</a:t>
            </a:r>
            <a:r>
              <a:rPr lang="en-GB" sz="1600" dirty="0"/>
              <a:t>()</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3081" y="1966547"/>
            <a:ext cx="4095750" cy="2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1447800" y="2590800"/>
            <a:ext cx="3124200" cy="19050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482968" y="4572000"/>
            <a:ext cx="5679831" cy="20574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Multiply 1"/>
          <p:cNvSpPr/>
          <p:nvPr/>
        </p:nvSpPr>
        <p:spPr>
          <a:xfrm>
            <a:off x="4267200" y="3124200"/>
            <a:ext cx="457200" cy="457200"/>
          </a:xfrm>
          <a:prstGeom prst="mathMultiply">
            <a:avLst>
              <a:gd name="adj1" fmla="val 6698"/>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0516400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914400"/>
            <a:ext cx="7406640" cy="765282"/>
          </a:xfrm>
          <a:prstGeom prst="rect">
            <a:avLst/>
          </a:prstGeom>
        </p:spPr>
        <p:txBody>
          <a:bodyPr anchor="b">
            <a:normAutofit fontScale="85000" lnSpcReduction="1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text, </a:t>
            </a:r>
            <a:r>
              <a:rPr lang="en-GB" dirty="0" err="1"/>
              <a:t>intField</a:t>
            </a:r>
            <a:r>
              <a:rPr lang="en-GB" dirty="0"/>
              <a:t>, </a:t>
            </a:r>
            <a:r>
              <a:rPr lang="en-GB" dirty="0" err="1"/>
              <a:t>floatField</a:t>
            </a:r>
            <a:endParaRPr lang="en-US" dirty="0"/>
          </a:p>
        </p:txBody>
      </p:sp>
      <p:sp>
        <p:nvSpPr>
          <p:cNvPr id="4" name="Rounded Rectangle 3"/>
          <p:cNvSpPr/>
          <p:nvPr/>
        </p:nvSpPr>
        <p:spPr>
          <a:xfrm>
            <a:off x="1295400" y="1752601"/>
            <a:ext cx="7229475" cy="50292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200" dirty="0"/>
              <a:t>import </a:t>
            </a:r>
            <a:r>
              <a:rPr lang="en-GB" sz="1200" dirty="0" err="1"/>
              <a:t>maya.cmds</a:t>
            </a:r>
            <a:r>
              <a:rPr lang="en-GB" sz="1200" dirty="0"/>
              <a:t> as </a:t>
            </a:r>
            <a:r>
              <a:rPr lang="en-GB" sz="1200" dirty="0" err="1"/>
              <a:t>cmds</a:t>
            </a:r>
            <a:endParaRPr lang="en-GB" sz="1200" dirty="0"/>
          </a:p>
          <a:p>
            <a:endParaRPr lang="en-GB" sz="1200" dirty="0"/>
          </a:p>
          <a:p>
            <a:r>
              <a:rPr lang="en-GB" sz="1200" dirty="0" err="1"/>
              <a:t>def</a:t>
            </a:r>
            <a:r>
              <a:rPr lang="en-GB" sz="1200" dirty="0"/>
              <a:t> </a:t>
            </a:r>
            <a:r>
              <a:rPr lang="en-GB" sz="1200" dirty="0" err="1"/>
              <a:t>actionProc</a:t>
            </a:r>
            <a:r>
              <a:rPr lang="en-GB" sz="1200" dirty="0"/>
              <a:t>(*</a:t>
            </a:r>
            <a:r>
              <a:rPr lang="en-GB" sz="1200" dirty="0" err="1"/>
              <a:t>pArgs</a:t>
            </a:r>
            <a:r>
              <a:rPr lang="en-GB" sz="1200" dirty="0"/>
              <a:t>):</a:t>
            </a:r>
          </a:p>
          <a:p>
            <a:r>
              <a:rPr lang="en-GB" sz="1200" dirty="0"/>
              <a:t>    print("Start action")</a:t>
            </a:r>
          </a:p>
          <a:p>
            <a:r>
              <a:rPr lang="en-GB" sz="1200" dirty="0"/>
              <a:t>    </a:t>
            </a:r>
            <a:r>
              <a:rPr lang="en-GB" sz="1200" dirty="0" err="1"/>
              <a:t>cmds.deleteUI</a:t>
            </a:r>
            <a:r>
              <a:rPr lang="en-GB" sz="1200" dirty="0"/>
              <a:t>("</a:t>
            </a:r>
            <a:r>
              <a:rPr lang="en-GB" sz="1200" dirty="0" err="1"/>
              <a:t>myWindow</a:t>
            </a:r>
            <a:r>
              <a:rPr lang="en-GB" sz="1200" dirty="0"/>
              <a:t>")</a:t>
            </a:r>
          </a:p>
          <a:p>
            <a:r>
              <a:rPr lang="en-GB" sz="1200" dirty="0"/>
              <a:t>	</a:t>
            </a:r>
          </a:p>
          <a:p>
            <a:r>
              <a:rPr lang="en-GB" sz="1200" dirty="0" err="1"/>
              <a:t>def</a:t>
            </a:r>
            <a:r>
              <a:rPr lang="en-GB" sz="1200" dirty="0"/>
              <a:t> </a:t>
            </a:r>
            <a:r>
              <a:rPr lang="en-GB" sz="1200" dirty="0" err="1"/>
              <a:t>cancelProc</a:t>
            </a:r>
            <a:r>
              <a:rPr lang="en-GB" sz="1200" dirty="0"/>
              <a:t>(*</a:t>
            </a:r>
            <a:r>
              <a:rPr lang="en-GB" sz="1200" dirty="0" err="1"/>
              <a:t>pArgs</a:t>
            </a:r>
            <a:r>
              <a:rPr lang="en-GB" sz="1200" dirty="0"/>
              <a:t>):</a:t>
            </a:r>
          </a:p>
          <a:p>
            <a:r>
              <a:rPr lang="en-GB" sz="1200" dirty="0"/>
              <a:t>    print("action is cancelled")</a:t>
            </a:r>
          </a:p>
          <a:p>
            <a:r>
              <a:rPr lang="en-GB" sz="1200" dirty="0"/>
              <a:t>    </a:t>
            </a:r>
            <a:r>
              <a:rPr lang="en-GB" sz="1200" dirty="0" err="1"/>
              <a:t>cmds.deleteUI</a:t>
            </a:r>
            <a:r>
              <a:rPr lang="en-GB" sz="1200" dirty="0"/>
              <a:t>("</a:t>
            </a:r>
            <a:r>
              <a:rPr lang="en-GB" sz="1200" dirty="0" err="1"/>
              <a:t>myWindow</a:t>
            </a:r>
            <a:r>
              <a:rPr lang="en-GB" sz="1200" dirty="0"/>
              <a:t>")</a:t>
            </a:r>
          </a:p>
          <a:p>
            <a:endParaRPr lang="en-GB" sz="1200" dirty="0"/>
          </a:p>
          <a:p>
            <a:r>
              <a:rPr lang="en-GB" sz="1200" dirty="0" err="1"/>
              <a:t>def</a:t>
            </a:r>
            <a:r>
              <a:rPr lang="en-GB" sz="1200" dirty="0"/>
              <a:t> </a:t>
            </a:r>
            <a:r>
              <a:rPr lang="en-GB" sz="1200" dirty="0" err="1"/>
              <a:t>createUI</a:t>
            </a:r>
            <a:r>
              <a:rPr lang="en-GB" sz="1200" dirty="0"/>
              <a:t>():	</a:t>
            </a:r>
          </a:p>
          <a:p>
            <a:r>
              <a:rPr lang="en-GB" sz="1200" dirty="0"/>
              <a:t>    </a:t>
            </a:r>
            <a:r>
              <a:rPr lang="en-GB" sz="1200" dirty="0" err="1"/>
              <a:t>cmds.window</a:t>
            </a:r>
            <a:r>
              <a:rPr lang="en-GB" sz="1200" dirty="0"/>
              <a:t>("</a:t>
            </a:r>
            <a:r>
              <a:rPr lang="en-GB" sz="1200" dirty="0" err="1"/>
              <a:t>myWindow</a:t>
            </a:r>
            <a:r>
              <a:rPr lang="en-GB" sz="1200" dirty="0"/>
              <a:t>")</a:t>
            </a:r>
          </a:p>
          <a:p>
            <a:r>
              <a:rPr lang="en-GB" sz="1200" dirty="0"/>
              <a:t>    </a:t>
            </a:r>
            <a:r>
              <a:rPr lang="en-GB" sz="1200" dirty="0" err="1"/>
              <a:t>cmds.columnLayout</a:t>
            </a:r>
            <a:r>
              <a:rPr lang="en-GB" sz="1200" dirty="0"/>
              <a:t>( </a:t>
            </a:r>
            <a:r>
              <a:rPr lang="en-GB" sz="1200" dirty="0" err="1"/>
              <a:t>adjustableColumn</a:t>
            </a:r>
            <a:r>
              <a:rPr lang="en-GB" sz="1200" dirty="0"/>
              <a:t>=True )</a:t>
            </a:r>
          </a:p>
          <a:p>
            <a:r>
              <a:rPr lang="en-GB" sz="1200" dirty="0"/>
              <a:t>    </a:t>
            </a:r>
            <a:r>
              <a:rPr lang="en-GB" sz="1200" dirty="0" err="1"/>
              <a:t>cmds.text</a:t>
            </a:r>
            <a:r>
              <a:rPr lang="en-GB" sz="1200" dirty="0"/>
              <a:t>( label='number of moons' )</a:t>
            </a:r>
          </a:p>
          <a:p>
            <a:r>
              <a:rPr lang="en-GB" sz="1200" dirty="0"/>
              <a:t>    </a:t>
            </a:r>
            <a:r>
              <a:rPr lang="en-GB" sz="1200" dirty="0" err="1"/>
              <a:t>numMoonsControl</a:t>
            </a:r>
            <a:r>
              <a:rPr lang="en-GB" sz="1200" dirty="0"/>
              <a:t> = </a:t>
            </a:r>
            <a:r>
              <a:rPr lang="en-GB" sz="1200" dirty="0" err="1"/>
              <a:t>cmds.</a:t>
            </a:r>
            <a:r>
              <a:rPr lang="en-GB" sz="1200" b="1" dirty="0" err="1">
                <a:solidFill>
                  <a:srgbClr val="FF0000"/>
                </a:solidFill>
              </a:rPr>
              <a:t>intField</a:t>
            </a:r>
            <a:r>
              <a:rPr lang="en-GB" sz="1200" dirty="0"/>
              <a:t>( </a:t>
            </a:r>
            <a:r>
              <a:rPr lang="en-GB" sz="1200" dirty="0" err="1"/>
              <a:t>minValue</a:t>
            </a:r>
            <a:r>
              <a:rPr lang="en-GB" sz="1200" dirty="0"/>
              <a:t>=4, </a:t>
            </a:r>
            <a:r>
              <a:rPr lang="en-GB" sz="1200" dirty="0" err="1"/>
              <a:t>maxValue</a:t>
            </a:r>
            <a:r>
              <a:rPr lang="en-GB" sz="1200" dirty="0"/>
              <a:t>=20, value=12)</a:t>
            </a:r>
          </a:p>
          <a:p>
            <a:r>
              <a:rPr lang="en-GB" sz="1200" dirty="0"/>
              <a:t>    </a:t>
            </a:r>
            <a:r>
              <a:rPr lang="en-GB" sz="1200" dirty="0" err="1"/>
              <a:t>cmds.text</a:t>
            </a:r>
            <a:r>
              <a:rPr lang="en-GB" sz="1200" dirty="0"/>
              <a:t>( label='Distance from parent to child' )</a:t>
            </a:r>
          </a:p>
          <a:p>
            <a:r>
              <a:rPr lang="en-GB" sz="1200" dirty="0"/>
              <a:t>    </a:t>
            </a:r>
            <a:r>
              <a:rPr lang="en-GB" sz="1200" dirty="0" err="1"/>
              <a:t>distControl</a:t>
            </a:r>
            <a:r>
              <a:rPr lang="en-GB" sz="1200" dirty="0"/>
              <a:t> = </a:t>
            </a:r>
            <a:r>
              <a:rPr lang="en-GB" sz="1200" b="1" dirty="0" err="1"/>
              <a:t>cmds.intField</a:t>
            </a:r>
            <a:r>
              <a:rPr lang="en-GB" sz="1200" dirty="0"/>
              <a:t>( </a:t>
            </a:r>
            <a:r>
              <a:rPr lang="en-GB" sz="1200" dirty="0" err="1"/>
              <a:t>minValue</a:t>
            </a:r>
            <a:r>
              <a:rPr lang="en-GB" sz="1200" dirty="0"/>
              <a:t>=5, </a:t>
            </a:r>
            <a:r>
              <a:rPr lang="en-GB" sz="1200" dirty="0" err="1"/>
              <a:t>maxValue</a:t>
            </a:r>
            <a:r>
              <a:rPr lang="en-GB" sz="1200" dirty="0"/>
              <a:t>=40, value=20)</a:t>
            </a:r>
          </a:p>
          <a:p>
            <a:r>
              <a:rPr lang="en-GB" sz="1200" dirty="0"/>
              <a:t>    </a:t>
            </a:r>
            <a:r>
              <a:rPr lang="en-GB" sz="1200" dirty="0" err="1"/>
              <a:t>cmds.text</a:t>
            </a:r>
            <a:r>
              <a:rPr lang="en-GB" sz="1200" dirty="0"/>
              <a:t>( label='size ratio of child to parent star' )</a:t>
            </a:r>
          </a:p>
          <a:p>
            <a:r>
              <a:rPr lang="en-GB" sz="1200" dirty="0"/>
              <a:t>    </a:t>
            </a:r>
            <a:r>
              <a:rPr lang="en-GB" sz="1200" dirty="0" err="1"/>
              <a:t>resizeControl</a:t>
            </a:r>
            <a:r>
              <a:rPr lang="en-GB" sz="1200" dirty="0"/>
              <a:t> = </a:t>
            </a:r>
            <a:r>
              <a:rPr lang="en-GB" sz="1200" b="1" dirty="0" err="1"/>
              <a:t>cmds.floatField</a:t>
            </a:r>
            <a:r>
              <a:rPr lang="en-GB" sz="1200" dirty="0"/>
              <a:t>( </a:t>
            </a:r>
            <a:r>
              <a:rPr lang="en-GB" sz="1200" dirty="0" err="1">
                <a:solidFill>
                  <a:srgbClr val="FF0000"/>
                </a:solidFill>
              </a:rPr>
              <a:t>minValue</a:t>
            </a:r>
            <a:r>
              <a:rPr lang="en-GB" sz="1200" dirty="0">
                <a:solidFill>
                  <a:srgbClr val="FF0000"/>
                </a:solidFill>
              </a:rPr>
              <a:t> </a:t>
            </a:r>
            <a:r>
              <a:rPr lang="en-GB" sz="1200" dirty="0"/>
              <a:t>= 0.1, </a:t>
            </a:r>
            <a:r>
              <a:rPr lang="en-GB" sz="1200" dirty="0" err="1">
                <a:solidFill>
                  <a:srgbClr val="FF0000"/>
                </a:solidFill>
              </a:rPr>
              <a:t>maxValue</a:t>
            </a:r>
            <a:r>
              <a:rPr lang="en-GB" sz="1200" dirty="0">
                <a:solidFill>
                  <a:srgbClr val="FF0000"/>
                </a:solidFill>
              </a:rPr>
              <a:t> </a:t>
            </a:r>
            <a:r>
              <a:rPr lang="en-GB" sz="1200" dirty="0"/>
              <a:t>= 1, </a:t>
            </a:r>
            <a:r>
              <a:rPr lang="en-GB" sz="1200" dirty="0">
                <a:solidFill>
                  <a:srgbClr val="FF0000"/>
                </a:solidFill>
              </a:rPr>
              <a:t>value</a:t>
            </a:r>
            <a:r>
              <a:rPr lang="en-GB" sz="1200" dirty="0"/>
              <a:t> = 0.2, </a:t>
            </a:r>
            <a:r>
              <a:rPr lang="en-GB" sz="1200" dirty="0">
                <a:solidFill>
                  <a:srgbClr val="FF0000"/>
                </a:solidFill>
              </a:rPr>
              <a:t>step</a:t>
            </a:r>
            <a:r>
              <a:rPr lang="en-GB" sz="1200" dirty="0"/>
              <a:t> = 0.01 )</a:t>
            </a:r>
          </a:p>
          <a:p>
            <a:endParaRPr lang="en-GB" sz="1200" dirty="0"/>
          </a:p>
          <a:p>
            <a:r>
              <a:rPr lang="en-GB" sz="1200" dirty="0"/>
              <a:t>    </a:t>
            </a:r>
            <a:r>
              <a:rPr lang="en-GB" sz="1200" dirty="0" err="1"/>
              <a:t>cmds.button</a:t>
            </a:r>
            <a:r>
              <a:rPr lang="en-GB" sz="1200" dirty="0"/>
              <a:t>(label = "OK", command = </a:t>
            </a:r>
            <a:r>
              <a:rPr lang="en-GB" sz="1200" dirty="0" err="1"/>
              <a:t>actionProc</a:t>
            </a:r>
            <a:r>
              <a:rPr lang="en-GB" sz="1200" dirty="0"/>
              <a:t>)</a:t>
            </a:r>
          </a:p>
          <a:p>
            <a:r>
              <a:rPr lang="en-GB" sz="1200" dirty="0"/>
              <a:t>    </a:t>
            </a:r>
            <a:r>
              <a:rPr lang="en-GB" sz="1200" dirty="0" err="1"/>
              <a:t>cmds.button</a:t>
            </a:r>
            <a:r>
              <a:rPr lang="en-GB" sz="1200" dirty="0"/>
              <a:t>(label = "Cancel", command = </a:t>
            </a:r>
            <a:r>
              <a:rPr lang="en-GB" sz="1200" dirty="0" err="1"/>
              <a:t>cancelProc</a:t>
            </a:r>
            <a:r>
              <a:rPr lang="en-GB" sz="1200" dirty="0"/>
              <a:t>)</a:t>
            </a:r>
          </a:p>
          <a:p>
            <a:r>
              <a:rPr lang="en-GB" sz="1200" dirty="0"/>
              <a:t>    </a:t>
            </a:r>
            <a:r>
              <a:rPr lang="en-GB" sz="1200" dirty="0" err="1"/>
              <a:t>cmds.showWindow</a:t>
            </a:r>
            <a:r>
              <a:rPr lang="en-GB" sz="1200" dirty="0"/>
              <a:t>()</a:t>
            </a:r>
          </a:p>
          <a:p>
            <a:endParaRPr lang="en-GB" sz="1200" dirty="0"/>
          </a:p>
          <a:p>
            <a:r>
              <a:rPr lang="en-GB" sz="1200" dirty="0" err="1"/>
              <a:t>createUI</a:t>
            </a:r>
            <a:r>
              <a:rPr lang="en-GB" sz="1200" dirty="0"/>
              <a:t>()</a:t>
            </a: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2018567"/>
            <a:ext cx="1590675" cy="1733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892711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914400"/>
            <a:ext cx="7406640" cy="765282"/>
          </a:xfrm>
          <a:prstGeom prst="rect">
            <a:avLst/>
          </a:prstGeom>
        </p:spPr>
        <p:txBody>
          <a:bodyPr anchor="b">
            <a:normAutofit fontScale="70000" lnSpcReduction="2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text, </a:t>
            </a:r>
            <a:r>
              <a:rPr lang="en-GB" dirty="0" err="1"/>
              <a:t>intSliderGrp</a:t>
            </a:r>
            <a:r>
              <a:rPr lang="en-GB" dirty="0"/>
              <a:t>, </a:t>
            </a:r>
            <a:r>
              <a:rPr lang="en-GB" dirty="0" err="1"/>
              <a:t>floatSliderGrp</a:t>
            </a:r>
            <a:endParaRPr lang="en-US" dirty="0"/>
          </a:p>
        </p:txBody>
      </p:sp>
      <p:sp>
        <p:nvSpPr>
          <p:cNvPr id="4" name="Rounded Rectangle 3"/>
          <p:cNvSpPr/>
          <p:nvPr/>
        </p:nvSpPr>
        <p:spPr>
          <a:xfrm>
            <a:off x="1066800" y="2667000"/>
            <a:ext cx="7772400" cy="38862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000" dirty="0"/>
              <a:t>import </a:t>
            </a:r>
            <a:r>
              <a:rPr lang="en-GB" sz="1000" dirty="0" err="1"/>
              <a:t>maya.cmds</a:t>
            </a:r>
            <a:r>
              <a:rPr lang="en-GB" sz="1000" dirty="0"/>
              <a:t> as </a:t>
            </a:r>
            <a:r>
              <a:rPr lang="en-GB" sz="1000" dirty="0" err="1"/>
              <a:t>cmds</a:t>
            </a:r>
            <a:endParaRPr lang="en-GB" sz="1000" dirty="0"/>
          </a:p>
          <a:p>
            <a:endParaRPr lang="en-GB" sz="1000" dirty="0"/>
          </a:p>
          <a:p>
            <a:r>
              <a:rPr lang="en-GB" sz="1000" dirty="0" err="1"/>
              <a:t>def</a:t>
            </a:r>
            <a:r>
              <a:rPr lang="en-GB" sz="1000" dirty="0"/>
              <a:t> </a:t>
            </a:r>
            <a:r>
              <a:rPr lang="en-GB" sz="1000" dirty="0" err="1"/>
              <a:t>actionProc</a:t>
            </a:r>
            <a:r>
              <a:rPr lang="en-GB" sz="1000" dirty="0"/>
              <a:t>(*</a:t>
            </a:r>
            <a:r>
              <a:rPr lang="en-GB" sz="1000" dirty="0" err="1"/>
              <a:t>pArgs</a:t>
            </a:r>
            <a:r>
              <a:rPr lang="en-GB" sz="1000" dirty="0"/>
              <a:t>):</a:t>
            </a:r>
          </a:p>
          <a:p>
            <a:r>
              <a:rPr lang="en-GB" sz="1000" dirty="0"/>
              <a:t>    print("Start action")</a:t>
            </a:r>
          </a:p>
          <a:p>
            <a:r>
              <a:rPr lang="en-GB" sz="1000" dirty="0"/>
              <a:t>    </a:t>
            </a:r>
            <a:r>
              <a:rPr lang="en-GB" sz="1000" dirty="0" err="1"/>
              <a:t>cmds.deleteUI</a:t>
            </a:r>
            <a:r>
              <a:rPr lang="en-GB" sz="1000" dirty="0"/>
              <a:t>("</a:t>
            </a:r>
            <a:r>
              <a:rPr lang="en-GB" sz="1000" dirty="0" err="1"/>
              <a:t>myWindow</a:t>
            </a:r>
            <a:r>
              <a:rPr lang="en-GB" sz="1000" dirty="0"/>
              <a:t>")</a:t>
            </a:r>
          </a:p>
          <a:p>
            <a:r>
              <a:rPr lang="en-GB" sz="1000" dirty="0"/>
              <a:t>	</a:t>
            </a:r>
          </a:p>
          <a:p>
            <a:r>
              <a:rPr lang="en-GB" sz="1000" dirty="0" err="1"/>
              <a:t>def</a:t>
            </a:r>
            <a:r>
              <a:rPr lang="en-GB" sz="1000" dirty="0"/>
              <a:t> </a:t>
            </a:r>
            <a:r>
              <a:rPr lang="en-GB" sz="1000" dirty="0" err="1"/>
              <a:t>cancelProc</a:t>
            </a:r>
            <a:r>
              <a:rPr lang="en-GB" sz="1000" dirty="0"/>
              <a:t>(*</a:t>
            </a:r>
            <a:r>
              <a:rPr lang="en-GB" sz="1000" dirty="0" err="1"/>
              <a:t>pArgs</a:t>
            </a:r>
            <a:r>
              <a:rPr lang="en-GB" sz="1000" dirty="0"/>
              <a:t>):</a:t>
            </a:r>
          </a:p>
          <a:p>
            <a:r>
              <a:rPr lang="en-GB" sz="1000" dirty="0"/>
              <a:t>    print("action is cancelled")</a:t>
            </a:r>
          </a:p>
          <a:p>
            <a:r>
              <a:rPr lang="en-GB" sz="1000" dirty="0"/>
              <a:t>    </a:t>
            </a:r>
            <a:r>
              <a:rPr lang="en-GB" sz="1000" dirty="0" err="1"/>
              <a:t>cmds.deleteUI</a:t>
            </a:r>
            <a:r>
              <a:rPr lang="en-GB" sz="1000" dirty="0"/>
              <a:t>("</a:t>
            </a:r>
            <a:r>
              <a:rPr lang="en-GB" sz="1000" dirty="0" err="1"/>
              <a:t>myWindow</a:t>
            </a:r>
            <a:r>
              <a:rPr lang="en-GB" sz="1000" dirty="0"/>
              <a:t>")</a:t>
            </a:r>
          </a:p>
          <a:p>
            <a:endParaRPr lang="en-GB" sz="1000" dirty="0"/>
          </a:p>
          <a:p>
            <a:r>
              <a:rPr lang="en-GB" sz="1000" dirty="0" err="1"/>
              <a:t>def</a:t>
            </a:r>
            <a:r>
              <a:rPr lang="en-GB" sz="1000" dirty="0"/>
              <a:t> </a:t>
            </a:r>
            <a:r>
              <a:rPr lang="en-GB" sz="1000" dirty="0" err="1"/>
              <a:t>createUI</a:t>
            </a:r>
            <a:r>
              <a:rPr lang="en-GB" sz="1000" dirty="0"/>
              <a:t>():	</a:t>
            </a:r>
          </a:p>
          <a:p>
            <a:r>
              <a:rPr lang="en-GB" sz="1000" dirty="0"/>
              <a:t>    </a:t>
            </a:r>
            <a:r>
              <a:rPr lang="en-GB" sz="1000" dirty="0" err="1"/>
              <a:t>cmds.window</a:t>
            </a:r>
            <a:r>
              <a:rPr lang="en-GB" sz="1000" dirty="0"/>
              <a:t>("</a:t>
            </a:r>
            <a:r>
              <a:rPr lang="en-GB" sz="1000" dirty="0" err="1"/>
              <a:t>myWindow</a:t>
            </a:r>
            <a:r>
              <a:rPr lang="en-GB" sz="1000" dirty="0"/>
              <a:t>")</a:t>
            </a:r>
          </a:p>
          <a:p>
            <a:r>
              <a:rPr lang="en-GB" sz="1000" dirty="0"/>
              <a:t>    </a:t>
            </a:r>
            <a:r>
              <a:rPr lang="en-GB" sz="1000" dirty="0" err="1"/>
              <a:t>cmds.columnLayout</a:t>
            </a:r>
            <a:r>
              <a:rPr lang="en-GB" sz="1000" dirty="0"/>
              <a:t>( </a:t>
            </a:r>
            <a:r>
              <a:rPr lang="en-GB" sz="1000" dirty="0" err="1"/>
              <a:t>adjustableColumn</a:t>
            </a:r>
            <a:r>
              <a:rPr lang="en-GB" sz="1000" dirty="0"/>
              <a:t>=True )</a:t>
            </a:r>
          </a:p>
          <a:p>
            <a:r>
              <a:rPr lang="en-GB" sz="1000" dirty="0"/>
              <a:t>    </a:t>
            </a:r>
            <a:r>
              <a:rPr lang="en-GB" sz="1000" dirty="0" err="1"/>
              <a:t>numMoonsControl</a:t>
            </a:r>
            <a:r>
              <a:rPr lang="en-GB" sz="1000" dirty="0"/>
              <a:t> = </a:t>
            </a:r>
            <a:r>
              <a:rPr lang="en-GB" sz="1000" dirty="0" err="1"/>
              <a:t>cmds.</a:t>
            </a:r>
            <a:r>
              <a:rPr lang="en-GB" sz="1000" b="1" dirty="0" err="1">
                <a:solidFill>
                  <a:srgbClr val="FF0000"/>
                </a:solidFill>
              </a:rPr>
              <a:t>intSliderGrp</a:t>
            </a:r>
            <a:r>
              <a:rPr lang="en-GB" sz="1000" dirty="0"/>
              <a:t>(label='number of moons', </a:t>
            </a:r>
            <a:r>
              <a:rPr lang="en-GB" sz="1000" dirty="0" err="1"/>
              <a:t>minValue</a:t>
            </a:r>
            <a:r>
              <a:rPr lang="en-GB" sz="1000" dirty="0"/>
              <a:t>=4, </a:t>
            </a:r>
            <a:r>
              <a:rPr lang="en-GB" sz="1000" dirty="0" err="1"/>
              <a:t>maxValue</a:t>
            </a:r>
            <a:r>
              <a:rPr lang="en-GB" sz="1000" dirty="0"/>
              <a:t>=20, value=12, </a:t>
            </a:r>
            <a:r>
              <a:rPr lang="en-GB" sz="1000" b="1" dirty="0">
                <a:solidFill>
                  <a:srgbClr val="FF0000"/>
                </a:solidFill>
              </a:rPr>
              <a:t>field=True</a:t>
            </a:r>
            <a:r>
              <a:rPr lang="en-GB" sz="1000" dirty="0"/>
              <a:t>)</a:t>
            </a:r>
          </a:p>
          <a:p>
            <a:r>
              <a:rPr lang="en-GB" sz="1000" dirty="0"/>
              <a:t>    </a:t>
            </a:r>
            <a:r>
              <a:rPr lang="en-GB" sz="1000" dirty="0" err="1"/>
              <a:t>distControl</a:t>
            </a:r>
            <a:r>
              <a:rPr lang="en-GB" sz="1000" dirty="0"/>
              <a:t> = </a:t>
            </a:r>
            <a:r>
              <a:rPr lang="en-GB" sz="1000" dirty="0" err="1"/>
              <a:t>cmds.intSliderGrp</a:t>
            </a:r>
            <a:r>
              <a:rPr lang="en-GB" sz="1000" dirty="0"/>
              <a:t>(label='Distance from parent to child', </a:t>
            </a:r>
            <a:r>
              <a:rPr lang="en-GB" sz="1000" dirty="0" err="1"/>
              <a:t>minValue</a:t>
            </a:r>
            <a:r>
              <a:rPr lang="en-GB" sz="1000" dirty="0"/>
              <a:t>=5, </a:t>
            </a:r>
            <a:r>
              <a:rPr lang="en-GB" sz="1000" dirty="0" err="1"/>
              <a:t>maxValue</a:t>
            </a:r>
            <a:r>
              <a:rPr lang="en-GB" sz="1000" dirty="0"/>
              <a:t>=40, value=20, field=True)</a:t>
            </a:r>
          </a:p>
          <a:p>
            <a:r>
              <a:rPr lang="en-GB" sz="1000" dirty="0"/>
              <a:t>    </a:t>
            </a:r>
            <a:r>
              <a:rPr lang="en-GB" sz="1000" dirty="0" err="1"/>
              <a:t>resizeControl</a:t>
            </a:r>
            <a:r>
              <a:rPr lang="en-GB" sz="1000" dirty="0"/>
              <a:t> = </a:t>
            </a:r>
            <a:r>
              <a:rPr lang="en-GB" sz="1000" dirty="0" err="1"/>
              <a:t>cmds.floatSliderGrp</a:t>
            </a:r>
            <a:r>
              <a:rPr lang="en-GB" sz="1000" dirty="0"/>
              <a:t>( label='size ratio of child to parent star', </a:t>
            </a:r>
            <a:r>
              <a:rPr lang="en-GB" sz="1000" dirty="0" err="1"/>
              <a:t>minValue</a:t>
            </a:r>
            <a:r>
              <a:rPr lang="en-GB" sz="1000" dirty="0"/>
              <a:t>=0.1, </a:t>
            </a:r>
            <a:r>
              <a:rPr lang="en-GB" sz="1000" dirty="0" err="1"/>
              <a:t>maxValue</a:t>
            </a:r>
            <a:r>
              <a:rPr lang="en-GB" sz="1000" dirty="0"/>
              <a:t>=1, value=0.2, step=0.01, field = True )</a:t>
            </a:r>
          </a:p>
          <a:p>
            <a:endParaRPr lang="en-GB" sz="1000" dirty="0"/>
          </a:p>
          <a:p>
            <a:r>
              <a:rPr lang="en-GB" sz="1000" dirty="0"/>
              <a:t>    </a:t>
            </a:r>
            <a:r>
              <a:rPr lang="en-GB" sz="1000" dirty="0" err="1"/>
              <a:t>cmds.button</a:t>
            </a:r>
            <a:r>
              <a:rPr lang="en-GB" sz="1000" dirty="0"/>
              <a:t>(label = "OK", command = </a:t>
            </a:r>
            <a:r>
              <a:rPr lang="en-GB" sz="1000" dirty="0" err="1"/>
              <a:t>actionProc</a:t>
            </a:r>
            <a:r>
              <a:rPr lang="en-GB" sz="1000" dirty="0"/>
              <a:t>)</a:t>
            </a:r>
          </a:p>
          <a:p>
            <a:r>
              <a:rPr lang="en-GB" sz="1000" dirty="0"/>
              <a:t>    </a:t>
            </a:r>
            <a:r>
              <a:rPr lang="en-GB" sz="1000" dirty="0" err="1"/>
              <a:t>cmds.button</a:t>
            </a:r>
            <a:r>
              <a:rPr lang="en-GB" sz="1000" dirty="0"/>
              <a:t>(label = "Cancel", command = </a:t>
            </a:r>
            <a:r>
              <a:rPr lang="en-GB" sz="1000" dirty="0" err="1"/>
              <a:t>cancelProc</a:t>
            </a:r>
            <a:r>
              <a:rPr lang="en-GB" sz="1000" dirty="0"/>
              <a:t>)</a:t>
            </a:r>
          </a:p>
          <a:p>
            <a:r>
              <a:rPr lang="en-GB" sz="1000" dirty="0"/>
              <a:t>    </a:t>
            </a:r>
            <a:r>
              <a:rPr lang="en-GB" sz="1000" dirty="0" err="1"/>
              <a:t>cmds.showWindow</a:t>
            </a:r>
            <a:r>
              <a:rPr lang="en-GB" sz="1000" dirty="0"/>
              <a:t>()</a:t>
            </a:r>
          </a:p>
          <a:p>
            <a:endParaRPr lang="en-GB" sz="1000" dirty="0"/>
          </a:p>
          <a:p>
            <a:r>
              <a:rPr lang="en-GB" sz="1000" dirty="0" err="1"/>
              <a:t>createUI</a:t>
            </a:r>
            <a:r>
              <a:rPr lang="en-GB" sz="1000" dirty="0"/>
              <a:t>()</a:t>
            </a: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6525" y="1828800"/>
            <a:ext cx="6162675" cy="151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17118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85000" lnSpcReduction="1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fetch the value from UI</a:t>
            </a:r>
          </a:p>
        </p:txBody>
      </p:sp>
      <p:sp>
        <p:nvSpPr>
          <p:cNvPr id="4" name="Rounded Rectangle 3"/>
          <p:cNvSpPr/>
          <p:nvPr/>
        </p:nvSpPr>
        <p:spPr>
          <a:xfrm>
            <a:off x="1524000" y="2286000"/>
            <a:ext cx="6400800" cy="19050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GB" sz="1600" b="1" dirty="0">
              <a:solidFill>
                <a:schemeClr val="tx1"/>
              </a:solidFill>
            </a:endParaRPr>
          </a:p>
          <a:p>
            <a:r>
              <a:rPr lang="en-GB" sz="1600" b="1" dirty="0">
                <a:solidFill>
                  <a:schemeClr val="tx1"/>
                </a:solidFill>
              </a:rPr>
              <a:t>Query mode</a:t>
            </a:r>
            <a:endParaRPr lang="en-US" sz="1600" b="1" dirty="0">
              <a:solidFill>
                <a:schemeClr val="tx1"/>
              </a:solidFill>
            </a:endParaRPr>
          </a:p>
          <a:p>
            <a:endParaRPr lang="en-GB" sz="1600" i="1" dirty="0">
              <a:solidFill>
                <a:srgbClr val="FF0000"/>
              </a:solidFill>
            </a:endParaRPr>
          </a:p>
          <a:p>
            <a:r>
              <a:rPr lang="en-GB" sz="1600" dirty="0" err="1"/>
              <a:t>numMoonsControl</a:t>
            </a:r>
            <a:r>
              <a:rPr lang="en-GB" sz="1600" dirty="0"/>
              <a:t> = </a:t>
            </a:r>
            <a:r>
              <a:rPr lang="en-GB" sz="1600" dirty="0" err="1"/>
              <a:t>cmds.</a:t>
            </a:r>
            <a:r>
              <a:rPr lang="en-GB" sz="1600" b="1" dirty="0" err="1">
                <a:solidFill>
                  <a:srgbClr val="FF0000"/>
                </a:solidFill>
              </a:rPr>
              <a:t>intSliderGrp</a:t>
            </a:r>
            <a:r>
              <a:rPr lang="en-GB" sz="1600" dirty="0"/>
              <a:t>(label='number of moons',</a:t>
            </a:r>
          </a:p>
          <a:p>
            <a:r>
              <a:rPr lang="en-GB" sz="1600" dirty="0"/>
              <a:t>      </a:t>
            </a:r>
            <a:r>
              <a:rPr lang="en-GB" sz="1600" dirty="0" err="1"/>
              <a:t>minValue</a:t>
            </a:r>
            <a:r>
              <a:rPr lang="en-GB" sz="1600" dirty="0"/>
              <a:t>=4, </a:t>
            </a:r>
            <a:r>
              <a:rPr lang="en-GB" sz="1600" dirty="0" err="1"/>
              <a:t>maxValue</a:t>
            </a:r>
            <a:r>
              <a:rPr lang="en-GB" sz="1600" dirty="0"/>
              <a:t>=20, value=12, </a:t>
            </a:r>
            <a:r>
              <a:rPr lang="en-GB" sz="1600" b="1" dirty="0">
                <a:solidFill>
                  <a:srgbClr val="FF0000"/>
                </a:solidFill>
              </a:rPr>
              <a:t>field=True</a:t>
            </a:r>
            <a:r>
              <a:rPr lang="en-GB" sz="1600" dirty="0"/>
              <a:t>)</a:t>
            </a:r>
          </a:p>
          <a:p>
            <a:endParaRPr lang="en-GB" sz="1600" i="1" dirty="0">
              <a:solidFill>
                <a:srgbClr val="FF0000"/>
              </a:solidFill>
            </a:endParaRPr>
          </a:p>
          <a:p>
            <a:r>
              <a:rPr lang="en-GB" sz="1600" i="1" dirty="0" err="1">
                <a:solidFill>
                  <a:srgbClr val="FF0000"/>
                </a:solidFill>
              </a:rPr>
              <a:t>cmds.intSliderGrp</a:t>
            </a:r>
            <a:r>
              <a:rPr lang="en-GB" sz="1600" i="1" dirty="0">
                <a:solidFill>
                  <a:srgbClr val="FF0000"/>
                </a:solidFill>
              </a:rPr>
              <a:t>(</a:t>
            </a:r>
            <a:r>
              <a:rPr lang="en-GB" sz="1600" i="1" dirty="0" err="1">
                <a:solidFill>
                  <a:srgbClr val="FF0000"/>
                </a:solidFill>
              </a:rPr>
              <a:t>numMoonsControl</a:t>
            </a:r>
            <a:r>
              <a:rPr lang="en-GB" sz="1600" i="1" dirty="0">
                <a:solidFill>
                  <a:srgbClr val="FF0000"/>
                </a:solidFill>
              </a:rPr>
              <a:t>, query=True, value=True)</a:t>
            </a:r>
          </a:p>
          <a:p>
            <a:endParaRPr lang="en-GB" sz="1600" i="1" dirty="0">
              <a:solidFill>
                <a:srgbClr val="FF0000"/>
              </a:solidFill>
            </a:endParaRPr>
          </a:p>
          <a:p>
            <a:endParaRPr lang="en-GB" sz="1600" dirty="0">
              <a:solidFill>
                <a:prstClr val="black"/>
              </a:solidFill>
            </a:endParaRPr>
          </a:p>
        </p:txBody>
      </p:sp>
      <p:sp>
        <p:nvSpPr>
          <p:cNvPr id="5" name="Rounded Rectangle 4"/>
          <p:cNvSpPr/>
          <p:nvPr/>
        </p:nvSpPr>
        <p:spPr>
          <a:xfrm>
            <a:off x="1524000" y="4343400"/>
            <a:ext cx="6400800" cy="23622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GB" sz="1600" b="1" dirty="0">
              <a:solidFill>
                <a:schemeClr val="tx1"/>
              </a:solidFill>
            </a:endParaRPr>
          </a:p>
          <a:p>
            <a:r>
              <a:rPr lang="en-GB" sz="1600" b="1" dirty="0">
                <a:solidFill>
                  <a:schemeClr val="tx1"/>
                </a:solidFill>
              </a:rPr>
              <a:t>Different functions ????</a:t>
            </a:r>
            <a:endParaRPr lang="en-US" sz="1600" b="1" dirty="0">
              <a:solidFill>
                <a:schemeClr val="tx1"/>
              </a:solidFill>
            </a:endParaRPr>
          </a:p>
          <a:p>
            <a:endParaRPr lang="en-GB" sz="1600" i="1" dirty="0">
              <a:solidFill>
                <a:srgbClr val="FF0000"/>
              </a:solidFill>
            </a:endParaRPr>
          </a:p>
          <a:p>
            <a:r>
              <a:rPr lang="en-GB" sz="1600" i="1" dirty="0" err="1">
                <a:solidFill>
                  <a:srgbClr val="FF0000"/>
                </a:solidFill>
              </a:rPr>
              <a:t>def</a:t>
            </a:r>
            <a:r>
              <a:rPr lang="en-GB" sz="1600" i="1" dirty="0">
                <a:solidFill>
                  <a:srgbClr val="FF0000"/>
                </a:solidFill>
              </a:rPr>
              <a:t>  </a:t>
            </a:r>
            <a:r>
              <a:rPr lang="en-GB" sz="1600" i="1" dirty="0" err="1">
                <a:solidFill>
                  <a:srgbClr val="FF0000"/>
                </a:solidFill>
              </a:rPr>
              <a:t>createUI</a:t>
            </a:r>
            <a:r>
              <a:rPr lang="en-GB" sz="1600" i="1" dirty="0">
                <a:solidFill>
                  <a:srgbClr val="FF0000"/>
                </a:solidFill>
              </a:rPr>
              <a:t>( ):</a:t>
            </a:r>
          </a:p>
          <a:p>
            <a:pPr lvl="1"/>
            <a:r>
              <a:rPr lang="en-GB" sz="1400" b="1" dirty="0" err="1">
                <a:solidFill>
                  <a:srgbClr val="C00000"/>
                </a:solidFill>
              </a:rPr>
              <a:t>numMoonsControl</a:t>
            </a:r>
            <a:r>
              <a:rPr lang="en-GB" sz="1400" dirty="0"/>
              <a:t> = </a:t>
            </a:r>
            <a:r>
              <a:rPr lang="en-GB" sz="1400" dirty="0" err="1">
                <a:solidFill>
                  <a:schemeClr val="tx1"/>
                </a:solidFill>
              </a:rPr>
              <a:t>cmds.intSliderGrp</a:t>
            </a:r>
            <a:r>
              <a:rPr lang="en-GB" sz="1400" dirty="0">
                <a:solidFill>
                  <a:schemeClr val="tx1"/>
                </a:solidFill>
              </a:rPr>
              <a:t>(label</a:t>
            </a:r>
            <a:r>
              <a:rPr lang="en-GB" sz="1400" dirty="0"/>
              <a:t>='number of moons',</a:t>
            </a:r>
          </a:p>
          <a:p>
            <a:pPr lvl="1"/>
            <a:r>
              <a:rPr lang="en-GB" sz="1400" dirty="0"/>
              <a:t>      </a:t>
            </a:r>
            <a:r>
              <a:rPr lang="en-GB" sz="1400" dirty="0" err="1"/>
              <a:t>minValue</a:t>
            </a:r>
            <a:r>
              <a:rPr lang="en-GB" sz="1400" dirty="0"/>
              <a:t>=4, </a:t>
            </a:r>
            <a:r>
              <a:rPr lang="en-GB" sz="1400" dirty="0" err="1"/>
              <a:t>maxValue</a:t>
            </a:r>
            <a:r>
              <a:rPr lang="en-GB" sz="1400" dirty="0"/>
              <a:t>=20, value=12, </a:t>
            </a:r>
            <a:r>
              <a:rPr lang="en-GB" sz="1400" dirty="0">
                <a:solidFill>
                  <a:schemeClr val="tx1"/>
                </a:solidFill>
              </a:rPr>
              <a:t>field=True</a:t>
            </a:r>
            <a:r>
              <a:rPr lang="en-GB" sz="1400" dirty="0"/>
              <a:t>)</a:t>
            </a:r>
          </a:p>
          <a:p>
            <a:endParaRPr lang="en-GB" sz="1600" i="1" dirty="0">
              <a:solidFill>
                <a:srgbClr val="FF0000"/>
              </a:solidFill>
            </a:endParaRPr>
          </a:p>
          <a:p>
            <a:r>
              <a:rPr lang="en-GB" sz="1600" i="1" dirty="0" err="1">
                <a:solidFill>
                  <a:srgbClr val="FF0000"/>
                </a:solidFill>
              </a:rPr>
              <a:t>def</a:t>
            </a:r>
            <a:r>
              <a:rPr lang="en-GB" sz="1600" i="1" dirty="0">
                <a:solidFill>
                  <a:srgbClr val="FF0000"/>
                </a:solidFill>
              </a:rPr>
              <a:t> </a:t>
            </a:r>
            <a:r>
              <a:rPr lang="en-GB" sz="1600" i="1" dirty="0" err="1">
                <a:solidFill>
                  <a:srgbClr val="FF0000"/>
                </a:solidFill>
              </a:rPr>
              <a:t>actionProc</a:t>
            </a:r>
            <a:r>
              <a:rPr lang="en-GB" sz="1600" i="1" dirty="0">
                <a:solidFill>
                  <a:srgbClr val="FF0000"/>
                </a:solidFill>
              </a:rPr>
              <a:t>(*</a:t>
            </a:r>
            <a:r>
              <a:rPr lang="en-GB" sz="1600" i="1" dirty="0" err="1">
                <a:solidFill>
                  <a:srgbClr val="FF0000"/>
                </a:solidFill>
              </a:rPr>
              <a:t>pArgs</a:t>
            </a:r>
            <a:r>
              <a:rPr lang="en-GB" sz="1600" i="1" dirty="0">
                <a:solidFill>
                  <a:srgbClr val="FF0000"/>
                </a:solidFill>
              </a:rPr>
              <a:t>):</a:t>
            </a:r>
          </a:p>
          <a:p>
            <a:endParaRPr lang="en-GB" sz="1600" i="1" dirty="0">
              <a:solidFill>
                <a:srgbClr val="FF0000"/>
              </a:solidFill>
            </a:endParaRPr>
          </a:p>
          <a:p>
            <a:pPr lvl="1"/>
            <a:r>
              <a:rPr lang="en-GB" sz="1400" i="1" dirty="0" err="1">
                <a:solidFill>
                  <a:schemeClr val="tx1"/>
                </a:solidFill>
              </a:rPr>
              <a:t>cmds.intSliderGrp</a:t>
            </a:r>
            <a:r>
              <a:rPr lang="en-GB" sz="1400" i="1" dirty="0">
                <a:solidFill>
                  <a:schemeClr val="tx1"/>
                </a:solidFill>
              </a:rPr>
              <a:t>(</a:t>
            </a:r>
            <a:r>
              <a:rPr lang="en-GB" sz="1400" b="1" i="1" dirty="0" err="1">
                <a:solidFill>
                  <a:srgbClr val="C00000"/>
                </a:solidFill>
              </a:rPr>
              <a:t>numMoonsControl</a:t>
            </a:r>
            <a:r>
              <a:rPr lang="en-GB" sz="1400" i="1" dirty="0">
                <a:solidFill>
                  <a:schemeClr val="tx1"/>
                </a:solidFill>
              </a:rPr>
              <a:t>, query=True, value=True)</a:t>
            </a:r>
          </a:p>
          <a:p>
            <a:endParaRPr lang="en-GB" sz="1600" i="1" dirty="0">
              <a:solidFill>
                <a:srgbClr val="FF0000"/>
              </a:solidFill>
            </a:endParaRPr>
          </a:p>
          <a:p>
            <a:endParaRPr lang="en-GB" sz="1600" dirty="0">
              <a:solidFill>
                <a:prstClr val="black"/>
              </a:solidFill>
            </a:endParaRPr>
          </a:p>
        </p:txBody>
      </p:sp>
    </p:spTree>
    <p:extLst>
      <p:ext uri="{BB962C8B-B14F-4D97-AF65-F5344CB8AC3E}">
        <p14:creationId xmlns:p14="http://schemas.microsoft.com/office/powerpoint/2010/main" val="1645050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62500" lnSpcReduction="2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fetch the value from UI</a:t>
            </a:r>
          </a:p>
          <a:p>
            <a:pPr algn="ctr"/>
            <a:r>
              <a:rPr lang="en-GB" dirty="0">
                <a:solidFill>
                  <a:srgbClr val="FF0000"/>
                </a:solidFill>
              </a:rPr>
              <a:t>Query mode</a:t>
            </a:r>
            <a:endParaRPr lang="en-US" dirty="0">
              <a:solidFill>
                <a:srgbClr val="FF0000"/>
              </a:solidFill>
            </a:endParaRPr>
          </a:p>
        </p:txBody>
      </p:sp>
      <p:sp>
        <p:nvSpPr>
          <p:cNvPr id="4" name="Rounded Rectangle 3"/>
          <p:cNvSpPr/>
          <p:nvPr/>
        </p:nvSpPr>
        <p:spPr>
          <a:xfrm>
            <a:off x="1432560" y="2286000"/>
            <a:ext cx="7635240" cy="44196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a:t># 1st method</a:t>
            </a:r>
          </a:p>
          <a:p>
            <a:r>
              <a:rPr lang="en-GB" sz="1600" dirty="0"/>
              <a:t>import </a:t>
            </a:r>
            <a:r>
              <a:rPr lang="en-GB" sz="1600" dirty="0" err="1"/>
              <a:t>functools</a:t>
            </a:r>
            <a:endParaRPr lang="en-GB" sz="1600" dirty="0"/>
          </a:p>
          <a:p>
            <a:endParaRPr lang="en-GB" sz="1600" dirty="0"/>
          </a:p>
          <a:p>
            <a:r>
              <a:rPr lang="en-GB" sz="1600" dirty="0" err="1">
                <a:solidFill>
                  <a:prstClr val="black"/>
                </a:solidFill>
              </a:rPr>
              <a:t>cmds.button</a:t>
            </a:r>
            <a:r>
              <a:rPr lang="en-GB" sz="1600" dirty="0">
                <a:solidFill>
                  <a:prstClr val="black"/>
                </a:solidFill>
              </a:rPr>
              <a:t>(label='OK', command=</a:t>
            </a:r>
            <a:r>
              <a:rPr lang="en-GB" sz="1600" dirty="0" err="1">
                <a:solidFill>
                  <a:prstClr val="black"/>
                </a:solidFill>
              </a:rPr>
              <a:t>functools.partial</a:t>
            </a:r>
            <a:r>
              <a:rPr lang="en-GB" sz="1600" dirty="0">
                <a:solidFill>
                  <a:prstClr val="black"/>
                </a:solidFill>
              </a:rPr>
              <a:t>(</a:t>
            </a:r>
            <a:r>
              <a:rPr lang="en-GB" sz="1600" dirty="0" err="1">
                <a:solidFill>
                  <a:prstClr val="black"/>
                </a:solidFill>
              </a:rPr>
              <a:t>actionProc</a:t>
            </a:r>
            <a:r>
              <a:rPr lang="en-GB" sz="1600" dirty="0">
                <a:solidFill>
                  <a:prstClr val="black"/>
                </a:solidFill>
              </a:rPr>
              <a:t>, </a:t>
            </a:r>
            <a:r>
              <a:rPr lang="en-GB" sz="1600" dirty="0" err="1">
                <a:solidFill>
                  <a:prstClr val="black"/>
                </a:solidFill>
              </a:rPr>
              <a:t>numMoonsControl</a:t>
            </a:r>
            <a:r>
              <a:rPr lang="en-GB" sz="1600" dirty="0">
                <a:solidFill>
                  <a:prstClr val="black"/>
                </a:solidFill>
              </a:rPr>
              <a:t>, </a:t>
            </a:r>
            <a:r>
              <a:rPr lang="en-GB" sz="1600" dirty="0" err="1">
                <a:solidFill>
                  <a:prstClr val="black"/>
                </a:solidFill>
              </a:rPr>
              <a:t>distControl</a:t>
            </a:r>
            <a:r>
              <a:rPr lang="en-GB" sz="1600" dirty="0">
                <a:solidFill>
                  <a:prstClr val="black"/>
                </a:solidFill>
              </a:rPr>
              <a:t>, </a:t>
            </a:r>
            <a:r>
              <a:rPr lang="en-GB" sz="1600" dirty="0" err="1">
                <a:solidFill>
                  <a:prstClr val="black"/>
                </a:solidFill>
              </a:rPr>
              <a:t>resizeControl</a:t>
            </a:r>
            <a:r>
              <a:rPr lang="en-GB" sz="1600" dirty="0">
                <a:solidFill>
                  <a:prstClr val="black"/>
                </a:solidFill>
              </a:rPr>
              <a:t>))</a:t>
            </a:r>
          </a:p>
          <a:p>
            <a:r>
              <a:rPr lang="en-GB" sz="1600" dirty="0">
                <a:solidFill>
                  <a:srgbClr val="FF0000"/>
                </a:solidFill>
              </a:rPr>
              <a:t># </a:t>
            </a:r>
            <a:r>
              <a:rPr lang="en-GB" sz="1600" dirty="0" err="1">
                <a:solidFill>
                  <a:srgbClr val="FF0000"/>
                </a:solidFill>
              </a:rPr>
              <a:t>actionProc</a:t>
            </a:r>
            <a:r>
              <a:rPr lang="en-GB" sz="1600" dirty="0">
                <a:solidFill>
                  <a:srgbClr val="FF0000"/>
                </a:solidFill>
              </a:rPr>
              <a:t> function take the control name instead of the value!!! </a:t>
            </a:r>
          </a:p>
          <a:p>
            <a:endParaRPr lang="en-GB" sz="1600" dirty="0"/>
          </a:p>
          <a:p>
            <a:r>
              <a:rPr lang="en-GB" sz="1600" dirty="0">
                <a:solidFill>
                  <a:prstClr val="black"/>
                </a:solidFill>
              </a:rPr>
              <a:t>def </a:t>
            </a:r>
            <a:r>
              <a:rPr lang="en-GB" sz="1600" dirty="0" err="1">
                <a:solidFill>
                  <a:prstClr val="black"/>
                </a:solidFill>
              </a:rPr>
              <a:t>actionProc</a:t>
            </a:r>
            <a:r>
              <a:rPr lang="en-GB" sz="1600" dirty="0">
                <a:solidFill>
                  <a:prstClr val="black"/>
                </a:solidFill>
              </a:rPr>
              <a:t>(</a:t>
            </a:r>
            <a:r>
              <a:rPr lang="en-GB" sz="1600" dirty="0" err="1">
                <a:solidFill>
                  <a:prstClr val="black"/>
                </a:solidFill>
              </a:rPr>
              <a:t>numMoonsControl</a:t>
            </a:r>
            <a:r>
              <a:rPr lang="en-GB" sz="1600" dirty="0">
                <a:solidFill>
                  <a:prstClr val="black"/>
                </a:solidFill>
              </a:rPr>
              <a:t>, </a:t>
            </a:r>
            <a:r>
              <a:rPr lang="en-GB" sz="1600" dirty="0" err="1">
                <a:solidFill>
                  <a:prstClr val="black"/>
                </a:solidFill>
              </a:rPr>
              <a:t>distControl</a:t>
            </a:r>
            <a:r>
              <a:rPr lang="en-GB" sz="1600" dirty="0">
                <a:solidFill>
                  <a:prstClr val="black"/>
                </a:solidFill>
              </a:rPr>
              <a:t>, </a:t>
            </a:r>
            <a:r>
              <a:rPr lang="en-GB" sz="1600" dirty="0" err="1">
                <a:solidFill>
                  <a:prstClr val="black"/>
                </a:solidFill>
              </a:rPr>
              <a:t>resizeControl</a:t>
            </a:r>
            <a:r>
              <a:rPr lang="en-GB" sz="1600" dirty="0">
                <a:solidFill>
                  <a:prstClr val="black"/>
                </a:solidFill>
              </a:rPr>
              <a:t>, *</a:t>
            </a:r>
            <a:r>
              <a:rPr lang="en-GB" sz="1600" dirty="0" err="1">
                <a:solidFill>
                  <a:prstClr val="black"/>
                </a:solidFill>
              </a:rPr>
              <a:t>pArgs</a:t>
            </a:r>
            <a:r>
              <a:rPr lang="en-GB" sz="1600" dirty="0">
                <a:solidFill>
                  <a:prstClr val="black"/>
                </a:solidFill>
              </a:rPr>
              <a:t>):</a:t>
            </a:r>
            <a:endParaRPr lang="en-GB" sz="1600" dirty="0"/>
          </a:p>
          <a:p>
            <a:r>
              <a:rPr lang="en-GB" sz="1600" i="1" dirty="0">
                <a:solidFill>
                  <a:prstClr val="black"/>
                </a:solidFill>
              </a:rPr>
              <a:t>	</a:t>
            </a:r>
            <a:r>
              <a:rPr lang="en-GB" sz="1600" i="1" dirty="0" err="1">
                <a:solidFill>
                  <a:prstClr val="black"/>
                </a:solidFill>
              </a:rPr>
              <a:t>numMools</a:t>
            </a:r>
            <a:r>
              <a:rPr lang="en-GB" sz="1600" i="1" dirty="0">
                <a:solidFill>
                  <a:prstClr val="black"/>
                </a:solidFill>
              </a:rPr>
              <a:t> = </a:t>
            </a:r>
            <a:r>
              <a:rPr lang="en-GB" sz="1600" i="1" dirty="0" err="1">
                <a:solidFill>
                  <a:srgbClr val="FF0000"/>
                </a:solidFill>
              </a:rPr>
              <a:t>cmds.intSliderGrp</a:t>
            </a:r>
            <a:r>
              <a:rPr lang="en-GB" sz="1600" i="1" dirty="0">
                <a:solidFill>
                  <a:srgbClr val="FF0000"/>
                </a:solidFill>
              </a:rPr>
              <a:t>(</a:t>
            </a:r>
            <a:r>
              <a:rPr lang="en-GB" sz="1600" i="1" dirty="0" err="1">
                <a:solidFill>
                  <a:srgbClr val="FF0000"/>
                </a:solidFill>
              </a:rPr>
              <a:t>numMoonsControl</a:t>
            </a:r>
            <a:r>
              <a:rPr lang="en-GB" sz="1600" i="1" dirty="0">
                <a:solidFill>
                  <a:srgbClr val="FF0000"/>
                </a:solidFill>
              </a:rPr>
              <a:t>, query=True, value=True)</a:t>
            </a:r>
            <a:endParaRPr lang="en-GB" sz="1600" dirty="0"/>
          </a:p>
          <a:p>
            <a:endParaRPr lang="en-GB" sz="1600" dirty="0"/>
          </a:p>
          <a:p>
            <a:r>
              <a:rPr lang="en-GB" sz="1600" dirty="0"/>
              <a:t># 2nd method</a:t>
            </a:r>
          </a:p>
          <a:p>
            <a:r>
              <a:rPr lang="en-GB" sz="1600" dirty="0" err="1">
                <a:solidFill>
                  <a:prstClr val="black"/>
                </a:solidFill>
              </a:rPr>
              <a:t>cmds.button</a:t>
            </a:r>
            <a:r>
              <a:rPr lang="en-GB" sz="1600" dirty="0">
                <a:solidFill>
                  <a:prstClr val="black"/>
                </a:solidFill>
              </a:rPr>
              <a:t>(label = "OK", command = lambda *</a:t>
            </a:r>
            <a:r>
              <a:rPr lang="en-GB" sz="1600" dirty="0" err="1">
                <a:solidFill>
                  <a:prstClr val="black"/>
                </a:solidFill>
              </a:rPr>
              <a:t>args</a:t>
            </a:r>
            <a:r>
              <a:rPr lang="en-GB" sz="1600" dirty="0">
                <a:solidFill>
                  <a:prstClr val="black"/>
                </a:solidFill>
              </a:rPr>
              <a:t>:  </a:t>
            </a:r>
          </a:p>
          <a:p>
            <a:r>
              <a:rPr lang="en-GB" sz="1600" dirty="0">
                <a:solidFill>
                  <a:prstClr val="black"/>
                </a:solidFill>
              </a:rPr>
              <a:t>      </a:t>
            </a:r>
            <a:r>
              <a:rPr lang="en-GB" sz="1600" dirty="0" err="1">
                <a:solidFill>
                  <a:prstClr val="black"/>
                </a:solidFill>
              </a:rPr>
              <a:t>actionProc</a:t>
            </a:r>
            <a:r>
              <a:rPr lang="en-GB" sz="1600" dirty="0">
                <a:solidFill>
                  <a:prstClr val="black"/>
                </a:solidFill>
              </a:rPr>
              <a:t>(</a:t>
            </a:r>
            <a:r>
              <a:rPr lang="en-GB" sz="1400" i="1" dirty="0" err="1">
                <a:solidFill>
                  <a:srgbClr val="FF0000"/>
                </a:solidFill>
              </a:rPr>
              <a:t>cmds.intSliderGrp</a:t>
            </a:r>
            <a:r>
              <a:rPr lang="en-GB" sz="1400" i="1" dirty="0">
                <a:solidFill>
                  <a:srgbClr val="FF0000"/>
                </a:solidFill>
              </a:rPr>
              <a:t>(</a:t>
            </a:r>
            <a:r>
              <a:rPr lang="en-GB" sz="1400" i="1" dirty="0" err="1">
                <a:solidFill>
                  <a:srgbClr val="FF0000"/>
                </a:solidFill>
              </a:rPr>
              <a:t>numMoonsControl</a:t>
            </a:r>
            <a:r>
              <a:rPr lang="en-GB" sz="1400" i="1" dirty="0">
                <a:solidFill>
                  <a:srgbClr val="FF0000"/>
                </a:solidFill>
              </a:rPr>
              <a:t>, query=True, value=True)</a:t>
            </a:r>
            <a:r>
              <a:rPr lang="en-GB" sz="1600" dirty="0">
                <a:solidFill>
                  <a:prstClr val="black"/>
                </a:solidFill>
              </a:rPr>
              <a:t>, </a:t>
            </a:r>
          </a:p>
          <a:p>
            <a:r>
              <a:rPr lang="en-GB" sz="1600" dirty="0">
                <a:solidFill>
                  <a:prstClr val="black"/>
                </a:solidFill>
              </a:rPr>
              <a:t>           </a:t>
            </a:r>
            <a:r>
              <a:rPr lang="en-GB" sz="1400" i="1" dirty="0" err="1">
                <a:solidFill>
                  <a:schemeClr val="bg2">
                    <a:lumMod val="25000"/>
                  </a:schemeClr>
                </a:solidFill>
              </a:rPr>
              <a:t>cmds.intSliderGrp</a:t>
            </a:r>
            <a:r>
              <a:rPr lang="en-GB" sz="1400" i="1" dirty="0">
                <a:solidFill>
                  <a:schemeClr val="bg2">
                    <a:lumMod val="25000"/>
                  </a:schemeClr>
                </a:solidFill>
              </a:rPr>
              <a:t>(</a:t>
            </a:r>
            <a:r>
              <a:rPr lang="en-GB" sz="1400" i="1" dirty="0" err="1">
                <a:solidFill>
                  <a:schemeClr val="bg2">
                    <a:lumMod val="25000"/>
                  </a:schemeClr>
                </a:solidFill>
              </a:rPr>
              <a:t>distControl</a:t>
            </a:r>
            <a:r>
              <a:rPr lang="en-GB" sz="1400" i="1" dirty="0">
                <a:solidFill>
                  <a:schemeClr val="bg2">
                    <a:lumMod val="25000"/>
                  </a:schemeClr>
                </a:solidFill>
              </a:rPr>
              <a:t>, query=True, value=True)</a:t>
            </a:r>
            <a:r>
              <a:rPr lang="en-GB" sz="1600" dirty="0">
                <a:solidFill>
                  <a:prstClr val="black"/>
                </a:solidFill>
              </a:rPr>
              <a:t>, </a:t>
            </a:r>
            <a:r>
              <a:rPr lang="en-GB" sz="1400" i="1" dirty="0" err="1">
                <a:solidFill>
                  <a:schemeClr val="accent3">
                    <a:lumMod val="60000"/>
                    <a:lumOff val="40000"/>
                  </a:schemeClr>
                </a:solidFill>
              </a:rPr>
              <a:t>cmds.floatSliderGrp</a:t>
            </a:r>
            <a:r>
              <a:rPr lang="en-GB" sz="1400" i="1" dirty="0">
                <a:solidFill>
                  <a:schemeClr val="accent3">
                    <a:lumMod val="60000"/>
                    <a:lumOff val="40000"/>
                  </a:schemeClr>
                </a:solidFill>
              </a:rPr>
              <a:t>(</a:t>
            </a:r>
            <a:r>
              <a:rPr lang="en-GB" sz="1400" i="1" dirty="0" err="1">
                <a:solidFill>
                  <a:schemeClr val="accent3">
                    <a:lumMod val="60000"/>
                    <a:lumOff val="40000"/>
                  </a:schemeClr>
                </a:solidFill>
              </a:rPr>
              <a:t>resizeControl</a:t>
            </a:r>
            <a:r>
              <a:rPr lang="en-GB" sz="1400" i="1" dirty="0">
                <a:solidFill>
                  <a:schemeClr val="accent3">
                    <a:lumMod val="60000"/>
                    <a:lumOff val="40000"/>
                  </a:schemeClr>
                </a:solidFill>
              </a:rPr>
              <a:t>,</a:t>
            </a:r>
          </a:p>
          <a:p>
            <a:r>
              <a:rPr lang="en-GB" sz="1400" i="1" dirty="0">
                <a:solidFill>
                  <a:schemeClr val="accent3">
                    <a:lumMod val="60000"/>
                    <a:lumOff val="40000"/>
                  </a:schemeClr>
                </a:solidFill>
              </a:rPr>
              <a:t>             query=True, value=True)</a:t>
            </a:r>
            <a:r>
              <a:rPr lang="en-GB" sz="1600" dirty="0">
                <a:solidFill>
                  <a:prstClr val="black"/>
                </a:solidFill>
              </a:rPr>
              <a:t>))</a:t>
            </a:r>
          </a:p>
          <a:p>
            <a:endParaRPr lang="en-GB" sz="1600" dirty="0">
              <a:solidFill>
                <a:prstClr val="black"/>
              </a:solidFill>
            </a:endParaRPr>
          </a:p>
          <a:p>
            <a:r>
              <a:rPr lang="en-GB" sz="1600" dirty="0" err="1">
                <a:solidFill>
                  <a:prstClr val="black"/>
                </a:solidFill>
              </a:rPr>
              <a:t>def</a:t>
            </a:r>
            <a:r>
              <a:rPr lang="en-GB" sz="1600" dirty="0">
                <a:solidFill>
                  <a:prstClr val="black"/>
                </a:solidFill>
              </a:rPr>
              <a:t> </a:t>
            </a:r>
            <a:r>
              <a:rPr lang="en-GB" sz="1600" dirty="0" err="1">
                <a:solidFill>
                  <a:prstClr val="black"/>
                </a:solidFill>
              </a:rPr>
              <a:t>actionProc</a:t>
            </a:r>
            <a:r>
              <a:rPr lang="en-GB" sz="1600" dirty="0">
                <a:solidFill>
                  <a:prstClr val="black"/>
                </a:solidFill>
              </a:rPr>
              <a:t>(</a:t>
            </a:r>
            <a:r>
              <a:rPr lang="en-GB" sz="1600" dirty="0" err="1">
                <a:solidFill>
                  <a:prstClr val="black"/>
                </a:solidFill>
              </a:rPr>
              <a:t>numMoons</a:t>
            </a:r>
            <a:r>
              <a:rPr lang="en-GB" sz="1600" dirty="0">
                <a:solidFill>
                  <a:prstClr val="black"/>
                </a:solidFill>
              </a:rPr>
              <a:t>, </a:t>
            </a:r>
            <a:r>
              <a:rPr lang="en-GB" sz="1600" dirty="0" err="1">
                <a:solidFill>
                  <a:prstClr val="black"/>
                </a:solidFill>
              </a:rPr>
              <a:t>dist</a:t>
            </a:r>
            <a:r>
              <a:rPr lang="en-GB" sz="1600" dirty="0">
                <a:solidFill>
                  <a:prstClr val="black"/>
                </a:solidFill>
              </a:rPr>
              <a:t>, </a:t>
            </a:r>
            <a:r>
              <a:rPr lang="en-GB" sz="1600" dirty="0" err="1">
                <a:solidFill>
                  <a:prstClr val="black"/>
                </a:solidFill>
              </a:rPr>
              <a:t>resizeValue</a:t>
            </a:r>
            <a:r>
              <a:rPr lang="en-GB" sz="1600" dirty="0">
                <a:solidFill>
                  <a:prstClr val="black"/>
                </a:solidFill>
              </a:rPr>
              <a:t>, *</a:t>
            </a:r>
            <a:r>
              <a:rPr lang="en-GB" sz="1600" dirty="0" err="1">
                <a:solidFill>
                  <a:prstClr val="black"/>
                </a:solidFill>
              </a:rPr>
              <a:t>pArgs</a:t>
            </a:r>
            <a:r>
              <a:rPr lang="en-GB" sz="1600" dirty="0">
                <a:solidFill>
                  <a:prstClr val="black"/>
                </a:solidFill>
              </a:rPr>
              <a:t>):</a:t>
            </a:r>
          </a:p>
        </p:txBody>
      </p:sp>
    </p:spTree>
    <p:extLst>
      <p:ext uri="{BB962C8B-B14F-4D97-AF65-F5344CB8AC3E}">
        <p14:creationId xmlns:p14="http://schemas.microsoft.com/office/powerpoint/2010/main" val="2531630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85000" lnSpcReduction="1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fetch the value from UI</a:t>
            </a:r>
            <a:endParaRPr lang="en-US" dirty="0"/>
          </a:p>
        </p:txBody>
      </p:sp>
      <p:sp>
        <p:nvSpPr>
          <p:cNvPr id="4" name="Rounded Rectangle 3"/>
          <p:cNvSpPr/>
          <p:nvPr/>
        </p:nvSpPr>
        <p:spPr>
          <a:xfrm>
            <a:off x="1432560" y="2438400"/>
            <a:ext cx="7330440" cy="23622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1600" dirty="0"/>
              <a:t>#3rd method – </a:t>
            </a:r>
            <a:r>
              <a:rPr lang="en-GB" sz="1600" dirty="0">
                <a:solidFill>
                  <a:srgbClr val="FF0000"/>
                </a:solidFill>
              </a:rPr>
              <a:t>risk</a:t>
            </a:r>
            <a:r>
              <a:rPr lang="en-GB" sz="1600" dirty="0"/>
              <a:t>!!!</a:t>
            </a:r>
          </a:p>
          <a:p>
            <a:r>
              <a:rPr lang="en-GB" sz="1600" dirty="0" err="1"/>
              <a:t>cmds.intSliderGrp</a:t>
            </a:r>
            <a:r>
              <a:rPr lang="en-GB" sz="1600" dirty="0"/>
              <a:t>(</a:t>
            </a:r>
            <a:r>
              <a:rPr lang="en-GB" sz="1600" b="1" dirty="0">
                <a:solidFill>
                  <a:schemeClr val="accent3"/>
                </a:solidFill>
              </a:rPr>
              <a:t>'</a:t>
            </a:r>
            <a:r>
              <a:rPr lang="en-GB" sz="1600" b="1" dirty="0" err="1">
                <a:solidFill>
                  <a:schemeClr val="accent3"/>
                </a:solidFill>
              </a:rPr>
              <a:t>numMoonsControl</a:t>
            </a:r>
            <a:r>
              <a:rPr lang="en-GB" sz="1600" b="1" dirty="0">
                <a:solidFill>
                  <a:schemeClr val="accent3"/>
                </a:solidFill>
              </a:rPr>
              <a:t>'</a:t>
            </a:r>
            <a:r>
              <a:rPr lang="en-GB" sz="1600" dirty="0"/>
              <a:t>, </a:t>
            </a:r>
            <a:r>
              <a:rPr lang="en-GB" sz="1600" dirty="0" err="1"/>
              <a:t>mylabel</a:t>
            </a:r>
            <a:r>
              <a:rPr lang="en-GB" sz="1600" dirty="0"/>
              <a:t>='number of moons', </a:t>
            </a:r>
            <a:r>
              <a:rPr lang="en-GB" sz="1600" dirty="0" err="1"/>
              <a:t>minValue</a:t>
            </a:r>
            <a:r>
              <a:rPr lang="en-GB" sz="1600" dirty="0"/>
              <a:t>=4, </a:t>
            </a:r>
            <a:r>
              <a:rPr lang="en-GB" sz="1600" dirty="0" err="1"/>
              <a:t>maxValue</a:t>
            </a:r>
            <a:r>
              <a:rPr lang="en-GB" sz="1600" dirty="0"/>
              <a:t>=20, value=12, field=True)</a:t>
            </a:r>
          </a:p>
          <a:p>
            <a:endParaRPr lang="en-GB" sz="1600" dirty="0"/>
          </a:p>
          <a:p>
            <a:r>
              <a:rPr lang="en-GB" sz="1600" dirty="0" err="1"/>
              <a:t>cmds.button</a:t>
            </a:r>
            <a:r>
              <a:rPr lang="en-GB" sz="1600" dirty="0"/>
              <a:t>(label = "OK", command = </a:t>
            </a:r>
            <a:r>
              <a:rPr lang="en-GB" sz="1600" dirty="0" err="1"/>
              <a:t>actionProc</a:t>
            </a:r>
            <a:r>
              <a:rPr lang="en-GB" sz="1600" dirty="0"/>
              <a:t>)</a:t>
            </a:r>
          </a:p>
          <a:p>
            <a:endParaRPr lang="en-GB" sz="1600" dirty="0"/>
          </a:p>
          <a:p>
            <a:r>
              <a:rPr lang="en-GB" sz="1600" dirty="0" err="1"/>
              <a:t>def</a:t>
            </a:r>
            <a:r>
              <a:rPr lang="en-GB" sz="1600" dirty="0"/>
              <a:t> </a:t>
            </a:r>
            <a:r>
              <a:rPr lang="en-GB" sz="1600" dirty="0" err="1"/>
              <a:t>actionProc</a:t>
            </a:r>
            <a:r>
              <a:rPr lang="en-GB" sz="1600" dirty="0"/>
              <a:t>( *</a:t>
            </a:r>
            <a:r>
              <a:rPr lang="en-GB" sz="1600" dirty="0" err="1"/>
              <a:t>pArgs</a:t>
            </a:r>
            <a:r>
              <a:rPr lang="en-GB" sz="1600" dirty="0"/>
              <a:t>):</a:t>
            </a:r>
          </a:p>
          <a:p>
            <a:r>
              <a:rPr lang="en-GB" sz="1600" dirty="0"/>
              <a:t>    </a:t>
            </a:r>
            <a:r>
              <a:rPr lang="en-GB" sz="1600" dirty="0" err="1"/>
              <a:t>numMoons</a:t>
            </a:r>
            <a:r>
              <a:rPr lang="en-GB" sz="1600" dirty="0"/>
              <a:t> = </a:t>
            </a:r>
            <a:r>
              <a:rPr lang="en-GB" sz="1400" i="1" dirty="0" err="1">
                <a:solidFill>
                  <a:schemeClr val="tx1"/>
                </a:solidFill>
              </a:rPr>
              <a:t>cmds.intSliderGrp</a:t>
            </a:r>
            <a:r>
              <a:rPr lang="en-GB" sz="1400" i="1" dirty="0">
                <a:solidFill>
                  <a:schemeClr val="tx1"/>
                </a:solidFill>
              </a:rPr>
              <a:t>(</a:t>
            </a:r>
            <a:r>
              <a:rPr lang="en-GB" sz="1400" b="1" i="1" dirty="0">
                <a:solidFill>
                  <a:schemeClr val="accent3"/>
                </a:solidFill>
              </a:rPr>
              <a:t>'</a:t>
            </a:r>
            <a:r>
              <a:rPr lang="en-GB" sz="1400" b="1" i="1" dirty="0" err="1">
                <a:solidFill>
                  <a:schemeClr val="accent3"/>
                </a:solidFill>
              </a:rPr>
              <a:t>numMoonsControl</a:t>
            </a:r>
            <a:r>
              <a:rPr lang="en-GB" sz="1400" b="1" i="1" dirty="0">
                <a:solidFill>
                  <a:schemeClr val="accent3"/>
                </a:solidFill>
              </a:rPr>
              <a:t>'</a:t>
            </a:r>
            <a:r>
              <a:rPr lang="en-GB" sz="1400" i="1" dirty="0">
                <a:solidFill>
                  <a:schemeClr val="tx1"/>
                </a:solidFill>
              </a:rPr>
              <a:t>, query=True, value=True)</a:t>
            </a:r>
            <a:endParaRPr lang="en-GB" sz="1600" i="1" dirty="0">
              <a:solidFill>
                <a:schemeClr val="tx1"/>
              </a:solidFill>
            </a:endParaRPr>
          </a:p>
        </p:txBody>
      </p:sp>
      <p:sp>
        <p:nvSpPr>
          <p:cNvPr id="5" name="TextBox 4"/>
          <p:cNvSpPr txBox="1"/>
          <p:nvPr/>
        </p:nvSpPr>
        <p:spPr>
          <a:xfrm>
            <a:off x="6248400" y="5181600"/>
            <a:ext cx="251460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dirty="0"/>
              <a:t>Don’t use constant value</a:t>
            </a:r>
          </a:p>
        </p:txBody>
      </p:sp>
    </p:spTree>
    <p:extLst>
      <p:ext uri="{BB962C8B-B14F-4D97-AF65-F5344CB8AC3E}">
        <p14:creationId xmlns:p14="http://schemas.microsoft.com/office/powerpoint/2010/main" val="27498173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85000" lnSpcReduction="1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fetch the value from UI</a:t>
            </a:r>
            <a:endParaRPr lang="en-US" dirty="0"/>
          </a:p>
        </p:txBody>
      </p:sp>
      <p:sp>
        <p:nvSpPr>
          <p:cNvPr id="5" name="Rounded Rectangle 4"/>
          <p:cNvSpPr/>
          <p:nvPr/>
        </p:nvSpPr>
        <p:spPr>
          <a:xfrm>
            <a:off x="1432560" y="2286000"/>
            <a:ext cx="6400800" cy="23622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endParaRPr lang="en-GB" sz="1600" b="1" dirty="0">
              <a:solidFill>
                <a:schemeClr val="tx1"/>
              </a:solidFill>
            </a:endParaRPr>
          </a:p>
          <a:p>
            <a:r>
              <a:rPr lang="en-GB" sz="1600" dirty="0"/>
              <a:t># 4th method – </a:t>
            </a:r>
            <a:r>
              <a:rPr lang="en-GB" sz="1600" dirty="0">
                <a:solidFill>
                  <a:schemeClr val="tx1"/>
                </a:solidFill>
              </a:rPr>
              <a:t>someplace holding the control name</a:t>
            </a:r>
            <a:endParaRPr lang="en-GB" sz="1600" dirty="0"/>
          </a:p>
          <a:p>
            <a:endParaRPr lang="en-GB" sz="1600" i="1" dirty="0">
              <a:solidFill>
                <a:srgbClr val="FF0000"/>
              </a:solidFill>
            </a:endParaRPr>
          </a:p>
          <a:p>
            <a:pPr marL="285750" indent="-285750">
              <a:buFont typeface="Arial" panose="020B0604020202020204" pitchFamily="34" charset="0"/>
              <a:buChar char="•"/>
            </a:pPr>
            <a:r>
              <a:rPr lang="en-GB" sz="1600" i="1" dirty="0">
                <a:solidFill>
                  <a:srgbClr val="FF0000"/>
                </a:solidFill>
              </a:rPr>
              <a:t>Class member, attribute</a:t>
            </a:r>
          </a:p>
          <a:p>
            <a:pPr marL="285750" indent="-285750">
              <a:buFont typeface="Arial" panose="020B0604020202020204" pitchFamily="34" charset="0"/>
              <a:buChar char="•"/>
            </a:pPr>
            <a:endParaRPr lang="en-GB" sz="1600" i="1" dirty="0">
              <a:solidFill>
                <a:srgbClr val="FF0000"/>
              </a:solidFill>
            </a:endParaRPr>
          </a:p>
          <a:p>
            <a:pPr marL="285750" indent="-285750">
              <a:buFont typeface="Arial" panose="020B0604020202020204" pitchFamily="34" charset="0"/>
              <a:buChar char="•"/>
            </a:pPr>
            <a:r>
              <a:rPr lang="en-GB" sz="1600" i="1" dirty="0">
                <a:solidFill>
                  <a:srgbClr val="FF0000"/>
                </a:solidFill>
              </a:rPr>
              <a:t>Maya node attribute (create new node or create new attribute, etc.)</a:t>
            </a:r>
          </a:p>
          <a:p>
            <a:pPr marL="285750" indent="-285750">
              <a:buFont typeface="Arial" panose="020B0604020202020204" pitchFamily="34" charset="0"/>
              <a:buChar char="•"/>
            </a:pPr>
            <a:endParaRPr lang="en-GB" sz="1400" i="1" dirty="0">
              <a:solidFill>
                <a:schemeClr val="tx1"/>
              </a:solidFill>
            </a:endParaRPr>
          </a:p>
          <a:p>
            <a:pPr marL="285750" indent="-285750">
              <a:buFont typeface="Arial" panose="020B0604020202020204" pitchFamily="34" charset="0"/>
              <a:buChar char="•"/>
            </a:pPr>
            <a:r>
              <a:rPr lang="en-GB" sz="1600" i="1" dirty="0">
                <a:solidFill>
                  <a:srgbClr val="FF0000"/>
                </a:solidFill>
              </a:rPr>
              <a:t>Global variables</a:t>
            </a:r>
          </a:p>
          <a:p>
            <a:endParaRPr lang="en-GB" sz="1600" i="1" dirty="0">
              <a:solidFill>
                <a:srgbClr val="FF0000"/>
              </a:solidFill>
            </a:endParaRPr>
          </a:p>
          <a:p>
            <a:endParaRPr lang="en-GB" sz="1600" dirty="0">
              <a:solidFill>
                <a:prstClr val="black"/>
              </a:solidFill>
            </a:endParaRPr>
          </a:p>
        </p:txBody>
      </p:sp>
      <p:sp>
        <p:nvSpPr>
          <p:cNvPr id="4" name="TextBox 3"/>
          <p:cNvSpPr txBox="1"/>
          <p:nvPr/>
        </p:nvSpPr>
        <p:spPr>
          <a:xfrm>
            <a:off x="6248400" y="5181600"/>
            <a:ext cx="2514600" cy="369332"/>
          </a:xfrm>
          <a:prstGeom prst="rect">
            <a:avLst/>
          </a:prstGeom>
        </p:spPr>
        <p:style>
          <a:lnRef idx="2">
            <a:schemeClr val="accent4"/>
          </a:lnRef>
          <a:fillRef idx="1">
            <a:schemeClr val="lt1"/>
          </a:fillRef>
          <a:effectRef idx="0">
            <a:schemeClr val="accent4"/>
          </a:effectRef>
          <a:fontRef idx="minor">
            <a:schemeClr val="dk1"/>
          </a:fontRef>
        </p:style>
        <p:txBody>
          <a:bodyPr wrap="square" rtlCol="0">
            <a:spAutoFit/>
          </a:bodyPr>
          <a:lstStyle/>
          <a:p>
            <a:r>
              <a:rPr lang="en-GB" dirty="0"/>
              <a:t>Don’t use global variable</a:t>
            </a:r>
          </a:p>
        </p:txBody>
      </p:sp>
    </p:spTree>
    <p:extLst>
      <p:ext uri="{BB962C8B-B14F-4D97-AF65-F5344CB8AC3E}">
        <p14:creationId xmlns:p14="http://schemas.microsoft.com/office/powerpoint/2010/main" val="3313969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Example – UI Satellite System</a:t>
            </a:r>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86000"/>
            <a:ext cx="6104211"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400644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925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GUI – basic code structure</a:t>
            </a:r>
            <a:endParaRPr lang="en-US" dirty="0"/>
          </a:p>
        </p:txBody>
      </p:sp>
      <p:sp>
        <p:nvSpPr>
          <p:cNvPr id="4" name="Rounded Rectangle 3"/>
          <p:cNvSpPr/>
          <p:nvPr/>
        </p:nvSpPr>
        <p:spPr>
          <a:xfrm>
            <a:off x="1432560" y="1905000"/>
            <a:ext cx="6492240" cy="4724400"/>
          </a:xfrm>
          <a:prstGeom prst="roundRect">
            <a:avLst>
              <a:gd name="adj" fmla="val 4778"/>
            </a:avLst>
          </a:prstGeom>
        </p:spPr>
        <p:style>
          <a:lnRef idx="1">
            <a:schemeClr val="accent2"/>
          </a:lnRef>
          <a:fillRef idx="2">
            <a:schemeClr val="accent2"/>
          </a:fillRef>
          <a:effectRef idx="1">
            <a:schemeClr val="accent2"/>
          </a:effectRef>
          <a:fontRef idx="minor">
            <a:schemeClr val="dk1"/>
          </a:fontRef>
        </p:style>
        <p:txBody>
          <a:bodyPr rtlCol="0" anchor="ctr"/>
          <a:lstStyle/>
          <a:p>
            <a:r>
              <a:rPr lang="en-GB" sz="2000" dirty="0"/>
              <a:t>import </a:t>
            </a:r>
            <a:r>
              <a:rPr lang="en-GB" sz="2000" dirty="0" err="1"/>
              <a:t>maya.cmds</a:t>
            </a:r>
            <a:r>
              <a:rPr lang="en-GB" sz="2000" dirty="0"/>
              <a:t> as </a:t>
            </a:r>
            <a:r>
              <a:rPr lang="en-GB" sz="2000" dirty="0" err="1"/>
              <a:t>cmds</a:t>
            </a:r>
            <a:endParaRPr lang="en-GB" sz="2000" dirty="0"/>
          </a:p>
          <a:p>
            <a:endParaRPr lang="en-GB" sz="2000" dirty="0"/>
          </a:p>
          <a:p>
            <a:r>
              <a:rPr lang="en-GB" sz="2000" dirty="0" err="1"/>
              <a:t>def</a:t>
            </a:r>
            <a:r>
              <a:rPr lang="en-GB" sz="2000" dirty="0"/>
              <a:t> </a:t>
            </a:r>
            <a:r>
              <a:rPr lang="en-GB" sz="2000" dirty="0" err="1"/>
              <a:t>createUI</a:t>
            </a:r>
            <a:r>
              <a:rPr lang="en-GB" sz="2000" dirty="0"/>
              <a:t> ( ):</a:t>
            </a:r>
          </a:p>
          <a:p>
            <a:endParaRPr lang="en-GB" sz="2000" dirty="0"/>
          </a:p>
          <a:p>
            <a:r>
              <a:rPr lang="en-GB" sz="2000" dirty="0" err="1"/>
              <a:t>def</a:t>
            </a:r>
            <a:r>
              <a:rPr lang="en-GB" sz="2000" dirty="0"/>
              <a:t> </a:t>
            </a:r>
            <a:r>
              <a:rPr lang="en-GB" sz="2000" dirty="0" err="1"/>
              <a:t>actionCallback</a:t>
            </a:r>
            <a:r>
              <a:rPr lang="en-GB" sz="2000" dirty="0"/>
              <a:t>( … ):</a:t>
            </a:r>
          </a:p>
          <a:p>
            <a:r>
              <a:rPr lang="en-GB" sz="2000" dirty="0"/>
              <a:t>      </a:t>
            </a:r>
            <a:r>
              <a:rPr lang="en-GB" sz="2000" dirty="0" err="1"/>
              <a:t>createCity</a:t>
            </a:r>
            <a:r>
              <a:rPr lang="en-GB" sz="2000" dirty="0"/>
              <a:t>(…)</a:t>
            </a:r>
          </a:p>
          <a:p>
            <a:endParaRPr lang="en-GB" sz="2000" dirty="0"/>
          </a:p>
          <a:p>
            <a:r>
              <a:rPr lang="en-GB" sz="2000" dirty="0" err="1"/>
              <a:t>def</a:t>
            </a:r>
            <a:r>
              <a:rPr lang="en-GB" sz="2000" dirty="0"/>
              <a:t> </a:t>
            </a:r>
            <a:r>
              <a:rPr lang="en-GB" sz="2000" dirty="0" err="1"/>
              <a:t>createCity</a:t>
            </a:r>
            <a:r>
              <a:rPr lang="en-GB" sz="2000" dirty="0"/>
              <a:t>(width, depth, </a:t>
            </a:r>
            <a:r>
              <a:rPr lang="en-GB" sz="2000" dirty="0" err="1"/>
              <a:t>numBlocks</a:t>
            </a:r>
            <a:r>
              <a:rPr lang="en-GB" sz="2000" dirty="0"/>
              <a:t>, </a:t>
            </a:r>
            <a:r>
              <a:rPr lang="en-GB" sz="2000" dirty="0" err="1"/>
              <a:t>numBuilding</a:t>
            </a:r>
            <a:r>
              <a:rPr lang="en-GB" sz="2000" dirty="0"/>
              <a:t>):</a:t>
            </a:r>
          </a:p>
          <a:p>
            <a:r>
              <a:rPr lang="en-GB" sz="2000" dirty="0"/>
              <a:t>      print width, depth, </a:t>
            </a:r>
            <a:r>
              <a:rPr lang="en-GB" sz="2000" dirty="0" err="1"/>
              <a:t>numBlocks</a:t>
            </a:r>
            <a:r>
              <a:rPr lang="en-GB" sz="2000" dirty="0"/>
              <a:t>, </a:t>
            </a:r>
            <a:r>
              <a:rPr lang="en-GB" sz="2000" dirty="0" err="1"/>
              <a:t>numBuilding</a:t>
            </a:r>
            <a:endParaRPr lang="en-GB" sz="2000" dirty="0"/>
          </a:p>
          <a:p>
            <a:endParaRPr lang="en-GB" sz="2000" dirty="0"/>
          </a:p>
          <a:p>
            <a:endParaRPr lang="en-GB" sz="2000" dirty="0"/>
          </a:p>
          <a:p>
            <a:r>
              <a:rPr lang="en-GB" sz="1600" dirty="0"/>
              <a:t># main program start from here ....</a:t>
            </a:r>
          </a:p>
          <a:p>
            <a:r>
              <a:rPr lang="en-GB" sz="1600" dirty="0"/>
              <a:t># main program </a:t>
            </a:r>
          </a:p>
          <a:p>
            <a:r>
              <a:rPr lang="en-GB" sz="1600" dirty="0"/>
              <a:t>if __name__ == "__main__":</a:t>
            </a:r>
          </a:p>
          <a:p>
            <a:r>
              <a:rPr lang="en-GB" sz="2000" dirty="0"/>
              <a:t>      </a:t>
            </a:r>
            <a:r>
              <a:rPr lang="en-GB" sz="2000" dirty="0" err="1"/>
              <a:t>createUI</a:t>
            </a:r>
            <a:r>
              <a:rPr lang="en-GB" sz="2000" dirty="0"/>
              <a:t>( )</a:t>
            </a:r>
          </a:p>
        </p:txBody>
      </p:sp>
      <p:sp>
        <p:nvSpPr>
          <p:cNvPr id="2" name="Rectangle 1"/>
          <p:cNvSpPr/>
          <p:nvPr/>
        </p:nvSpPr>
        <p:spPr>
          <a:xfrm>
            <a:off x="1524000" y="2590800"/>
            <a:ext cx="4419600" cy="4572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1524000" y="4191000"/>
            <a:ext cx="5791200" cy="685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p:cNvSpPr/>
          <p:nvPr/>
        </p:nvSpPr>
        <p:spPr>
          <a:xfrm>
            <a:off x="1524000" y="5410200"/>
            <a:ext cx="3048000" cy="1066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1524000" y="3276600"/>
            <a:ext cx="4419600" cy="685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52128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a:t>
            </a:r>
            <a:endParaRPr lang="en-US" dirty="0"/>
          </a:p>
        </p:txBody>
      </p:sp>
      <p:pic>
        <p:nvPicPr>
          <p:cNvPr id="9" name="Picture 8" descr="Graphical user interface&#10;&#10;Description automatically generated">
            <a:extLst>
              <a:ext uri="{FF2B5EF4-FFF2-40B4-BE49-F238E27FC236}">
                <a16:creationId xmlns:a16="http://schemas.microsoft.com/office/drawing/2014/main" id="{A67F602A-CACF-4D7E-9036-7EBDA1CA5E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348" y="2362200"/>
            <a:ext cx="7983064" cy="2905530"/>
          </a:xfrm>
          <a:prstGeom prst="rect">
            <a:avLst/>
          </a:prstGeom>
        </p:spPr>
      </p:pic>
    </p:spTree>
    <p:extLst>
      <p:ext uri="{BB962C8B-B14F-4D97-AF65-F5344CB8AC3E}">
        <p14:creationId xmlns:p14="http://schemas.microsoft.com/office/powerpoint/2010/main" val="324375624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fontScale="85000" lnSpcReduction="10000"/>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Exercise – Interface for your project</a:t>
            </a:r>
            <a:endParaRPr lang="en-US" dirty="0"/>
          </a:p>
        </p:txBody>
      </p:sp>
      <p:pic>
        <p:nvPicPr>
          <p:cNvPr id="4" name="Picture 3" descr="H:\My Pictures\GUI.PNG"/>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981200"/>
            <a:ext cx="2638425" cy="3378200"/>
          </a:xfrm>
          <a:prstGeom prst="rect">
            <a:avLst/>
          </a:prstGeom>
          <a:noFill/>
          <a:ln>
            <a:noFill/>
          </a:ln>
        </p:spPr>
      </p:pic>
      <p:grpSp>
        <p:nvGrpSpPr>
          <p:cNvPr id="2" name="Group 1"/>
          <p:cNvGrpSpPr/>
          <p:nvPr/>
        </p:nvGrpSpPr>
        <p:grpSpPr>
          <a:xfrm>
            <a:off x="4422531" y="1981200"/>
            <a:ext cx="2352175" cy="3276600"/>
            <a:chOff x="4422531" y="1981200"/>
            <a:chExt cx="2352175" cy="3276600"/>
          </a:xfrm>
        </p:grpSpPr>
        <p:pic>
          <p:nvPicPr>
            <p:cNvPr id="5" name="Picture 4"/>
            <p:cNvPicPr/>
            <p:nvPr/>
          </p:nvPicPr>
          <p:blipFill rotWithShape="1">
            <a:blip r:embed="rId3">
              <a:extLst>
                <a:ext uri="{28A0092B-C50C-407E-A947-70E740481C1C}">
                  <a14:useLocalDpi xmlns:a14="http://schemas.microsoft.com/office/drawing/2010/main" val="0"/>
                </a:ext>
              </a:extLst>
            </a:blip>
            <a:srcRect l="2737" t="11813" r="3183"/>
            <a:stretch/>
          </p:blipFill>
          <p:spPr>
            <a:xfrm>
              <a:off x="4422532" y="4086225"/>
              <a:ext cx="2352174" cy="1171575"/>
            </a:xfrm>
            <a:prstGeom prst="rect">
              <a:avLst/>
            </a:prstGeom>
          </p:spPr>
        </p:pic>
        <p:pic>
          <p:nvPicPr>
            <p:cNvPr id="3074"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422531" y="1981200"/>
              <a:ext cx="2352174" cy="2105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Tree>
    <p:extLst>
      <p:ext uri="{BB962C8B-B14F-4D97-AF65-F5344CB8AC3E}">
        <p14:creationId xmlns:p14="http://schemas.microsoft.com/office/powerpoint/2010/main" val="187353149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txBox="1">
            <a:spLocks/>
          </p:cNvSpPr>
          <p:nvPr/>
        </p:nvSpPr>
        <p:spPr>
          <a:xfrm>
            <a:off x="1432560" y="1066800"/>
            <a:ext cx="7406640" cy="765282"/>
          </a:xfrm>
          <a:prstGeom prst="rect">
            <a:avLst/>
          </a:prstGeom>
        </p:spPr>
        <p:txBody>
          <a:bodyPr anchor="b">
            <a:normAutofit/>
          </a:bodyPr>
          <a:lstStyle>
            <a:lvl1pPr algn="l" rtl="0" eaLnBrk="1" latinLnBrk="0" hangingPunct="1">
              <a:spcBef>
                <a:spcPct val="0"/>
              </a:spcBef>
              <a:buNone/>
              <a:defRPr kumimoji="0" sz="4300" kern="1200">
                <a:solidFill>
                  <a:schemeClr val="tx2">
                    <a:satMod val="130000"/>
                  </a:schemeClr>
                </a:solidFill>
                <a:effectLst>
                  <a:outerShdw blurRad="50000" dist="30000" dir="5400000" algn="tl" rotWithShape="0">
                    <a:srgbClr val="000000">
                      <a:alpha val="30000"/>
                    </a:srgbClr>
                  </a:outerShdw>
                </a:effectLst>
                <a:latin typeface="+mj-lt"/>
                <a:ea typeface="+mj-ea"/>
                <a:cs typeface="+mj-cs"/>
              </a:defRPr>
            </a:lvl1pPr>
            <a:extLst/>
          </a:lstStyle>
          <a:p>
            <a:r>
              <a:rPr lang="en-GB" dirty="0"/>
              <a:t>Maya Python GUI Exercise</a:t>
            </a:r>
            <a:endParaRPr lang="en-US" dirty="0"/>
          </a:p>
        </p:txBody>
      </p:sp>
      <p:sp>
        <p:nvSpPr>
          <p:cNvPr id="7" name="Rectangle 6"/>
          <p:cNvSpPr/>
          <p:nvPr/>
        </p:nvSpPr>
        <p:spPr>
          <a:xfrm>
            <a:off x="1524000" y="1981200"/>
            <a:ext cx="7315200" cy="3716658"/>
          </a:xfrm>
          <a:prstGeom prst="rect">
            <a:avLst/>
          </a:prstGeom>
        </p:spPr>
        <p:txBody>
          <a:bodyPr wrap="square">
            <a:spAutoFit/>
          </a:bodyPr>
          <a:lstStyle/>
          <a:p>
            <a:pPr>
              <a:lnSpc>
                <a:spcPct val="200000"/>
              </a:lnSpc>
              <a:spcBef>
                <a:spcPts val="600"/>
              </a:spcBef>
            </a:pPr>
            <a:r>
              <a:rPr lang="en-GB" b="1" dirty="0"/>
              <a:t>Finish the design of the GUI for your project</a:t>
            </a:r>
            <a:endParaRPr lang="en-GB" dirty="0"/>
          </a:p>
          <a:p>
            <a:pPr>
              <a:lnSpc>
                <a:spcPct val="200000"/>
              </a:lnSpc>
              <a:spcBef>
                <a:spcPts val="600"/>
              </a:spcBef>
            </a:pPr>
            <a:r>
              <a:rPr lang="en-GB"/>
              <a:t>Each </a:t>
            </a:r>
            <a:r>
              <a:rPr lang="en-GB" dirty="0"/>
              <a:t>group submit your design (word doc) before the lecture on the next day</a:t>
            </a:r>
          </a:p>
          <a:p>
            <a:pPr marL="285750" indent="-285750">
              <a:lnSpc>
                <a:spcPct val="200000"/>
              </a:lnSpc>
              <a:spcBef>
                <a:spcPts val="600"/>
              </a:spcBef>
              <a:buFont typeface="Arial" panose="020B0604020202020204" pitchFamily="34" charset="0"/>
              <a:buChar char="•"/>
            </a:pPr>
            <a:r>
              <a:rPr lang="en-GB" dirty="0"/>
              <a:t>Visual Design - Draw/sketch your UI</a:t>
            </a:r>
          </a:p>
          <a:p>
            <a:pPr marL="285750" indent="-285750">
              <a:lnSpc>
                <a:spcPct val="200000"/>
              </a:lnSpc>
              <a:spcBef>
                <a:spcPts val="600"/>
              </a:spcBef>
              <a:buFont typeface="Arial" panose="020B0604020202020204" pitchFamily="34" charset="0"/>
              <a:buChar char="•"/>
            </a:pPr>
            <a:r>
              <a:rPr lang="en-GB" dirty="0"/>
              <a:t>Hierarchy of layouts and controls</a:t>
            </a:r>
          </a:p>
          <a:p>
            <a:pPr marL="285750" indent="-285750">
              <a:lnSpc>
                <a:spcPct val="200000"/>
              </a:lnSpc>
              <a:spcBef>
                <a:spcPts val="600"/>
              </a:spcBef>
              <a:buFont typeface="Arial" panose="020B0604020202020204" pitchFamily="34" charset="0"/>
              <a:buChar char="•"/>
            </a:pPr>
            <a:r>
              <a:rPr lang="en-GB" dirty="0"/>
              <a:t>Key callback functions</a:t>
            </a:r>
          </a:p>
          <a:p>
            <a:pPr marL="285750" indent="-285750">
              <a:lnSpc>
                <a:spcPct val="200000"/>
              </a:lnSpc>
              <a:spcBef>
                <a:spcPts val="600"/>
              </a:spcBef>
              <a:buFont typeface="Arial" panose="020B0604020202020204" pitchFamily="34" charset="0"/>
              <a:buChar char="•"/>
            </a:pPr>
            <a:endParaRPr lang="en-GB" dirty="0"/>
          </a:p>
        </p:txBody>
      </p:sp>
      <p:pic>
        <p:nvPicPr>
          <p:cNvPr id="3" name="Picture 2">
            <a:extLst>
              <a:ext uri="{FF2B5EF4-FFF2-40B4-BE49-F238E27FC236}">
                <a16:creationId xmlns:a16="http://schemas.microsoft.com/office/drawing/2014/main" id="{8A5BFCA9-6345-9A3C-4838-9248632ABA48}"/>
              </a:ext>
            </a:extLst>
          </p:cNvPr>
          <p:cNvPicPr/>
          <p:nvPr/>
        </p:nvPicPr>
        <p:blipFill rotWithShape="1">
          <a:blip r:embed="rId3">
            <a:extLst>
              <a:ext uri="{28A0092B-C50C-407E-A947-70E740481C1C}">
                <a14:useLocalDpi xmlns:a14="http://schemas.microsoft.com/office/drawing/2010/main" val="0"/>
              </a:ext>
            </a:extLst>
          </a:blip>
          <a:srcRect l="2737" t="11813" r="3183"/>
          <a:stretch/>
        </p:blipFill>
        <p:spPr>
          <a:xfrm>
            <a:off x="6096000" y="3895342"/>
            <a:ext cx="2352174" cy="1171575"/>
          </a:xfrm>
          <a:prstGeom prst="rect">
            <a:avLst/>
          </a:prstGeom>
        </p:spPr>
      </p:pic>
      <p:sp>
        <p:nvSpPr>
          <p:cNvPr id="8" name="TextBox 7">
            <a:extLst>
              <a:ext uri="{FF2B5EF4-FFF2-40B4-BE49-F238E27FC236}">
                <a16:creationId xmlns:a16="http://schemas.microsoft.com/office/drawing/2014/main" id="{7A8C7B3D-2401-A9B3-DB90-D98B147DFC8E}"/>
              </a:ext>
            </a:extLst>
          </p:cNvPr>
          <p:cNvSpPr txBox="1"/>
          <p:nvPr/>
        </p:nvSpPr>
        <p:spPr>
          <a:xfrm>
            <a:off x="6934200" y="5104316"/>
            <a:ext cx="1742574" cy="1600438"/>
          </a:xfrm>
          <a:prstGeom prst="rect">
            <a:avLst/>
          </a:prstGeom>
          <a:noFill/>
        </p:spPr>
        <p:txBody>
          <a:bodyPr wrap="square">
            <a:spAutoFit/>
          </a:bodyPr>
          <a:lstStyle/>
          <a:p>
            <a:r>
              <a:rPr lang="en-GB" sz="1400" b="1" dirty="0">
                <a:solidFill>
                  <a:srgbClr val="0070C0"/>
                </a:solidFill>
              </a:rPr>
              <a:t>Windows</a:t>
            </a:r>
          </a:p>
          <a:p>
            <a:r>
              <a:rPr lang="en-GB" sz="1400" dirty="0"/>
              <a:t>    </a:t>
            </a:r>
            <a:r>
              <a:rPr lang="en-GB" sz="1400" b="1" dirty="0" err="1">
                <a:solidFill>
                  <a:srgbClr val="FF0000"/>
                </a:solidFill>
              </a:rPr>
              <a:t>formLayout</a:t>
            </a:r>
            <a:endParaRPr lang="en-GB" sz="1400" b="1" dirty="0">
              <a:solidFill>
                <a:srgbClr val="FF0000"/>
              </a:solidFill>
            </a:endParaRPr>
          </a:p>
          <a:p>
            <a:r>
              <a:rPr lang="en-GB" sz="1400" dirty="0"/>
              <a:t>          </a:t>
            </a:r>
            <a:r>
              <a:rPr lang="en-GB" sz="1400" dirty="0">
                <a:solidFill>
                  <a:schemeClr val="accent2">
                    <a:lumMod val="75000"/>
                  </a:schemeClr>
                </a:solidFill>
              </a:rPr>
              <a:t>button1</a:t>
            </a:r>
          </a:p>
          <a:p>
            <a:r>
              <a:rPr lang="en-GB" sz="1400" dirty="0">
                <a:solidFill>
                  <a:schemeClr val="accent2">
                    <a:lumMod val="75000"/>
                  </a:schemeClr>
                </a:solidFill>
              </a:rPr>
              <a:t>          button2</a:t>
            </a:r>
          </a:p>
          <a:p>
            <a:r>
              <a:rPr lang="en-GB" sz="1400" dirty="0"/>
              <a:t>    </a:t>
            </a:r>
            <a:r>
              <a:rPr lang="en-GB" sz="1400" b="1" dirty="0" err="1">
                <a:solidFill>
                  <a:srgbClr val="FF0000"/>
                </a:solidFill>
              </a:rPr>
              <a:t>intField</a:t>
            </a:r>
            <a:endParaRPr lang="en-GB" sz="1400" b="1" dirty="0">
              <a:solidFill>
                <a:srgbClr val="FF0000"/>
              </a:solidFill>
            </a:endParaRPr>
          </a:p>
          <a:p>
            <a:r>
              <a:rPr lang="en-GB" sz="1400" dirty="0"/>
              <a:t>    </a:t>
            </a:r>
            <a:r>
              <a:rPr lang="en-GB" sz="1400" b="1" dirty="0" err="1">
                <a:solidFill>
                  <a:srgbClr val="FF0000"/>
                </a:solidFill>
              </a:rPr>
              <a:t>frameLayout</a:t>
            </a:r>
            <a:endParaRPr lang="en-GB" sz="1400" b="1" dirty="0">
              <a:solidFill>
                <a:srgbClr val="FF0000"/>
              </a:solidFill>
            </a:endParaRPr>
          </a:p>
          <a:p>
            <a:r>
              <a:rPr lang="en-GB" sz="1400" dirty="0"/>
              <a:t>          picture</a:t>
            </a:r>
          </a:p>
        </p:txBody>
      </p:sp>
    </p:spTree>
    <p:extLst>
      <p:ext uri="{BB962C8B-B14F-4D97-AF65-F5344CB8AC3E}">
        <p14:creationId xmlns:p14="http://schemas.microsoft.com/office/powerpoint/2010/main" val="23120815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olstice">
  <a:themeElements>
    <a:clrScheme name="Solstice">
      <a:dk1>
        <a:sysClr val="windowText" lastClr="000000"/>
      </a:dk1>
      <a:lt1>
        <a:sysClr val="window" lastClr="FFFFFF"/>
      </a:lt1>
      <a:dk2>
        <a:srgbClr val="4F271C"/>
      </a:dk2>
      <a:lt2>
        <a:srgbClr val="E7DEC9"/>
      </a:lt2>
      <a:accent1>
        <a:srgbClr val="3891A7"/>
      </a:accent1>
      <a:accent2>
        <a:srgbClr val="FEB80A"/>
      </a:accent2>
      <a:accent3>
        <a:srgbClr val="C32D2E"/>
      </a:accent3>
      <a:accent4>
        <a:srgbClr val="84AA33"/>
      </a:accent4>
      <a:accent5>
        <a:srgbClr val="964305"/>
      </a:accent5>
      <a:accent6>
        <a:srgbClr val="475A8D"/>
      </a:accent6>
      <a:hlink>
        <a:srgbClr val="8DC765"/>
      </a:hlink>
      <a:folHlink>
        <a:srgbClr val="AA8A14"/>
      </a:folHlink>
    </a:clrScheme>
    <a:fontScheme name="Custom 3">
      <a:majorFont>
        <a:latin typeface="Times New Roman"/>
        <a:ea typeface=""/>
        <a:cs typeface=""/>
      </a:majorFont>
      <a:minorFont>
        <a:latin typeface="Times New Roman"/>
        <a:ea typeface=""/>
        <a:cs typeface=""/>
      </a:minorFont>
    </a:fontScheme>
    <a:fmtScheme name="Solstice">
      <a:fillStyleLst>
        <a:solidFill>
          <a:schemeClr val="phClr"/>
        </a:solidFill>
        <a:gradFill rotWithShape="1">
          <a:gsLst>
            <a:gs pos="0">
              <a:schemeClr val="phClr">
                <a:tint val="35000"/>
                <a:satMod val="253000"/>
              </a:schemeClr>
            </a:gs>
            <a:gs pos="50000">
              <a:schemeClr val="phClr">
                <a:tint val="42000"/>
                <a:satMod val="255000"/>
              </a:schemeClr>
            </a:gs>
            <a:gs pos="97000">
              <a:schemeClr val="phClr">
                <a:tint val="53000"/>
                <a:satMod val="260000"/>
              </a:schemeClr>
            </a:gs>
            <a:gs pos="100000">
              <a:schemeClr val="phClr">
                <a:tint val="56000"/>
                <a:satMod val="275000"/>
              </a:schemeClr>
            </a:gs>
          </a:gsLst>
          <a:path path="circle">
            <a:fillToRect l="50000" t="50000" r="50000" b="50000"/>
          </a:path>
        </a:gradFill>
        <a:gradFill rotWithShape="1">
          <a:gsLst>
            <a:gs pos="0">
              <a:schemeClr val="phClr">
                <a:tint val="92000"/>
                <a:satMod val="170000"/>
              </a:schemeClr>
            </a:gs>
            <a:gs pos="15000">
              <a:schemeClr val="phClr">
                <a:tint val="92000"/>
                <a:shade val="99000"/>
                <a:satMod val="170000"/>
              </a:schemeClr>
            </a:gs>
            <a:gs pos="62000">
              <a:schemeClr val="phClr">
                <a:tint val="96000"/>
                <a:shade val="80000"/>
                <a:satMod val="170000"/>
              </a:schemeClr>
            </a:gs>
            <a:gs pos="97000">
              <a:schemeClr val="phClr">
                <a:tint val="98000"/>
                <a:shade val="63000"/>
                <a:satMod val="170000"/>
              </a:schemeClr>
            </a:gs>
            <a:gs pos="100000">
              <a:schemeClr val="phClr">
                <a:shade val="62000"/>
                <a:satMod val="170000"/>
              </a:schemeClr>
            </a:gs>
          </a:gsLst>
          <a:path path="circle">
            <a:fillToRect l="50000" t="50000" r="50000" b="50000"/>
          </a:path>
        </a:gradFill>
      </a:fillStyleLst>
      <a:lnStyleLst>
        <a:ln w="9525" cap="flat" cmpd="sng" algn="ctr">
          <a:solidFill>
            <a:schemeClr val="ph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5400000" rotWithShape="0">
              <a:srgbClr val="000000">
                <a:alpha val="43137"/>
              </a:srgbClr>
            </a:outerShdw>
          </a:effectLst>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8700000"/>
            </a:lightRig>
          </a:scene3d>
          <a:sp3d contourW="12700">
            <a:bevelT w="0" h="0"/>
            <a:contourClr>
              <a:schemeClr val="phClr">
                <a:shade val="80000"/>
              </a:schemeClr>
            </a:contourClr>
          </a:sp3d>
        </a:effectStyle>
        <a:effectStyle>
          <a:effectLst>
            <a:outerShdw blurRad="63500" dist="25400" dir="5400000" rotWithShape="0">
              <a:srgbClr val="000000">
                <a:alpha val="43137"/>
              </a:srgbClr>
            </a:outerShdw>
          </a:effectLst>
          <a:scene3d>
            <a:camera prst="orthographicFront" fov="0">
              <a:rot lat="0" lon="0" rev="0"/>
            </a:camera>
            <a:lightRig rig="brightRoom" dir="tl">
              <a:rot lat="0" lon="0" rev="5400000"/>
            </a:lightRig>
          </a:scene3d>
          <a:sp3d contourW="12700">
            <a:bevelT w="25400" h="50800" prst="angle"/>
            <a:contourClr>
              <a:schemeClr val="phClr"/>
            </a:contourClr>
          </a:sp3d>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Solstice</Template>
  <TotalTime>3538</TotalTime>
  <Words>2331</Words>
  <Application>Microsoft Office PowerPoint</Application>
  <PresentationFormat>On-screen Show (4:3)</PresentationFormat>
  <Paragraphs>318</Paragraphs>
  <Slides>30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30</vt:i4>
      </vt:variant>
    </vt:vector>
  </HeadingPairs>
  <TitlesOfParts>
    <vt:vector size="37" baseType="lpstr">
      <vt:lpstr>Arial Unicode MS</vt:lpstr>
      <vt:lpstr>Arial</vt:lpstr>
      <vt:lpstr>Calibri</vt:lpstr>
      <vt:lpstr>Times New Roman</vt:lpstr>
      <vt:lpstr>Verdana</vt:lpstr>
      <vt:lpstr>Wingdings 2</vt:lpstr>
      <vt:lpstr>Solstice</vt:lpstr>
      <vt:lpstr>Maya Python GUI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Functions</dc:title>
  <dc:creator>sam</dc:creator>
  <cp:lastModifiedBy>Xiaosong Yang</cp:lastModifiedBy>
  <cp:revision>451</cp:revision>
  <dcterms:created xsi:type="dcterms:W3CDTF">2006-08-16T00:00:00Z</dcterms:created>
  <dcterms:modified xsi:type="dcterms:W3CDTF">2026-07-21T05:31:55Z</dcterms:modified>
</cp:coreProperties>
</file>