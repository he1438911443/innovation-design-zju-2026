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hero_di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898648" y="-91440"/>
            <a:ext cx="6400800" cy="6400800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PROCEDURAL  ·  MAYA PYTHON  ·  2026</a:t>
            </a:r>
            <a:endParaRPr sz="13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F0F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 CAVERN</a:t>
            </a:r>
            <a:endParaRPr sz="6000" b="1">
              <a:solidFill>
                <a:srgbClr val="F0F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4DE4FF"/>
                </a:solidFill>
                <a:latin typeface="微软雅黑"/>
                <a:ea typeface="微软雅黑"/>
                <a:cs typeface="微软雅黑"/>
              </a:rPr>
              <a:t>Python-Driven Maya Procedural Crystal Cave Generator</a:t>
            </a:r>
            <a:endParaRPr sz="2200" b="0">
              <a:solidFill>
                <a:srgbClr val="4DE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937760" y="4343400"/>
            <a:ext cx="2313432" cy="0"/>
          </a:xfrm>
          <a:prstGeom prst="line">
            <a:avLst/>
          </a:prstGeom>
          <a:ln w="190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4480560"/>
            <a:ext cx="1219169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Innovation Design for Future · ZJU 2026 · Prof. Xiaosong Yang</a:t>
            </a:r>
            <a:endParaRPr sz="15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lang="en-US" sz="15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He Xiangrong 3230104205</a:t>
            </a:r>
            <a:endParaRPr lang="en-US" sz="15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· PROJECT OVERVIEW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Project Overview — From Reference to Procedural Generation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72600" y="32893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v1→v2→v3 Iteration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66,049</a:t>
            </a:r>
            <a:endParaRPr sz="38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 terrain vertices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56</a:t>
            </a:r>
            <a:endParaRPr sz="38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0" y="26791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 hexagonal prism crystals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960</a:t>
            </a:r>
            <a:endParaRPr sz="38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0" y="35935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-frame fly-through animation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One click → Maya auto-generates complete cave: terrain, crystals, lighting, camera — zero manual modeling.</a:t>
            </a:r>
            <a:endParaRPr sz="13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715000"/>
            <a:ext cx="11091672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75488" y="5641848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7/19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v1 Prototype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021324" y="5641848"/>
            <a:ext cx="146304" cy="146304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5836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7/20</a:t>
            </a:r>
            <a:endParaRPr sz="11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45836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v2 Pipeline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567160" y="5641848"/>
            <a:ext cx="146304" cy="146304"/>
          </a:xfrm>
          <a:prstGeom prst="ellipse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91672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7/21</a:t>
            </a:r>
            <a:endParaRPr sz="11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91672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v3 Production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 days from algorithm prototype to complete deliverable. 4 core modules each underwent 2–3 rounds of iterative evolution.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3" name="图片 32" descr="gui_v3_crysta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6560" y="1662430"/>
            <a:ext cx="2255520" cy="3486785"/>
          </a:xfrm>
          <a:prstGeom prst="rect">
            <a:avLst/>
          </a:prstGeom>
        </p:spPr>
      </p:pic>
      <p:pic>
        <p:nvPicPr>
          <p:cNvPr id="35" name="图片 34" descr="0cf7cc1349abe3d1248e12b04438b58c~tplv-a9rns2rl98-pc_smart_face_crop-v1_512_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1663700"/>
            <a:ext cx="357251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· REFERENCE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665"/>
            <a:ext cx="1143889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Real-World Reference — Naica Crystal Cave vs Algorithm Target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Reference · Naica Crystal Cave, Mexico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725360"/>
            <a:ext cx="2767200" cy="20814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274320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17000" y="1725360"/>
            <a:ext cx="2767200" cy="20814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37360"/>
            <a:ext cx="274320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886200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From Real-World Reference to Algorithm Target</a:t>
            </a:r>
            <a:endParaRPr sz="12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78980" y="4194240"/>
            <a:ext cx="3762880" cy="2127120"/>
          </a:xfrm>
          <a:prstGeom prst="rect">
            <a:avLst/>
          </a:prstGeom>
          <a:solidFill>
            <a:srgbClr val="0A0E1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nold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" y="4206240"/>
            <a:ext cx="373888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Our Target · Procedural Generation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80240" y="1839660"/>
            <a:ext cx="5144640" cy="2904360"/>
          </a:xfrm>
          <a:prstGeom prst="rect">
            <a:avLst/>
          </a:prstGeom>
          <a:solidFill>
            <a:srgbClr val="0A0E1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51660"/>
            <a:ext cx="5120640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75120" y="5029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5029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Crystal cluster growth · Multi-color glow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53766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9440" y="5376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Subsurface scattering · Dark cave atmosphere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5724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57241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Volumetric light beams · 10 gem material types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60807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Real crystals up to 12m — reproducing their geometry and lighting with algorithms</a:t>
            </a:r>
            <a:endParaRPr sz="10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4340225"/>
            <a:ext cx="3771900" cy="1854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· ALGORITHM INNOVATION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665"/>
            <a:ext cx="117983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Algorithm Innovation — 3D Application of Four Classic Algorithms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508760"/>
            <a:ext cx="18288" cy="941832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Fournier, Fussell &amp; Carpenter · 1982</a:t>
            </a:r>
            <a:endParaRPr sz="1050" b="0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15727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66,049-vertex terrain · Cave shaping (radial power + sine perturbation)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01305" y="1774190"/>
            <a:ext cx="4173855" cy="31115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v1→v3 — algorithm unchanged; v3 adds OpenMya2 batch vertex write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87752"/>
            <a:ext cx="18288" cy="941832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560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Poisson-disc Sampling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9077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Bridson · 2007</a:t>
            </a:r>
            <a:endParaRPr sz="1050" b="0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0480" y="26517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Crystal seed distribution · Natural spacing without clumping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81620" y="2853055"/>
            <a:ext cx="4043680" cy="31115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❌ Fake Bridson → v3 ✅ True Bridson + spatial hash</a:t>
            </a:r>
            <a:endParaRPr sz="10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666744"/>
            <a:ext cx="18288" cy="941832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63931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L-System Branching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9867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Prusinkiewicz &amp; Lindenmayer · 1990</a:t>
            </a:r>
            <a:endParaRPr sz="1050" b="0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0" y="373075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3D spherical-coordinate branching · Self-similar crystal cluster morphology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04150" y="3931920"/>
            <a:ext cx="4271645" cy="31115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None → v2 Single-layer → v3 Recursive rewrite + hexagonal system</a:t>
            </a:r>
            <a:endParaRPr sz="100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745736"/>
            <a:ext cx="18288" cy="941832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1830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Subsurface Scattering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Jensen et al. · 2001</a:t>
            </a:r>
            <a:endParaRPr sz="1050" b="0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40480" y="480974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Arnold BSSRDF · Light emerges from inside crystals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95360" y="5010912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clarification: BSSRDF ≠ accent point lights</a:t>
            </a:r>
            <a:endParaRPr sz="10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· PIPELINE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Five-Stage Fully Automated Generation Pipeline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v1→v3 Evolution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749808" y="1572768"/>
            <a:ext cx="237744" cy="23774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4572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4572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Terrain Generation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9144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355848" y="1572768"/>
            <a:ext cx="237744" cy="237744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60273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032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</a:t>
            </a:r>
            <a:endParaRPr sz="11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Seed Distribution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460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Poisson-disc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61888" y="1572768"/>
            <a:ext cx="237744" cy="237744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20877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3</a:t>
            </a:r>
            <a:endParaRPr sz="110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6636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Crystal Growth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L-system + axis-angle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567928" y="1572768"/>
            <a:ext cx="237744" cy="237744"/>
          </a:xfrm>
          <a:prstGeom prst="ellipse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1481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4</a:t>
            </a:r>
            <a:endParaRPr sz="11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Lighting &amp; Fog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2668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3-layer lighting · Volumetric fog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173968" y="1572768"/>
            <a:ext cx="237744" cy="237744"/>
          </a:xfrm>
          <a:prstGeom prst="ellipse">
            <a:avLst/>
          </a:prstGeom>
          <a:solidFill>
            <a:srgbClr val="FF4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4D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5</a:t>
            </a:r>
            <a:endParaRPr sz="1100" b="1">
              <a:solidFill>
                <a:srgbClr val="FF4D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7844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Camera Animation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3272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960-frame fly-through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55010" y="3273425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Version iteration annotations</a:t>
            </a:r>
            <a:endParaRPr sz="11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55010" y="3639185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 7/19</a:t>
            </a:r>
            <a:endParaRPr sz="125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9489" y="3657473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Terrain only + random scattered crystals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55010" y="420611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  7/20</a:t>
            </a:r>
            <a:endParaRPr sz="125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09489" y="4224401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Hex prisms + single-layer branches + root embed + aimConstraint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55010" y="477304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 7/22</a:t>
            </a:r>
            <a:endParaRPr sz="125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09489" y="4791329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Recursive L-system + True Bridson + OpenMaya2 + axis-angle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· CODE ARCHITECTURE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Code Architecture — 7 Independent Modules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v1:6  v2:7  v3:10 modules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Full docstrings · Algorithm citations · Single responsibility · Independently testable · ~2,200 lines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48640" y="1783080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19019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cave_terrain.py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92938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Terrain · Cave enclosure · Stalactites/stalagmites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423160"/>
            <a:ext cx="18288" cy="566928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5420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crystal_seed.py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0" y="25603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Poisson-disc</a:t>
            </a:r>
            <a:endParaRPr sz="12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5694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Crystal seed distribution · Spatial hash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063240"/>
            <a:ext cx="18288" cy="566928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1821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crystal_growth.py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0" y="3200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L-System</a:t>
            </a:r>
            <a:endParaRPr sz="12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32095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Hexagonal crystals · Tips · Recursive branching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03320"/>
            <a:ext cx="18288" cy="566928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82219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cave_lighting.py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0" y="3840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Subsurface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84962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3-layer lighting · Volumetric fog · Dust · Camera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343400"/>
            <a:ext cx="18288" cy="566928"/>
          </a:xfrm>
          <a:prstGeom prst="line">
            <a:avLst/>
          </a:prstGeom>
          <a:ln w="31750">
            <a:solidFill>
              <a:srgbClr val="4CE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4622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crystal_ui.py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0" y="4480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GUI</a:t>
            </a:r>
            <a:endParaRPr sz="12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0" y="44897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4 tabs · 16 controls · One-click generation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983480"/>
            <a:ext cx="18288" cy="566928"/>
          </a:xfrm>
          <a:prstGeom prst="line">
            <a:avLst/>
          </a:prstGeom>
          <a:ln w="31750">
            <a:solidFill>
              <a:srgbClr val="FF4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1023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arnold_render.py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5120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Arnold</a:t>
            </a:r>
            <a:endParaRPr sz="12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512978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AA/Sampling/AOV/Render camera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623560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7424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batch_render.py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800" y="57607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Batch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57698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Multi-seed → Multiple .ma scenes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Consolas"/>
                <a:ea typeface="Consolas"/>
                <a:cs typeface="Consolas"/>
              </a:rPr>
              <a:t>Entry point: final_scene.py → build(seed, density, fog_density, render)</a:t>
            </a:r>
            <a:endParaRPr sz="1250" b="1">
              <a:solidFill>
                <a:srgbClr val="00D4FF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· CRYSTAL GEOMETRY  ·  CORE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665"/>
            <a:ext cx="11642725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Crystal Geometry Evolution — From Pegs to Photorealistic Crystals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9279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 7/19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Cylinder stacking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Can 9"/>
          <p:cNvSpPr/>
          <p:nvPr/>
        </p:nvSpPr>
        <p:spPr>
          <a:xfrm>
            <a:off x="1691640" y="2697480"/>
            <a:ext cx="1280160" cy="2011680"/>
          </a:xfrm>
          <a:prstGeom prst="can">
            <a:avLst/>
          </a:prstGeom>
          <a:solidFill>
            <a:srgbClr val="0A0E1A"/>
          </a:solidFill>
          <a:ln w="285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Peg-like · No branches</a:t>
            </a:r>
            <a:endParaRPr sz="1200" b="0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  7/20</a:t>
            </a:r>
            <a:endParaRPr sz="10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Hexagonal prisms + single-layer branching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5257800" y="2697480"/>
            <a:ext cx="1828800" cy="2011680"/>
          </a:xfrm>
          <a:prstGeom prst="hexagon">
            <a:avLst/>
          </a:prstGeom>
          <a:solidFill>
            <a:srgbClr val="0A0E1A"/>
          </a:solidFill>
          <a:ln w="285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Root embedding · aimConstraint</a:t>
            </a:r>
            <a:endParaRPr sz="1200" b="0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 7/22</a:t>
            </a:r>
            <a:endParaRPr sz="10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Recursive L-system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17600" y="2688337"/>
            <a:ext cx="3590160" cy="2029965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00337"/>
            <a:ext cx="3566160" cy="20059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2nd &amp; 3rd level branches · Crystal face azimuth</a:t>
            </a:r>
            <a:endParaRPr sz="1200" b="0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806440"/>
            <a:ext cx="11091672" cy="0"/>
          </a:xfrm>
          <a:prstGeom prst="line">
            <a:avLst/>
          </a:prstGeom>
          <a:ln w="952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Key innovation: Recursive L-system × 60° hexagonal azimuth bias × axis-angle shortest rotation (no aimConstraint · no gimbal lock)</a:t>
            </a:r>
            <a:endParaRPr sz="13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· MATERIAL &amp; LIGHTING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Materials &amp; Lighting — SSS Academic Rigor Clarification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Academic Clarification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46247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10 gem types · aiStandardSurface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7B2FF7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Amethyst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26464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FF4D6B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Ruby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04288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FFC14D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Citrine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82112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00D4FF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Aquamarine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059936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4CE09B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6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Fluorite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937760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8A99B8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Obsidian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Who does SSS? · Material side ≠ Light side</a:t>
            </a:r>
            <a:endParaRPr sz="14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1965960"/>
            <a:ext cx="18288" cy="2057400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Material side · Arnold BSSRDF (Jensen 2001)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75120" y="23774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True subsurface scattering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26883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subsurface / Color / Radius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29992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Coat thin-film + Transmission translucency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75120" y="33101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Light emerges from inside the crystal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4160520"/>
            <a:ext cx="18288" cy="1965960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60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Lighting side · 20 accent point lights</a:t>
            </a:r>
            <a:endParaRPr sz="13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75120" y="45720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Exterior fill light · Not SSS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0" y="48828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intensity 800–1600 · decayRate 0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0" y="51937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Color-matched to gem glow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55046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Placed at tallest crystal anchors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61264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Separate concerns — citations match code implementation</a:t>
            </a:r>
            <a:endParaRPr sz="11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" name="图片 38" descr="a6a3556f6a16cb62ef7a7b628e70c3dc~tplv-a9rns2rl98-pc_smart_face_crop-v1_512_3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2152650"/>
            <a:ext cx="3203575" cy="2402840"/>
          </a:xfrm>
          <a:prstGeom prst="rect">
            <a:avLst/>
          </a:prstGeom>
        </p:spPr>
      </p:pic>
      <p:pic>
        <p:nvPicPr>
          <p:cNvPr id="40" name="图片 39" descr="3b80ff12a708b83f91132dc8a65a690e~tplv-a9rns2rl98-pc_smart_face_crop-v1_512_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0" y="2693035"/>
            <a:ext cx="2499360" cy="1874520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536575" y="1492250"/>
            <a:ext cx="5487035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Target Visual Quality Goals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· INTERACTIVE GUI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Interactive GUI — Maya Embedded Visual Control Panel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833945"/>
            <a:ext cx="6790560" cy="3830190"/>
          </a:xfrm>
          <a:prstGeom prst="rect">
            <a:avLst/>
          </a:prstGeom>
          <a:solidFill>
            <a:srgbClr val="0A0E1A"/>
          </a:solidFill>
          <a:ln w="9525">
            <a:solidFill>
              <a:srgbClr val="4C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◆ Crystal Cavern v10 · Maya standard tabLayout hierarchy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4 tabs</a:t>
            </a:r>
            <a:endParaRPr sz="14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0" y="18470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Terrain · Crystals · Lighting · Render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0" y="2304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16 controls</a:t>
            </a:r>
            <a:endParaRPr sz="14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259689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All min/max safe ranges + defaults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0" y="305409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Generate</a:t>
            </a:r>
            <a:endParaRPr sz="14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0" y="334670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Read control values → final_scene.build()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38039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progressWindow</a:t>
            </a:r>
            <a:endParaRPr sz="14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0" y="40965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8-stage progress bar · Anti-stall feedback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0" y="4553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Render Still</a:t>
            </a:r>
            <a:endParaRPr sz="14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0" y="48463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Triggers Arnold EXR batch render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0" y="54864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v2→v3: Added brand logo + 8-stage progressWindow</a:t>
            </a:r>
            <a:endParaRPr sz="1100" b="0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22" descr="gui_v3_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2595" y="1847215"/>
            <a:ext cx="2413635" cy="3730625"/>
          </a:xfrm>
          <a:prstGeom prst="rect">
            <a:avLst/>
          </a:prstGeom>
        </p:spPr>
      </p:pic>
      <p:pic>
        <p:nvPicPr>
          <p:cNvPr id="24" name="图片 23" descr="gui_v3_terr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852295"/>
            <a:ext cx="2409825" cy="3725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· FINAL RENDERS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Final Render Results — Two-Parameter Comparison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Recursive L-system + True Bridson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96539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7390"/>
            <a:ext cx="5486400" cy="3086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60200" y="196539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FF4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77390"/>
            <a:ext cx="5486400" cy="3086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6509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Amethyst Cavern · seed=2026 · 56 crystals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56509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Ruby Vault · seed=7777 · 56 crystals</a:t>
            </a:r>
            <a:endParaRPr sz="13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1920×1080 Arnold EXR · AA=5 / transmission=5 / SSS=3 · Different seed = completely different cave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lang="en-US"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· AI USAGE &amp; ASSESSMENT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AI Tools · Assessment Mapping · Thank You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81360" y="6455664"/>
            <a:ext cx="77724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</a:t>
            </a:r>
            <a:r>
              <a:rPr lang="en-US"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AI Tool Usage Log · With contribution scope</a:t>
            </a:r>
            <a:endParaRPr sz="14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874519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9202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Claude Code</a:t>
            </a:r>
            <a:endParaRPr sz="13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19455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Algorithm design · Code generation · Full refactoring · Scene building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41447"/>
            <a:ext cx="18288" cy="566928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487167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Claude MCP</a:t>
            </a:r>
            <a:endParaRPr sz="13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7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Direct Maya control · 28 MCP skills · Debug diagnostics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008375"/>
            <a:ext cx="18288" cy="566928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054095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GLM-5.2</a:t>
            </a:r>
            <a:endParaRPr lang="en-US" sz="13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328415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Recursive L-system · Bridson implementation · OpenMaya2 optimization · PPT v3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575303"/>
            <a:ext cx="18288" cy="566928"/>
          </a:xfrm>
          <a:prstGeom prst="line">
            <a:avLst/>
          </a:prstGeom>
          <a:ln w="31750">
            <a:solidFill>
              <a:srgbClr val="4CE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621023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ChatGPT</a:t>
            </a:r>
            <a:endParaRPr sz="13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895343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Algorithm selection · Citation verification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Disclaimer: AI is implementation tool, not creative agent — design decisions by author, code verified in Maya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Assessment Criteria Mapping</a:t>
            </a:r>
            <a:endParaRPr sz="14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18745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Flow Control &amp; Functions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23960" y="187451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7 modules · 30+ functions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295143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Data Structures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23960" y="2295143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2D heightmap · Seed dicts · Light anchors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271576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GUI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3960" y="2715767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4 tabs · 16 controls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13639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Algorithm Complexity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23960" y="313639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4 published algorithms · With citations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3557015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Visual Impact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23960" y="3557015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Hexagons · 10 gems · Volumetric fog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39776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Python-Driven Maya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3960" y="397763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One-click generation + animation · Zero manual work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813048" y="338328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525780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</a:t>
            </a:r>
            <a:endParaRPr sz="44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Crystal Cavern · Innovation Design for Future · ZJU 2026 · Q&amp;A</a:t>
            </a:r>
            <a:endParaRPr sz="13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6262</Words>
  <Application>WPS 文字</Application>
  <PresentationFormat>On-screen Show (4:3)</PresentationFormat>
  <Paragraphs>409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Calibri</vt:lpstr>
      <vt:lpstr>Helvetica Neue</vt:lpstr>
      <vt:lpstr>微软雅黑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贺想容</cp:lastModifiedBy>
  <cp:revision>3</cp:revision>
  <dcterms:created xsi:type="dcterms:W3CDTF">2026-07-22T11:25:56Z</dcterms:created>
  <dcterms:modified xsi:type="dcterms:W3CDTF">2026-07-22T11:25:56Z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DE0CC315FF3388F626A4606A757C7427_42</vt:lpwstr>
  </property>
</Properties>
</file>