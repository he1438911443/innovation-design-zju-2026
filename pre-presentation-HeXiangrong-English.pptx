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3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13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0.jpe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hero_dim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2898648" y="-91440"/>
            <a:ext cx="6400800" cy="6400800"/>
          </a:xfrm>
          <a:prstGeom prst="ellipse">
            <a:avLst/>
          </a:prstGeom>
          <a:solidFill>
            <a:srgbClr val="00D4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33172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PROCEDURAL  ·  MAYA PYTHON  ·  2026</a:t>
            </a:r>
            <a:endParaRPr sz="13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26974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000" b="1">
                <a:solidFill>
                  <a:srgbClr val="F0F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CRYSTAL  CAVERN</a:t>
            </a:r>
            <a:endParaRPr sz="6000" b="1">
              <a:solidFill>
                <a:srgbClr val="F0F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370332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>
                <a:solidFill>
                  <a:srgbClr val="4DE4FF"/>
                </a:solidFill>
                <a:latin typeface="微软雅黑"/>
                <a:ea typeface="微软雅黑"/>
                <a:cs typeface="微软雅黑"/>
              </a:rPr>
              <a:t>Python-Driven Maya Procedural Crystal Cave Generator</a:t>
            </a:r>
            <a:endParaRPr sz="2200" b="0">
              <a:solidFill>
                <a:srgbClr val="4DE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4937760" y="4343400"/>
            <a:ext cx="2313432" cy="0"/>
          </a:xfrm>
          <a:prstGeom prst="line">
            <a:avLst/>
          </a:prstGeom>
          <a:ln w="19050">
            <a:solidFill>
              <a:srgbClr val="7B2F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0" y="4480560"/>
            <a:ext cx="12191695" cy="4616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C14D"/>
                </a:solidFill>
                <a:latin typeface="微软雅黑"/>
                <a:ea typeface="微软雅黑"/>
                <a:cs typeface="微软雅黑"/>
              </a:rPr>
              <a:t>Innovation Design for Future · ZJU 2026 · Prof. Xiaosong Yang</a:t>
            </a:r>
            <a:endParaRPr sz="1500" b="1">
              <a:solidFill>
                <a:srgbClr val="FFC14D"/>
              </a:solidFill>
              <a:latin typeface="微软雅黑"/>
              <a:ea typeface="微软雅黑"/>
              <a:cs typeface="微软雅黑"/>
            </a:endParaRPr>
          </a:p>
          <a:p>
            <a:pPr algn="ctr"/>
            <a:r>
              <a:rPr lang="en-US" sz="1500" b="1">
                <a:solidFill>
                  <a:srgbClr val="FFC14D"/>
                </a:solidFill>
                <a:latin typeface="微软雅黑"/>
                <a:ea typeface="微软雅黑"/>
                <a:cs typeface="微软雅黑"/>
              </a:rPr>
              <a:t>He Xiangrong 3230104205</a:t>
            </a:r>
            <a:endParaRPr lang="en-US" sz="1500" b="1">
              <a:solidFill>
                <a:srgbClr val="FFC14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02 · PROJECT OVERVIEW</a:t>
            </a:r>
            <a:endParaRPr sz="11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Project Overview — From Reference to Procedural Generation</a:t>
            </a:r>
            <a:endParaRPr sz="27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2176272" cy="0"/>
          </a:xfrm>
          <a:prstGeom prst="line">
            <a:avLst/>
          </a:prstGeom>
          <a:ln w="254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326880" y="45720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v1→v2→v3 Iteration</a:t>
            </a:r>
            <a:endParaRPr sz="10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81360" y="64556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02 / 12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Crystal Cavern  ·  ZJU 2026  ·  Prof. Xiaosong Yang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75120" y="150876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66,049</a:t>
            </a:r>
            <a:endParaRPr sz="38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778240" y="176479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 terrain vertices</a:t>
            </a:r>
            <a:endParaRPr sz="140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75120" y="242316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B388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56</a:t>
            </a:r>
            <a:endParaRPr sz="3800" b="1">
              <a:solidFill>
                <a:srgbClr val="B388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778240" y="267919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 hexagonal prism crystals</a:t>
            </a:r>
            <a:endParaRPr sz="140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675120" y="333756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FFC14D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960</a:t>
            </a:r>
            <a:endParaRPr sz="3800" b="1">
              <a:solidFill>
                <a:srgbClr val="FFC14D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778240" y="359359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-frame fly-through animation</a:t>
            </a:r>
            <a:endParaRPr sz="140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675120" y="434340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One click → Maya auto-generates complete cave: terrain, crystals, lighting, camera — zero manual modeling.</a:t>
            </a:r>
            <a:endParaRPr sz="130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548640" y="5715000"/>
            <a:ext cx="11091672" cy="0"/>
          </a:xfrm>
          <a:prstGeom prst="line">
            <a:avLst/>
          </a:prstGeom>
          <a:ln w="15875">
            <a:solidFill>
              <a:srgbClr val="009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5488" y="5641848"/>
            <a:ext cx="146304" cy="146304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0" y="58247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7/19</a:t>
            </a:r>
            <a:endParaRPr sz="11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0" y="604418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v1 Prototype</a:t>
            </a:r>
            <a:endParaRPr sz="100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6021324" y="5641848"/>
            <a:ext cx="146304" cy="146304"/>
          </a:xfrm>
          <a:prstGeom prst="ellipse">
            <a:avLst/>
          </a:prstGeom>
          <a:solidFill>
            <a:srgbClr val="B38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45836" y="58247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B388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7/20</a:t>
            </a:r>
            <a:endParaRPr sz="1100" b="1">
              <a:solidFill>
                <a:srgbClr val="B388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545836" y="604418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v2 Pipeline</a:t>
            </a:r>
            <a:endParaRPr sz="100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11567160" y="5641848"/>
            <a:ext cx="146304" cy="146304"/>
          </a:xfrm>
          <a:prstGeom prst="ellipse">
            <a:avLst/>
          </a:prstGeom>
          <a:solidFill>
            <a:srgbClr val="FFC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91672" y="582472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FFC14D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7/21</a:t>
            </a:r>
            <a:endParaRPr sz="1100" b="1">
              <a:solidFill>
                <a:srgbClr val="FFC14D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91672" y="604418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v3 Production</a:t>
            </a:r>
            <a:endParaRPr sz="100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675120" y="59436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3 days from algorithm prototype to complete deliverable. 4 core modules each underwent 2–3 rounds of iterative evolution.</a:t>
            </a:r>
            <a:endParaRPr sz="100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3" name="图片 32" descr="gui_v3_crystal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26560" y="1662430"/>
            <a:ext cx="2255520" cy="3486785"/>
          </a:xfrm>
          <a:prstGeom prst="rect">
            <a:avLst/>
          </a:prstGeom>
        </p:spPr>
      </p:pic>
      <p:pic>
        <p:nvPicPr>
          <p:cNvPr id="35" name="图片 34" descr="0cf7cc1349abe3d1248e12b04438b58c~tplv-a9rns2rl98-pc_smart_face_crop-v1_512_38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35" y="1663700"/>
            <a:ext cx="3572510" cy="26797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03 · REFERENCE</a:t>
            </a:r>
            <a:endParaRPr sz="11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Real-World Reference — Naica Crystal Cave vs Algorithm Target</a:t>
            </a:r>
            <a:endParaRPr sz="27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2176272" cy="0"/>
          </a:xfrm>
          <a:prstGeom prst="line">
            <a:avLst/>
          </a:prstGeom>
          <a:ln w="254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881360" y="64556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03 / 12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Crystal Cavern  ·  ZJU 2026  ·  Prof. Xiaosong Yang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C14D"/>
                </a:solidFill>
                <a:latin typeface="微软雅黑"/>
                <a:ea typeface="微软雅黑"/>
                <a:cs typeface="微软雅黑"/>
              </a:rPr>
              <a:t>Reference · Naica Crystal Cave, Mexico</a:t>
            </a:r>
            <a:endParaRPr sz="1200" b="1">
              <a:solidFill>
                <a:srgbClr val="FFC1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6640" y="1725360"/>
            <a:ext cx="2767200" cy="2081400"/>
          </a:xfrm>
          <a:prstGeom prst="rect">
            <a:avLst/>
          </a:prstGeom>
          <a:solidFill>
            <a:srgbClr val="0A0E1A"/>
          </a:solidFill>
          <a:ln w="9525">
            <a:solidFill>
              <a:srgbClr val="FFC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f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2743200" cy="20574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417000" y="1725360"/>
            <a:ext cx="2767200" cy="2081400"/>
          </a:xfrm>
          <a:prstGeom prst="rect">
            <a:avLst/>
          </a:prstGeom>
          <a:solidFill>
            <a:srgbClr val="0A0E1A"/>
          </a:solidFill>
          <a:ln w="9525">
            <a:solidFill>
              <a:srgbClr val="FFC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737360"/>
            <a:ext cx="2743200" cy="2057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886200"/>
            <a:ext cx="5623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From Real-World Reference to Algorithm Target</a:t>
            </a:r>
            <a:endParaRPr sz="120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478980" y="4194240"/>
            <a:ext cx="3762880" cy="2127120"/>
          </a:xfrm>
          <a:prstGeom prst="rect">
            <a:avLst/>
          </a:prstGeom>
          <a:solidFill>
            <a:srgbClr val="0A0E1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nold_re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980" y="4206240"/>
            <a:ext cx="3738880" cy="21031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D4FF"/>
                </a:solidFill>
                <a:latin typeface="微软雅黑"/>
                <a:ea typeface="微软雅黑"/>
                <a:cs typeface="微软雅黑"/>
              </a:rPr>
              <a:t>Our Target · Procedural Generation</a:t>
            </a:r>
            <a:endParaRPr sz="1200" b="1">
              <a:solidFill>
                <a:srgbClr val="00D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480240" y="1839660"/>
            <a:ext cx="5144640" cy="2904360"/>
          </a:xfrm>
          <a:prstGeom prst="rect">
            <a:avLst/>
          </a:prstGeom>
          <a:solidFill>
            <a:srgbClr val="0A0E1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851660"/>
            <a:ext cx="5120640" cy="2880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75120" y="5029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7B2FF7"/>
                </a:solidFill>
                <a:latin typeface="微软雅黑"/>
                <a:ea typeface="微软雅黑"/>
                <a:cs typeface="微软雅黑"/>
              </a:rPr>
              <a:t>▸</a:t>
            </a:r>
            <a:endParaRPr sz="1300" b="1">
              <a:solidFill>
                <a:srgbClr val="7B2FF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49440" y="5029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Crystal cluster growth · Multi-color glow</a:t>
            </a:r>
            <a:endParaRPr sz="12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75120" y="53766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7B2FF7"/>
                </a:solidFill>
                <a:latin typeface="微软雅黑"/>
                <a:ea typeface="微软雅黑"/>
                <a:cs typeface="微软雅黑"/>
              </a:rPr>
              <a:t>▸</a:t>
            </a:r>
            <a:endParaRPr sz="1300" b="1">
              <a:solidFill>
                <a:srgbClr val="7B2FF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949440" y="537667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Subsurface scattering · Dark cave atmosphere</a:t>
            </a:r>
            <a:endParaRPr sz="12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675120" y="572414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7B2FF7"/>
                </a:solidFill>
                <a:latin typeface="微软雅黑"/>
                <a:ea typeface="微软雅黑"/>
                <a:cs typeface="微软雅黑"/>
              </a:rPr>
              <a:t>▸</a:t>
            </a:r>
            <a:endParaRPr sz="1300" b="1">
              <a:solidFill>
                <a:srgbClr val="7B2FF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949440" y="572414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Volumetric light beams · 10 gem material types</a:t>
            </a:r>
            <a:endParaRPr sz="12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92240" y="608076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Real crystals up to 12m — reproducing their geometry and lighting with algorithms</a:t>
            </a:r>
            <a:endParaRPr sz="10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8595" y="4340225"/>
            <a:ext cx="3771900" cy="18548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04 · ALGORITHM INNOVATION</a:t>
            </a:r>
            <a:endParaRPr sz="11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Algorithm Innovation — 3D Application of Four Classic Algorithms</a:t>
            </a:r>
            <a:endParaRPr sz="27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2176272" cy="0"/>
          </a:xfrm>
          <a:prstGeom prst="line">
            <a:avLst/>
          </a:prstGeom>
          <a:ln w="254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326880" y="45720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v1→v3 Evolution</a:t>
            </a:r>
            <a:endParaRPr sz="10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81360" y="64556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04 / 12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Crystal Cavern  ·  ZJU 2026  ·  Prof. Xiaosong Yang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548640" y="1508760"/>
            <a:ext cx="18288" cy="941832"/>
          </a:xfrm>
          <a:prstGeom prst="line">
            <a:avLst/>
          </a:prstGeom>
          <a:ln w="3175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1481328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Diamond-Square</a:t>
            </a:r>
            <a:endParaRPr sz="16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Fournier, Fussell &amp; Carpenter · 1982</a:t>
            </a:r>
            <a:endParaRPr sz="1050" b="0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40480" y="157276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66,049-vertex terrain · Cave shaping (radial power + sine perturbation)</a:t>
            </a:r>
            <a:endParaRPr sz="12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595360" y="1773936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v1→v3 — algorithm unchanged; v3 adds OpenMya2 batch vertex write</a:t>
            </a:r>
            <a:endParaRPr sz="10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548640" y="2587752"/>
            <a:ext cx="18288" cy="941832"/>
          </a:xfrm>
          <a:prstGeom prst="line">
            <a:avLst/>
          </a:prstGeom>
          <a:ln w="31750">
            <a:solidFill>
              <a:srgbClr val="B38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256032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Poisson-disc Sampling</a:t>
            </a:r>
            <a:endParaRPr sz="16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77240" y="290779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B388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Bridson · 2007</a:t>
            </a:r>
            <a:endParaRPr sz="1050" b="0">
              <a:solidFill>
                <a:srgbClr val="B388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840480" y="265176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Crystal seed distribution · Natural spacing without clumping</a:t>
            </a:r>
            <a:endParaRPr sz="12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595360" y="2852928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12700">
            <a:solidFill>
              <a:srgbClr val="B38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B388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v1 ❌ Fake Bridson → v3 ✅ True Bridson + spatial hash</a:t>
            </a:r>
            <a:endParaRPr sz="1000" b="1">
              <a:solidFill>
                <a:srgbClr val="B388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548640" y="3666744"/>
            <a:ext cx="18288" cy="941832"/>
          </a:xfrm>
          <a:prstGeom prst="line">
            <a:avLst/>
          </a:prstGeom>
          <a:ln w="31750">
            <a:solidFill>
              <a:srgbClr val="7B2F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77240" y="3639312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L-System Branching</a:t>
            </a:r>
            <a:endParaRPr sz="16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77240" y="398678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7B2FF7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Prusinkiewicz &amp; Lindenmayer · 1990</a:t>
            </a:r>
            <a:endParaRPr sz="1050" b="0">
              <a:solidFill>
                <a:srgbClr val="7B2FF7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840480" y="373075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3D spherical-coordinate branching · Self-similar crystal cluster morphology</a:t>
            </a:r>
            <a:endParaRPr sz="12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595360" y="3931920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12700">
            <a:solidFill>
              <a:srgbClr val="7B2F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7B2FF7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v1 None → v2 Single-layer → v3 Recursive rewrite + hexagonal system</a:t>
            </a:r>
            <a:endParaRPr sz="1000" b="1">
              <a:solidFill>
                <a:srgbClr val="7B2FF7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548640" y="4745736"/>
            <a:ext cx="18288" cy="941832"/>
          </a:xfrm>
          <a:prstGeom prst="line">
            <a:avLst/>
          </a:prstGeom>
          <a:ln w="31750">
            <a:solidFill>
              <a:srgbClr val="FFC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4718304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Subsurface Scattering</a:t>
            </a:r>
            <a:endParaRPr sz="16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77240" y="506577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FFC14D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Jensen et al. · 2001</a:t>
            </a:r>
            <a:endParaRPr sz="1050" b="0">
              <a:solidFill>
                <a:srgbClr val="FFC14D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840480" y="4809744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Arnold BSSRDF · Light emerges from inside crystals</a:t>
            </a:r>
            <a:endParaRPr sz="12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595360" y="5010912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12700">
            <a:solidFill>
              <a:srgbClr val="FFC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C14D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v3 clarification: BSSRDF ≠ accent point lights</a:t>
            </a:r>
            <a:endParaRPr sz="1000" b="1">
              <a:solidFill>
                <a:srgbClr val="FFC14D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05 · PIPELINE</a:t>
            </a:r>
            <a:endParaRPr sz="11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Five-Stage Fully Automated Generation Pipeline</a:t>
            </a:r>
            <a:endParaRPr sz="27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2176272" cy="0"/>
          </a:xfrm>
          <a:prstGeom prst="line">
            <a:avLst/>
          </a:prstGeom>
          <a:ln w="254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326880" y="45720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v1→v3 Evolution</a:t>
            </a:r>
            <a:endParaRPr sz="10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81360" y="64556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05 / 12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Crystal Cavern  ·  ZJU 2026  ·  Prof. Xiaosong Yang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Oval 7"/>
          <p:cNvSpPr/>
          <p:nvPr/>
        </p:nvSpPr>
        <p:spPr>
          <a:xfrm>
            <a:off x="749808" y="1572768"/>
            <a:ext cx="237744" cy="237744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996696" y="1691640"/>
            <a:ext cx="2350008" cy="0"/>
          </a:xfrm>
          <a:prstGeom prst="line">
            <a:avLst/>
          </a:prstGeom>
          <a:ln w="15875">
            <a:solidFill>
              <a:srgbClr val="009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-45720" y="1874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Stage 1</a:t>
            </a:r>
            <a:endParaRPr sz="11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-45720" y="211226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Terrain Generation</a:t>
            </a:r>
            <a:endParaRPr sz="135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-91440" y="240487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Diamond-Square</a:t>
            </a:r>
            <a:endParaRPr sz="9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355848" y="1572768"/>
            <a:ext cx="237744" cy="237744"/>
          </a:xfrm>
          <a:prstGeom prst="ellipse">
            <a:avLst/>
          </a:prstGeom>
          <a:solidFill>
            <a:srgbClr val="B38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3602736" y="1691640"/>
            <a:ext cx="2350008" cy="0"/>
          </a:xfrm>
          <a:prstGeom prst="line">
            <a:avLst/>
          </a:prstGeom>
          <a:ln w="15875">
            <a:solidFill>
              <a:srgbClr val="009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560320" y="1874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B388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Stage 2</a:t>
            </a:r>
            <a:endParaRPr sz="1100" b="1">
              <a:solidFill>
                <a:srgbClr val="B388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560320" y="211226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Seed Distribution</a:t>
            </a:r>
            <a:endParaRPr sz="135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514600" y="240487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Poisson-disc</a:t>
            </a:r>
            <a:endParaRPr sz="9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5961888" y="1572768"/>
            <a:ext cx="237744" cy="237744"/>
          </a:xfrm>
          <a:prstGeom prst="ellipse">
            <a:avLst/>
          </a:prstGeom>
          <a:solidFill>
            <a:srgbClr val="7B2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208776" y="1691640"/>
            <a:ext cx="2350008" cy="0"/>
          </a:xfrm>
          <a:prstGeom prst="line">
            <a:avLst/>
          </a:prstGeom>
          <a:ln w="15875">
            <a:solidFill>
              <a:srgbClr val="009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166360" y="1874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7B2FF7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Stage 3</a:t>
            </a:r>
            <a:endParaRPr sz="1100" b="1">
              <a:solidFill>
                <a:srgbClr val="7B2FF7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166360" y="211226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Crystal Growth</a:t>
            </a:r>
            <a:endParaRPr sz="135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20640" y="240487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L-system + axis-angle</a:t>
            </a:r>
            <a:endParaRPr sz="9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8567928" y="1572768"/>
            <a:ext cx="237744" cy="237744"/>
          </a:xfrm>
          <a:prstGeom prst="ellipse">
            <a:avLst/>
          </a:prstGeom>
          <a:solidFill>
            <a:srgbClr val="FFC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8814816" y="1691640"/>
            <a:ext cx="2350008" cy="0"/>
          </a:xfrm>
          <a:prstGeom prst="line">
            <a:avLst/>
          </a:prstGeom>
          <a:ln w="15875">
            <a:solidFill>
              <a:srgbClr val="009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772400" y="1874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FFC14D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Stage 4</a:t>
            </a:r>
            <a:endParaRPr sz="1100" b="1">
              <a:solidFill>
                <a:srgbClr val="FFC14D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772400" y="211226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Lighting &amp; Fog</a:t>
            </a:r>
            <a:endParaRPr sz="135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726680" y="240487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3-layer lighting · Volumetric fog</a:t>
            </a:r>
            <a:endParaRPr sz="9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11173968" y="1572768"/>
            <a:ext cx="237744" cy="237744"/>
          </a:xfrm>
          <a:prstGeom prst="ellipse">
            <a:avLst/>
          </a:prstGeom>
          <a:solidFill>
            <a:srgbClr val="FF4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78440" y="1874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FF4D6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Stage 5</a:t>
            </a:r>
            <a:endParaRPr sz="1100" b="1">
              <a:solidFill>
                <a:srgbClr val="FF4D6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378440" y="211226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Camera Animation</a:t>
            </a:r>
            <a:endParaRPr sz="135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332720" y="240487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960-frame fly-through</a:t>
            </a:r>
            <a:endParaRPr sz="9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255010" y="3273425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7B2FF7"/>
                </a:solidFill>
                <a:latin typeface="微软雅黑"/>
                <a:ea typeface="微软雅黑"/>
                <a:cs typeface="微软雅黑"/>
              </a:rPr>
              <a:t>Version iteration annotations</a:t>
            </a:r>
            <a:endParaRPr sz="1100" b="1">
              <a:solidFill>
                <a:srgbClr val="7B2FF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3255010" y="3639185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v1  7/19</a:t>
            </a:r>
            <a:endParaRPr sz="125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809489" y="3657473"/>
            <a:ext cx="37490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Terrain only + random scattered crystals</a:t>
            </a:r>
            <a:endParaRPr sz="11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255010" y="4206113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B388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v2  7/20</a:t>
            </a:r>
            <a:endParaRPr sz="1250" b="1">
              <a:solidFill>
                <a:srgbClr val="B388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809489" y="4224401"/>
            <a:ext cx="37490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Hex prisms + single-layer branches + root embed + aimConstraint</a:t>
            </a:r>
            <a:endParaRPr sz="11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255010" y="4773041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FFC14D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v3  7/22</a:t>
            </a:r>
            <a:endParaRPr sz="1250" b="1">
              <a:solidFill>
                <a:srgbClr val="FFC14D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809489" y="4791329"/>
            <a:ext cx="37490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Recursive L-system + True Bridson + OpenMaya2 + axis-angle</a:t>
            </a:r>
            <a:endParaRPr sz="11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06 · CODE ARCHITECTURE</a:t>
            </a:r>
            <a:endParaRPr sz="11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Code Architecture — 7 Independent Modules</a:t>
            </a:r>
            <a:endParaRPr sz="27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2176272" cy="0"/>
          </a:xfrm>
          <a:prstGeom prst="line">
            <a:avLst/>
          </a:prstGeom>
          <a:ln w="254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326880" y="45720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v1:6  v2:7  v3:10 modules</a:t>
            </a:r>
            <a:endParaRPr sz="10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81360" y="64556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06 / 12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Crystal Cavern  ·  ZJU 2026  ·  Prof. Xiaosong Yang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Full docstrings · Algorithm citations · Single responsibility · Independently testable · ~2,200 lines</a:t>
            </a:r>
            <a:endParaRPr sz="12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548640" y="1783080"/>
            <a:ext cx="18288" cy="566928"/>
          </a:xfrm>
          <a:prstGeom prst="line">
            <a:avLst/>
          </a:prstGeom>
          <a:ln w="3175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190195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0F4FF"/>
                </a:solidFill>
                <a:latin typeface="Consolas"/>
                <a:ea typeface="Consolas"/>
                <a:cs typeface="Consolas"/>
              </a:rPr>
              <a:t>cave_terrain.py</a:t>
            </a:r>
            <a:endParaRPr sz="1400" b="1">
              <a:solidFill>
                <a:srgbClr val="F0F4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114800" y="192024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D4FF"/>
                </a:solidFill>
                <a:latin typeface="微软雅黑"/>
                <a:ea typeface="微软雅黑"/>
                <a:cs typeface="微软雅黑"/>
              </a:rPr>
              <a:t>Diamond-Square</a:t>
            </a:r>
            <a:endParaRPr sz="1200" b="1">
              <a:solidFill>
                <a:srgbClr val="00D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583680" y="1929384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Terrain · Cave enclosure · Stalactites/stalagmites</a:t>
            </a:r>
            <a:endParaRPr sz="11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548640" y="2423160"/>
            <a:ext cx="18288" cy="566928"/>
          </a:xfrm>
          <a:prstGeom prst="line">
            <a:avLst/>
          </a:prstGeom>
          <a:ln w="31750">
            <a:solidFill>
              <a:srgbClr val="B38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25420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0F4FF"/>
                </a:solidFill>
                <a:latin typeface="Consolas"/>
                <a:ea typeface="Consolas"/>
                <a:cs typeface="Consolas"/>
              </a:rPr>
              <a:t>crystal_seed.py</a:t>
            </a:r>
            <a:endParaRPr sz="1400" b="1">
              <a:solidFill>
                <a:srgbClr val="F0F4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14800" y="256032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B388FF"/>
                </a:solidFill>
                <a:latin typeface="微软雅黑"/>
                <a:ea typeface="微软雅黑"/>
                <a:cs typeface="微软雅黑"/>
              </a:rPr>
              <a:t>Poisson-disc</a:t>
            </a:r>
            <a:endParaRPr sz="1200" b="1">
              <a:solidFill>
                <a:srgbClr val="B38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83680" y="2569464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Crystal seed distribution · Spatial hash</a:t>
            </a:r>
            <a:endParaRPr sz="11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548640" y="3063240"/>
            <a:ext cx="18288" cy="566928"/>
          </a:xfrm>
          <a:prstGeom prst="line">
            <a:avLst/>
          </a:prstGeom>
          <a:ln w="31750">
            <a:solidFill>
              <a:srgbClr val="7B2F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7240" y="318211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0F4FF"/>
                </a:solidFill>
                <a:latin typeface="Consolas"/>
                <a:ea typeface="Consolas"/>
                <a:cs typeface="Consolas"/>
              </a:rPr>
              <a:t>crystal_growth.py</a:t>
            </a:r>
            <a:endParaRPr sz="1400" b="1">
              <a:solidFill>
                <a:srgbClr val="F0F4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0" y="320040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7B2FF7"/>
                </a:solidFill>
                <a:latin typeface="微软雅黑"/>
                <a:ea typeface="微软雅黑"/>
                <a:cs typeface="微软雅黑"/>
              </a:rPr>
              <a:t>L-System</a:t>
            </a:r>
            <a:endParaRPr sz="1200" b="1">
              <a:solidFill>
                <a:srgbClr val="7B2FF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83680" y="3209544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Hexagonal crystals · Tips · Recursive branching</a:t>
            </a:r>
            <a:endParaRPr sz="11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548640" y="3703320"/>
            <a:ext cx="18288" cy="566928"/>
          </a:xfrm>
          <a:prstGeom prst="line">
            <a:avLst/>
          </a:prstGeom>
          <a:ln w="31750">
            <a:solidFill>
              <a:srgbClr val="FFC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382219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0F4FF"/>
                </a:solidFill>
                <a:latin typeface="Consolas"/>
                <a:ea typeface="Consolas"/>
                <a:cs typeface="Consolas"/>
              </a:rPr>
              <a:t>cave_lighting.py</a:t>
            </a:r>
            <a:endParaRPr sz="1400" b="1">
              <a:solidFill>
                <a:srgbClr val="F0F4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114800" y="384048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C14D"/>
                </a:solidFill>
                <a:latin typeface="微软雅黑"/>
                <a:ea typeface="微软雅黑"/>
                <a:cs typeface="微软雅黑"/>
              </a:rPr>
              <a:t>Subsurface</a:t>
            </a:r>
            <a:endParaRPr sz="1200" b="1">
              <a:solidFill>
                <a:srgbClr val="FFC1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583680" y="3849624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3-layer lighting · Volumetric fog · Dust · Camera</a:t>
            </a:r>
            <a:endParaRPr sz="11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548640" y="4343400"/>
            <a:ext cx="18288" cy="566928"/>
          </a:xfrm>
          <a:prstGeom prst="line">
            <a:avLst/>
          </a:prstGeom>
          <a:ln w="31750">
            <a:solidFill>
              <a:srgbClr val="4CE0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77240" y="446227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0F4FF"/>
                </a:solidFill>
                <a:latin typeface="Consolas"/>
                <a:ea typeface="Consolas"/>
                <a:cs typeface="Consolas"/>
              </a:rPr>
              <a:t>crystal_ui.py</a:t>
            </a:r>
            <a:endParaRPr sz="1400" b="1">
              <a:solidFill>
                <a:srgbClr val="F0F4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114800" y="448056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4CE09B"/>
                </a:solidFill>
                <a:latin typeface="微软雅黑"/>
                <a:ea typeface="微软雅黑"/>
                <a:cs typeface="微软雅黑"/>
              </a:rPr>
              <a:t>GUI</a:t>
            </a:r>
            <a:endParaRPr sz="1200" b="1">
              <a:solidFill>
                <a:srgbClr val="4CE09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583680" y="4489704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4 tabs · 16 controls · One-click generation</a:t>
            </a:r>
            <a:endParaRPr sz="11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548640" y="4983480"/>
            <a:ext cx="18288" cy="566928"/>
          </a:xfrm>
          <a:prstGeom prst="line">
            <a:avLst/>
          </a:prstGeom>
          <a:ln w="31750">
            <a:solidFill>
              <a:srgbClr val="FF4D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77240" y="510235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0F4FF"/>
                </a:solidFill>
                <a:latin typeface="Consolas"/>
                <a:ea typeface="Consolas"/>
                <a:cs typeface="Consolas"/>
              </a:rPr>
              <a:t>arnold_render.py</a:t>
            </a:r>
            <a:endParaRPr sz="1400" b="1">
              <a:solidFill>
                <a:srgbClr val="F0F4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114800" y="512064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4D6B"/>
                </a:solidFill>
                <a:latin typeface="微软雅黑"/>
                <a:ea typeface="微软雅黑"/>
                <a:cs typeface="微软雅黑"/>
              </a:rPr>
              <a:t>Arnold</a:t>
            </a:r>
            <a:endParaRPr sz="1200" b="1">
              <a:solidFill>
                <a:srgbClr val="FF4D6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583680" y="5129784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AA/Sampling/AOV/Render camera</a:t>
            </a:r>
            <a:endParaRPr sz="11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33" name="Connector 32"/>
          <p:cNvCxnSpPr/>
          <p:nvPr/>
        </p:nvCxnSpPr>
        <p:spPr>
          <a:xfrm>
            <a:off x="548640" y="5623560"/>
            <a:ext cx="18288" cy="566928"/>
          </a:xfrm>
          <a:prstGeom prst="line">
            <a:avLst/>
          </a:prstGeom>
          <a:ln w="3175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77240" y="574243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0F4FF"/>
                </a:solidFill>
                <a:latin typeface="Consolas"/>
                <a:ea typeface="Consolas"/>
                <a:cs typeface="Consolas"/>
              </a:rPr>
              <a:t>batch_render.py</a:t>
            </a:r>
            <a:endParaRPr sz="1400" b="1">
              <a:solidFill>
                <a:srgbClr val="F0F4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14800" y="576072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D4FF"/>
                </a:solidFill>
                <a:latin typeface="微软雅黑"/>
                <a:ea typeface="微软雅黑"/>
                <a:cs typeface="微软雅黑"/>
              </a:rPr>
              <a:t>Batch</a:t>
            </a:r>
            <a:endParaRPr sz="1200" b="1">
              <a:solidFill>
                <a:srgbClr val="00D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583680" y="5769864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Multi-seed → Multiple .ma scenes</a:t>
            </a:r>
            <a:endParaRPr sz="115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00D4FF"/>
                </a:solidFill>
                <a:latin typeface="Consolas"/>
                <a:ea typeface="Consolas"/>
                <a:cs typeface="Consolas"/>
              </a:rPr>
              <a:t>Entry point: final_scene.py → build(seed, density, fog_density, render)</a:t>
            </a:r>
            <a:endParaRPr sz="1250" b="1">
              <a:solidFill>
                <a:srgbClr val="00D4FF"/>
              </a:solidFill>
              <a:latin typeface="Consolas"/>
              <a:ea typeface="Consolas"/>
              <a:cs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07 · CRYSTAL GEOMETRY  ·  CORE</a:t>
            </a:r>
            <a:endParaRPr sz="11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Crystal Geometry Evolution — From Pegs to Photorealistic Crystals</a:t>
            </a:r>
            <a:endParaRPr sz="27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2176272" cy="0"/>
          </a:xfrm>
          <a:prstGeom prst="line">
            <a:avLst/>
          </a:prstGeom>
          <a:ln w="254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326880" y="45720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Three generational leaps</a:t>
            </a:r>
            <a:endParaRPr sz="10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81360" y="64556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07 / 12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Crystal Cavern  ·  ZJU 2026  ·  Prof. Xiaosong Yang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v1  7/19</a:t>
            </a:r>
            <a:endParaRPr sz="10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Cylinder stacking</a:t>
            </a:r>
            <a:endParaRPr sz="17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Can 9"/>
          <p:cNvSpPr/>
          <p:nvPr/>
        </p:nvSpPr>
        <p:spPr>
          <a:xfrm>
            <a:off x="1691640" y="2697480"/>
            <a:ext cx="1280160" cy="2011680"/>
          </a:xfrm>
          <a:prstGeom prst="can">
            <a:avLst/>
          </a:prstGeom>
          <a:solidFill>
            <a:srgbClr val="0A0E1A"/>
          </a:solidFill>
          <a:ln w="2857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983480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00D4FF"/>
                </a:solidFill>
                <a:latin typeface="微软雅黑"/>
                <a:ea typeface="微软雅黑"/>
                <a:cs typeface="微软雅黑"/>
              </a:rPr>
              <a:t>Peg-like · No branches</a:t>
            </a:r>
            <a:endParaRPr sz="1200" b="0">
              <a:solidFill>
                <a:srgbClr val="00D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480560" y="15544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12700">
            <a:solidFill>
              <a:srgbClr val="B38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B388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v2  7/20</a:t>
            </a:r>
            <a:endParaRPr sz="1000" b="1">
              <a:solidFill>
                <a:srgbClr val="B388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389120" y="201168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Hexagonal prisms + single-layer branching</a:t>
            </a:r>
            <a:endParaRPr sz="17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Hexagon 13"/>
          <p:cNvSpPr/>
          <p:nvPr/>
        </p:nvSpPr>
        <p:spPr>
          <a:xfrm>
            <a:off x="5257800" y="2697480"/>
            <a:ext cx="1828800" cy="2011680"/>
          </a:xfrm>
          <a:prstGeom prst="hexagon">
            <a:avLst/>
          </a:prstGeom>
          <a:solidFill>
            <a:srgbClr val="0A0E1A"/>
          </a:solidFill>
          <a:ln w="28575">
            <a:solidFill>
              <a:srgbClr val="B38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4983480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B388FF"/>
                </a:solidFill>
                <a:latin typeface="微软雅黑"/>
                <a:ea typeface="微软雅黑"/>
                <a:cs typeface="微软雅黑"/>
              </a:rPr>
              <a:t>Root embedding · aimConstraint</a:t>
            </a:r>
            <a:endParaRPr sz="1200" b="0">
              <a:solidFill>
                <a:srgbClr val="B38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321040" y="15544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12700">
            <a:solidFill>
              <a:srgbClr val="FFC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C14D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v3  7/22</a:t>
            </a:r>
            <a:endParaRPr sz="1000" b="1">
              <a:solidFill>
                <a:srgbClr val="FFC14D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600" y="201168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Recursive L-system</a:t>
            </a:r>
            <a:endParaRPr sz="17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217600" y="2688337"/>
            <a:ext cx="3590160" cy="2029965"/>
          </a:xfrm>
          <a:prstGeom prst="rect">
            <a:avLst/>
          </a:prstGeom>
          <a:solidFill>
            <a:srgbClr val="0A0E1A"/>
          </a:solidFill>
          <a:ln w="9525">
            <a:solidFill>
              <a:srgbClr val="FFC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101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2700337"/>
            <a:ext cx="3566160" cy="200596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29600" y="4983480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FFC14D"/>
                </a:solidFill>
                <a:latin typeface="微软雅黑"/>
                <a:ea typeface="微软雅黑"/>
                <a:cs typeface="微软雅黑"/>
              </a:rPr>
              <a:t>2nd &amp; 3rd level branches · Crystal face azimuth</a:t>
            </a:r>
            <a:endParaRPr sz="1200" b="0">
              <a:solidFill>
                <a:srgbClr val="FFC14D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548640" y="5806440"/>
            <a:ext cx="11091672" cy="0"/>
          </a:xfrm>
          <a:prstGeom prst="line">
            <a:avLst/>
          </a:prstGeom>
          <a:ln w="9525">
            <a:solidFill>
              <a:srgbClr val="009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594360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Key innovation: Recursive L-system × 60° hexagonal azimuth bias × axis-angle shortest rotation (no aimConstraint · no gimbal lock)</a:t>
            </a:r>
            <a:endParaRPr sz="130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08 · MATERIAL &amp; LIGHTING</a:t>
            </a:r>
            <a:endParaRPr sz="11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Materials &amp; Lighting — SSS Academic Rigor Clarification</a:t>
            </a:r>
            <a:endParaRPr sz="27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2176272" cy="0"/>
          </a:xfrm>
          <a:prstGeom prst="line">
            <a:avLst/>
          </a:prstGeom>
          <a:ln w="254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326880" y="45720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v3 Academic Clarification</a:t>
            </a:r>
            <a:endParaRPr sz="10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81360" y="64556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08 / 12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Crystal Cavern  ·  ZJU 2026  ·  Prof. Xiaosong Yang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6640" y="1462470"/>
            <a:ext cx="5510400" cy="3110100"/>
          </a:xfrm>
          <a:prstGeom prst="rect">
            <a:avLst/>
          </a:prstGeom>
          <a:solidFill>
            <a:srgbClr val="0A0E1A"/>
          </a:solidFill>
          <a:ln w="9525">
            <a:solidFill>
              <a:srgbClr val="FFC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nold_rend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74470"/>
            <a:ext cx="5486400" cy="30861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6177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FC14D"/>
                </a:solidFill>
                <a:latin typeface="微软雅黑"/>
                <a:ea typeface="微软雅黑"/>
                <a:cs typeface="微软雅黑"/>
              </a:rPr>
              <a:t>10 gem types · aiStandardSurface</a:t>
            </a:r>
            <a:endParaRPr sz="1200" b="1">
              <a:solidFill>
                <a:srgbClr val="FFC1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48640" y="4983480"/>
            <a:ext cx="822960" cy="868680"/>
          </a:xfrm>
          <a:prstGeom prst="roundRect">
            <a:avLst>
              <a:gd name="adj" fmla="val 18000"/>
            </a:avLst>
          </a:prstGeom>
          <a:solidFill>
            <a:srgbClr val="7B2FF7"/>
          </a:solidFill>
          <a:ln w="6350">
            <a:solidFill>
              <a:srgbClr val="0A0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55040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Amethyst</a:t>
            </a:r>
            <a:endParaRPr sz="95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426464" y="4983480"/>
            <a:ext cx="822960" cy="868680"/>
          </a:xfrm>
          <a:prstGeom prst="roundRect">
            <a:avLst>
              <a:gd name="adj" fmla="val 18000"/>
            </a:avLst>
          </a:prstGeom>
          <a:solidFill>
            <a:srgbClr val="FF4D6B"/>
          </a:solidFill>
          <a:ln w="6350">
            <a:solidFill>
              <a:srgbClr val="0A0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4" y="555040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Ruby</a:t>
            </a:r>
            <a:endParaRPr sz="95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304288" y="4983480"/>
            <a:ext cx="822960" cy="868680"/>
          </a:xfrm>
          <a:prstGeom prst="roundRect">
            <a:avLst>
              <a:gd name="adj" fmla="val 18000"/>
            </a:avLst>
          </a:prstGeom>
          <a:solidFill>
            <a:srgbClr val="FFC14D"/>
          </a:solidFill>
          <a:ln w="6350">
            <a:solidFill>
              <a:srgbClr val="0A0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04288" y="555040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Citrine</a:t>
            </a:r>
            <a:endParaRPr sz="95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182112" y="4983480"/>
            <a:ext cx="822960" cy="868680"/>
          </a:xfrm>
          <a:prstGeom prst="roundRect">
            <a:avLst>
              <a:gd name="adj" fmla="val 18000"/>
            </a:avLst>
          </a:prstGeom>
          <a:solidFill>
            <a:srgbClr val="00D4FF"/>
          </a:solidFill>
          <a:ln w="6350">
            <a:solidFill>
              <a:srgbClr val="0A0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82112" y="555040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Aquamarine</a:t>
            </a:r>
            <a:endParaRPr sz="95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059936" y="4983480"/>
            <a:ext cx="822960" cy="868680"/>
          </a:xfrm>
          <a:prstGeom prst="roundRect">
            <a:avLst>
              <a:gd name="adj" fmla="val 18000"/>
            </a:avLst>
          </a:prstGeom>
          <a:solidFill>
            <a:srgbClr val="4CE09B"/>
          </a:solidFill>
          <a:ln w="6350">
            <a:solidFill>
              <a:srgbClr val="0A0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59936" y="555040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Fluorite</a:t>
            </a:r>
            <a:endParaRPr sz="95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937760" y="4983480"/>
            <a:ext cx="822960" cy="868680"/>
          </a:xfrm>
          <a:prstGeom prst="roundRect">
            <a:avLst>
              <a:gd name="adj" fmla="val 18000"/>
            </a:avLst>
          </a:prstGeom>
          <a:solidFill>
            <a:srgbClr val="8A99B8"/>
          </a:solidFill>
          <a:ln w="6350">
            <a:solidFill>
              <a:srgbClr val="0A0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0" y="555040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Obsidian</a:t>
            </a:r>
            <a:endParaRPr sz="95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800" y="14630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D4FF"/>
                </a:solidFill>
                <a:latin typeface="微软雅黑"/>
                <a:ea typeface="微软雅黑"/>
                <a:cs typeface="微软雅黑"/>
              </a:rPr>
              <a:t>Who does SSS? · Material side ≠ Light side</a:t>
            </a:r>
            <a:endParaRPr sz="1400" b="1">
              <a:solidFill>
                <a:srgbClr val="00D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6400800" y="1965960"/>
            <a:ext cx="18288" cy="2057400"/>
          </a:xfrm>
          <a:prstGeom prst="line">
            <a:avLst/>
          </a:prstGeom>
          <a:ln w="31750">
            <a:solidFill>
              <a:srgbClr val="7B2F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629400" y="196596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7B2FF7"/>
                </a:solidFill>
                <a:latin typeface="微软雅黑"/>
                <a:ea typeface="微软雅黑"/>
                <a:cs typeface="微软雅黑"/>
              </a:rPr>
              <a:t>Material side · Arnold BSSRDF (Jensen 2001)</a:t>
            </a:r>
            <a:endParaRPr sz="1300" b="1">
              <a:solidFill>
                <a:srgbClr val="7B2FF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675120" y="23774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✓ True subsurface scattering</a:t>
            </a:r>
            <a:endParaRPr sz="11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75120" y="2688336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✓ subsurface / Color / Radius</a:t>
            </a:r>
            <a:endParaRPr sz="11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675120" y="299923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✓ Coat thin-film + Transmission translucency</a:t>
            </a:r>
            <a:endParaRPr sz="11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675120" y="331012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✓ Light emerges from inside the crystal</a:t>
            </a:r>
            <a:endParaRPr sz="11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6400800" y="4160520"/>
            <a:ext cx="18288" cy="1965960"/>
          </a:xfrm>
          <a:prstGeom prst="line">
            <a:avLst/>
          </a:prstGeom>
          <a:ln w="31750">
            <a:solidFill>
              <a:srgbClr val="FFC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629400" y="416052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FFC14D"/>
                </a:solidFill>
                <a:latin typeface="微软雅黑"/>
                <a:ea typeface="微软雅黑"/>
                <a:cs typeface="微软雅黑"/>
              </a:rPr>
              <a:t>Lighting side · 20 accent point lights</a:t>
            </a:r>
            <a:endParaRPr sz="1300" b="1">
              <a:solidFill>
                <a:srgbClr val="FFC1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75120" y="457200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▸ Exterior fill light · Not SSS</a:t>
            </a:r>
            <a:endParaRPr sz="11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75120" y="4882896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▸ intensity 800–1600 · decayRate 0</a:t>
            </a:r>
            <a:endParaRPr sz="11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75120" y="519379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▸ Color-matched to gem glow</a:t>
            </a:r>
            <a:endParaRPr sz="11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675120" y="550468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▸ Placed at tallest crystal anchors</a:t>
            </a:r>
            <a:endParaRPr sz="11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400800" y="612648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4CE09B"/>
                </a:solidFill>
                <a:latin typeface="微软雅黑"/>
                <a:ea typeface="微软雅黑"/>
                <a:cs typeface="微软雅黑"/>
              </a:rPr>
              <a:t>Separate concerns — citations match code implementation</a:t>
            </a:r>
            <a:endParaRPr sz="1100" b="1">
              <a:solidFill>
                <a:srgbClr val="4CE09B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9" name="图片 38" descr="a6a3556f6a16cb62ef7a7b628e70c3dc~tplv-a9rns2rl98-pc_smart_face_crop-v1_512_38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055" y="2152650"/>
            <a:ext cx="3203575" cy="2402840"/>
          </a:xfrm>
          <a:prstGeom prst="rect">
            <a:avLst/>
          </a:prstGeom>
        </p:spPr>
      </p:pic>
      <p:pic>
        <p:nvPicPr>
          <p:cNvPr id="40" name="图片 39" descr="3b80ff12a708b83f91132dc8a65a690e~tplv-a9rns2rl98-pc_smart_face_crop-v1_512_38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7190" y="1474470"/>
            <a:ext cx="3117850" cy="2338705"/>
          </a:xfrm>
          <a:prstGeom prst="rect">
            <a:avLst/>
          </a:prstGeom>
        </p:spPr>
      </p:pic>
      <p:sp>
        <p:nvSpPr>
          <p:cNvPr id="42" name="矩形 41"/>
          <p:cNvSpPr/>
          <p:nvPr/>
        </p:nvSpPr>
        <p:spPr>
          <a:xfrm>
            <a:off x="3610610" y="4092575"/>
            <a:ext cx="2580640" cy="47371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</a:bodyPr>
          <a:p>
            <a:pPr algn="ctr"/>
            <a:r>
              <a:rPr lang="zh-CN" altLang="en-US" b="1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  <a:alpha val="43000"/>
                    </a:srgbClr>
                  </a:outerShdw>
                </a:effectLst>
              </a:rPr>
              <a:t>Target Visual Quality Goals</a:t>
            </a:r>
            <a:endParaRPr lang="zh-CN" altLang="en-US" b="1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09 · INTERACTIVE GUI</a:t>
            </a:r>
            <a:endParaRPr sz="11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Interactive GUI — Maya Embedded Visual Control Panel</a:t>
            </a:r>
            <a:endParaRPr sz="27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2176272" cy="0"/>
          </a:xfrm>
          <a:prstGeom prst="line">
            <a:avLst/>
          </a:prstGeom>
          <a:ln w="254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326880" y="45720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v2→v3 Branding</a:t>
            </a:r>
            <a:endParaRPr sz="10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81360" y="64556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09 / 12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Crystal Cavern  ·  ZJU 2026  ·  Prof. Xiaosong Yang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6640" y="1833945"/>
            <a:ext cx="6790560" cy="3830190"/>
          </a:xfrm>
          <a:prstGeom prst="rect">
            <a:avLst/>
          </a:prstGeom>
          <a:solidFill>
            <a:srgbClr val="0A0E1A"/>
          </a:solidFill>
          <a:ln w="9525">
            <a:solidFill>
              <a:srgbClr val="4CE0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6766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◆ Crystal Cavern v10 · Maya standard tabLayout hierarchy</a:t>
            </a:r>
            <a:endParaRPr sz="110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589520" y="155448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D4FF"/>
                </a:solidFill>
                <a:latin typeface="微软雅黑"/>
                <a:ea typeface="微软雅黑"/>
                <a:cs typeface="微软雅黑"/>
              </a:rPr>
              <a:t>4 tabs</a:t>
            </a:r>
            <a:endParaRPr sz="1400" b="1">
              <a:solidFill>
                <a:srgbClr val="00D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589520" y="1847088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Terrain · Crystals · Lighting · Render</a:t>
            </a:r>
            <a:endParaRPr sz="110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589520" y="230428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B388FF"/>
                </a:solidFill>
                <a:latin typeface="微软雅黑"/>
                <a:ea typeface="微软雅黑"/>
                <a:cs typeface="微软雅黑"/>
              </a:rPr>
              <a:t>16 controls</a:t>
            </a:r>
            <a:endParaRPr sz="1400" b="1">
              <a:solidFill>
                <a:srgbClr val="B38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589520" y="2596896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All min/max safe ranges + defaults</a:t>
            </a:r>
            <a:endParaRPr sz="110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589520" y="3054096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7B2FF7"/>
                </a:solidFill>
                <a:latin typeface="微软雅黑"/>
                <a:ea typeface="微软雅黑"/>
                <a:cs typeface="微软雅黑"/>
              </a:rPr>
              <a:t>Generate</a:t>
            </a:r>
            <a:endParaRPr sz="1400" b="1">
              <a:solidFill>
                <a:srgbClr val="7B2FF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589520" y="3346704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Read control values → final_scene.build()</a:t>
            </a:r>
            <a:endParaRPr sz="110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589520" y="380390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FC14D"/>
                </a:solidFill>
                <a:latin typeface="微软雅黑"/>
                <a:ea typeface="微软雅黑"/>
                <a:cs typeface="微软雅黑"/>
              </a:rPr>
              <a:t>progressWindow</a:t>
            </a:r>
            <a:endParaRPr sz="1400" b="1">
              <a:solidFill>
                <a:srgbClr val="FFC1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89520" y="4096512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8-stage progress bar · Anti-stall feedback</a:t>
            </a:r>
            <a:endParaRPr sz="110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589520" y="455371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F4D6B"/>
                </a:solidFill>
                <a:latin typeface="微软雅黑"/>
                <a:ea typeface="微软雅黑"/>
                <a:cs typeface="微软雅黑"/>
              </a:rPr>
              <a:t>Render Still</a:t>
            </a:r>
            <a:endParaRPr sz="1400" b="1">
              <a:solidFill>
                <a:srgbClr val="FF4D6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589520" y="484632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Triggers Arnold EXR batch render</a:t>
            </a:r>
            <a:endParaRPr sz="110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589520" y="548640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CE09B"/>
                </a:solidFill>
                <a:latin typeface="微软雅黑"/>
                <a:ea typeface="微软雅黑"/>
                <a:cs typeface="微软雅黑"/>
              </a:rPr>
              <a:t>v2→v3: Added brand logo + 8-stage progressWindow</a:t>
            </a:r>
            <a:endParaRPr sz="1100" b="0">
              <a:solidFill>
                <a:srgbClr val="4CE09B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3" name="图片 22" descr="gui_v3_rend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2595" y="1847215"/>
            <a:ext cx="2413635" cy="3730625"/>
          </a:xfrm>
          <a:prstGeom prst="rect">
            <a:avLst/>
          </a:prstGeom>
        </p:spPr>
      </p:pic>
      <p:pic>
        <p:nvPicPr>
          <p:cNvPr id="24" name="图片 23" descr="gui_v3_terrai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480" y="1852295"/>
            <a:ext cx="2409825" cy="37255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10 · FINAL RENDERS</a:t>
            </a:r>
            <a:endParaRPr sz="11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Final Render Results — Two-Parameter Comparison</a:t>
            </a:r>
            <a:endParaRPr sz="27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2176272" cy="0"/>
          </a:xfrm>
          <a:prstGeom prst="line">
            <a:avLst/>
          </a:prstGeom>
          <a:ln w="254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326880" y="45720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v3 Recursive L-system + True Bridson</a:t>
            </a:r>
            <a:endParaRPr sz="10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81360" y="64556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10 / 12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Crystal Cavern  ·  ZJU 2026  ·  Prof. Xiaosong Yang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6640" y="1965390"/>
            <a:ext cx="5510400" cy="3110100"/>
          </a:xfrm>
          <a:prstGeom prst="rect">
            <a:avLst/>
          </a:prstGeom>
          <a:solidFill>
            <a:srgbClr val="0A0E1A"/>
          </a:solidFill>
          <a:ln w="9525">
            <a:solidFill>
              <a:srgbClr val="7B2F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nd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77390"/>
            <a:ext cx="5486400" cy="30861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60200" y="1965390"/>
            <a:ext cx="5510400" cy="3110100"/>
          </a:xfrm>
          <a:prstGeom prst="rect">
            <a:avLst/>
          </a:prstGeom>
          <a:solidFill>
            <a:srgbClr val="0A0E1A"/>
          </a:solidFill>
          <a:ln w="9525">
            <a:solidFill>
              <a:srgbClr val="FF4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977390"/>
            <a:ext cx="5486400" cy="30861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565099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7B2FF7"/>
                </a:solidFill>
                <a:latin typeface="微软雅黑"/>
                <a:ea typeface="微软雅黑"/>
                <a:cs typeface="微软雅黑"/>
              </a:rPr>
              <a:t>Amethyst Cavern · seed=2026 · 56 crystals</a:t>
            </a:r>
            <a:endParaRPr sz="1300" b="1">
              <a:solidFill>
                <a:srgbClr val="7B2FF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72200" y="565099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FF4D6B"/>
                </a:solidFill>
                <a:latin typeface="微软雅黑"/>
                <a:ea typeface="微软雅黑"/>
                <a:cs typeface="微软雅黑"/>
              </a:rPr>
              <a:t>Ruby Vault · seed=7777 · 56 crystals</a:t>
            </a:r>
            <a:endParaRPr sz="1300" b="1">
              <a:solidFill>
                <a:srgbClr val="FF4D6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1920×1080 Arnold EXR · AA=5 / transmission=5 / SSS=3 · Different seed = completely different cave</a:t>
            </a:r>
            <a:endParaRPr sz="110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11 · ANIMATION</a:t>
            </a:r>
            <a:endParaRPr sz="11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Animation Results — 960-Frame Fly-Through + 56 Crystals Growing</a:t>
            </a:r>
            <a:endParaRPr sz="27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2176272" cy="0"/>
          </a:xfrm>
          <a:prstGeom prst="line">
            <a:avLst/>
          </a:prstGeom>
          <a:ln w="254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326880" y="45720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0A0E1A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v2→v3 Dynamic Camera</a:t>
            </a:r>
            <a:endParaRPr sz="10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81360" y="64556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11 / 12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Crystal Cavern  ·  ZJU 2026  ·  Prof. Xiaosong Yang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6640" y="1497046"/>
            <a:ext cx="2721480" cy="1541332"/>
          </a:xfrm>
          <a:prstGeom prst="rect">
            <a:avLst/>
          </a:prstGeom>
          <a:solidFill>
            <a:srgbClr val="0A0E1A"/>
          </a:solidFill>
          <a:ln w="952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y_frame_000_entranc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9046"/>
            <a:ext cx="2697480" cy="15173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081528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Frame 000 · Entrance overview</a:t>
            </a:r>
            <a:endParaRPr sz="105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343848" y="1497046"/>
            <a:ext cx="2721480" cy="1541332"/>
          </a:xfrm>
          <a:prstGeom prst="rect">
            <a:avLst/>
          </a:prstGeom>
          <a:solidFill>
            <a:srgbClr val="0A0E1A"/>
          </a:solidFill>
          <a:ln w="9525">
            <a:solidFill>
              <a:srgbClr val="B38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ly_frame_360_close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848" y="1509046"/>
            <a:ext cx="2697480" cy="15173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55848" y="3081528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>
                <a:solidFill>
                  <a:srgbClr val="B388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Frame 360 · Close pass through crystals</a:t>
            </a:r>
            <a:endParaRPr sz="1050" b="1">
              <a:solidFill>
                <a:srgbClr val="B388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151056" y="1497046"/>
            <a:ext cx="2721480" cy="1541332"/>
          </a:xfrm>
          <a:prstGeom prst="rect">
            <a:avLst/>
          </a:prstGeom>
          <a:solidFill>
            <a:srgbClr val="0A0E1A"/>
          </a:solidFill>
          <a:ln w="9525">
            <a:solidFill>
              <a:srgbClr val="7B2F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ly_frame_600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3056" y="1509046"/>
            <a:ext cx="2697480" cy="15173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63056" y="3081528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>
                <a:solidFill>
                  <a:srgbClr val="7B2FF7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Frame 600 · Deep cave turn</a:t>
            </a:r>
            <a:endParaRPr sz="1050" b="1">
              <a:solidFill>
                <a:srgbClr val="7B2FF7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958264" y="1497046"/>
            <a:ext cx="2721480" cy="1541332"/>
          </a:xfrm>
          <a:prstGeom prst="rect">
            <a:avLst/>
          </a:prstGeom>
          <a:solidFill>
            <a:srgbClr val="0A0E1A"/>
          </a:solidFill>
          <a:ln w="9525">
            <a:solidFill>
              <a:srgbClr val="FFC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y_frame_840_w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1509046"/>
            <a:ext cx="2697480" cy="15173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70264" y="3081528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1">
                <a:solidFill>
                  <a:srgbClr val="FFC14D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Frame 840 · Wide establishing shot</a:t>
            </a:r>
            <a:endParaRPr sz="1050" b="1">
              <a:solidFill>
                <a:srgbClr val="FFC14D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548640" y="3794760"/>
            <a:ext cx="11091672" cy="0"/>
          </a:xfrm>
          <a:prstGeom prst="line">
            <a:avLst/>
          </a:prstGeom>
          <a:ln w="9525">
            <a:solidFill>
              <a:srgbClr val="009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402336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960</a:t>
            </a:r>
            <a:endParaRPr sz="40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8640" y="461772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-frame fly-through · 32s at 30fps · Camera path adapts to crystal positions</a:t>
            </a:r>
            <a:endParaRPr sz="120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48640" y="5212080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Entrance dive → close crystal pass → deep turn → rising wide shot · DOF f/3.2 · 35mm</a:t>
            </a:r>
            <a:endParaRPr sz="110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09360" y="402336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7B2FF7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56</a:t>
            </a:r>
            <a:endParaRPr sz="4000" b="1">
              <a:solidFill>
                <a:srgbClr val="7B2FF7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309360" y="461772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 crystals growing · Scale 0→1 · Staggered start frames · 720-frame cycle</a:t>
            </a:r>
            <a:endParaRPr sz="120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309360" y="5212080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168 animCurveTU scale curves · Press ▶ in Maya .ma file to play</a:t>
            </a:r>
            <a:endParaRPr sz="110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12 · AI USAGE &amp; ASSESSMENT</a:t>
            </a:r>
            <a:endParaRPr sz="11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AI Tools · Assessment Mapping · Thank You</a:t>
            </a:r>
            <a:endParaRPr sz="2700" b="1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2176272" cy="0"/>
          </a:xfrm>
          <a:prstGeom prst="line">
            <a:avLst/>
          </a:prstGeom>
          <a:ln w="254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881360" y="645566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12 / 12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9B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Crystal Cavern  ·  ZJU 2026  ·  Prof. Xiaosong Yang</a:t>
            </a:r>
            <a:endParaRPr sz="900" b="0">
              <a:solidFill>
                <a:srgbClr val="8A99B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7B2FF7"/>
                </a:solidFill>
                <a:latin typeface="微软雅黑"/>
                <a:ea typeface="微软雅黑"/>
                <a:cs typeface="微软雅黑"/>
              </a:rPr>
              <a:t>AI Tool Usage Log · With contribution scope</a:t>
            </a:r>
            <a:endParaRPr sz="1400" b="1">
              <a:solidFill>
                <a:srgbClr val="7B2FF7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548640" y="1874519"/>
            <a:ext cx="18288" cy="566928"/>
          </a:xfrm>
          <a:prstGeom prst="line">
            <a:avLst/>
          </a:prstGeom>
          <a:ln w="3175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1920239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0D4FF"/>
                </a:solidFill>
                <a:latin typeface="微软雅黑"/>
                <a:ea typeface="微软雅黑"/>
                <a:cs typeface="微软雅黑"/>
              </a:rPr>
              <a:t>Claude Code</a:t>
            </a:r>
            <a:endParaRPr sz="1300" b="1">
              <a:solidFill>
                <a:srgbClr val="00D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77240" y="2194559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Algorithm design · Code generation · Full refactoring · Scene building</a:t>
            </a:r>
            <a:endParaRPr sz="10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441447"/>
            <a:ext cx="18288" cy="566928"/>
          </a:xfrm>
          <a:prstGeom prst="line">
            <a:avLst/>
          </a:prstGeom>
          <a:ln w="31750">
            <a:solidFill>
              <a:srgbClr val="B38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2487167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B388FF"/>
                </a:solidFill>
                <a:latin typeface="微软雅黑"/>
                <a:ea typeface="微软雅黑"/>
                <a:cs typeface="微软雅黑"/>
              </a:rPr>
              <a:t>Claude MCP</a:t>
            </a:r>
            <a:endParaRPr sz="1300" b="1">
              <a:solidFill>
                <a:srgbClr val="B388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77240" y="2761487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Direct Maya control · 28 MCP skills · Debug diagnostics</a:t>
            </a:r>
            <a:endParaRPr sz="10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548640" y="3008375"/>
            <a:ext cx="18288" cy="566928"/>
          </a:xfrm>
          <a:prstGeom prst="line">
            <a:avLst/>
          </a:prstGeom>
          <a:ln w="31750">
            <a:solidFill>
              <a:srgbClr val="FFC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3054095"/>
            <a:ext cx="182880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b="1">
                <a:solidFill>
                  <a:srgbClr val="FFC14D"/>
                </a:solidFill>
                <a:latin typeface="微软雅黑"/>
                <a:ea typeface="微软雅黑"/>
                <a:cs typeface="微软雅黑"/>
              </a:rPr>
              <a:t>GLM-5.2</a:t>
            </a:r>
            <a:endParaRPr lang="en-US" sz="1300" b="1">
              <a:solidFill>
                <a:srgbClr val="FFC1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7240" y="3328415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Recursive L-system · Bridson implementation · OpenMaya2 optimization · PPT v3</a:t>
            </a:r>
            <a:endParaRPr sz="10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548640" y="3575303"/>
            <a:ext cx="18288" cy="566928"/>
          </a:xfrm>
          <a:prstGeom prst="line">
            <a:avLst/>
          </a:prstGeom>
          <a:ln w="31750">
            <a:solidFill>
              <a:srgbClr val="4CE0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7240" y="3621023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CE09B"/>
                </a:solidFill>
                <a:latin typeface="微软雅黑"/>
                <a:ea typeface="微软雅黑"/>
                <a:cs typeface="微软雅黑"/>
              </a:rPr>
              <a:t>ChatGPT</a:t>
            </a:r>
            <a:endParaRPr sz="1300" b="1">
              <a:solidFill>
                <a:srgbClr val="4CE09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77240" y="3895343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Algorithm selection · Citation verification</a:t>
            </a:r>
            <a:endParaRPr sz="10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9B8"/>
                </a:solidFill>
                <a:latin typeface="微软雅黑"/>
                <a:ea typeface="微软雅黑"/>
                <a:cs typeface="微软雅黑"/>
              </a:rPr>
              <a:t>Disclaimer: AI is implementation tool, not creative agent — design decisions by author, code verified in Maya</a:t>
            </a:r>
            <a:endParaRPr sz="1000" b="0">
              <a:solidFill>
                <a:srgbClr val="8A99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0" y="141732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4CE09B"/>
                </a:solidFill>
                <a:latin typeface="微软雅黑"/>
                <a:ea typeface="微软雅黑"/>
                <a:cs typeface="微软雅黑"/>
              </a:rPr>
              <a:t>Assessment Criteria Mapping</a:t>
            </a:r>
            <a:endParaRPr sz="1400" b="1">
              <a:solidFill>
                <a:srgbClr val="4CE09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00800" y="1874519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FFC14D"/>
                </a:solidFill>
                <a:latin typeface="微软雅黑"/>
                <a:ea typeface="微软雅黑"/>
                <a:cs typeface="微软雅黑"/>
              </a:rPr>
              <a:t>Flow Control &amp; Functions</a:t>
            </a:r>
            <a:endParaRPr sz="1150" b="1">
              <a:solidFill>
                <a:srgbClr val="FFC1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823960" y="1874519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7 modules · 30+ functions</a:t>
            </a:r>
            <a:endParaRPr sz="10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00800" y="2295143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FFC14D"/>
                </a:solidFill>
                <a:latin typeface="微软雅黑"/>
                <a:ea typeface="微软雅黑"/>
                <a:cs typeface="微软雅黑"/>
              </a:rPr>
              <a:t>Data Structures</a:t>
            </a:r>
            <a:endParaRPr sz="1150" b="1">
              <a:solidFill>
                <a:srgbClr val="FFC1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23960" y="2295143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2D heightmap · Seed dicts · Light anchors</a:t>
            </a:r>
            <a:endParaRPr sz="10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400800" y="2715767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FFC14D"/>
                </a:solidFill>
                <a:latin typeface="微软雅黑"/>
                <a:ea typeface="微软雅黑"/>
                <a:cs typeface="微软雅黑"/>
              </a:rPr>
              <a:t>GUI</a:t>
            </a:r>
            <a:endParaRPr sz="1150" b="1">
              <a:solidFill>
                <a:srgbClr val="FFC1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823960" y="2715767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4 tabs · 16 controls</a:t>
            </a:r>
            <a:endParaRPr sz="10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0800" y="3136391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FFC14D"/>
                </a:solidFill>
                <a:latin typeface="微软雅黑"/>
                <a:ea typeface="微软雅黑"/>
                <a:cs typeface="微软雅黑"/>
              </a:rPr>
              <a:t>Algorithm Complexity</a:t>
            </a:r>
            <a:endParaRPr sz="1150" b="1">
              <a:solidFill>
                <a:srgbClr val="FFC1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823960" y="3136391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4 published algorithms · With citations</a:t>
            </a:r>
            <a:endParaRPr sz="10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400800" y="3557015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FFC14D"/>
                </a:solidFill>
                <a:latin typeface="微软雅黑"/>
                <a:ea typeface="微软雅黑"/>
                <a:cs typeface="微软雅黑"/>
              </a:rPr>
              <a:t>Visual Impact</a:t>
            </a:r>
            <a:endParaRPr sz="1150" b="1">
              <a:solidFill>
                <a:srgbClr val="FFC1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823960" y="3557015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Hexagons · 10 gems · Volumetric fog</a:t>
            </a:r>
            <a:endParaRPr sz="10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400800" y="3977639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FFC14D"/>
                </a:solidFill>
                <a:latin typeface="微软雅黑"/>
                <a:ea typeface="微软雅黑"/>
                <a:cs typeface="微软雅黑"/>
              </a:rPr>
              <a:t>Python-Driven Maya</a:t>
            </a:r>
            <a:endParaRPr sz="1150" b="1">
              <a:solidFill>
                <a:srgbClr val="FFC1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823960" y="3977639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One-click generation + animation · Zero manual work</a:t>
            </a:r>
            <a:endParaRPr sz="105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3813048" y="3383280"/>
            <a:ext cx="4572000" cy="4572000"/>
          </a:xfrm>
          <a:prstGeom prst="ellipse">
            <a:avLst/>
          </a:prstGeom>
          <a:solidFill>
            <a:srgbClr val="00D4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0" y="5257800"/>
            <a:ext cx="121916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1">
                <a:solidFill>
                  <a:srgbClr val="00D4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Thank You</a:t>
            </a:r>
            <a:endParaRPr sz="4400" b="1">
              <a:solidFill>
                <a:srgbClr val="00D4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0" y="6035040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F0F4FF"/>
                </a:solidFill>
                <a:latin typeface="微软雅黑"/>
                <a:ea typeface="微软雅黑"/>
                <a:cs typeface="微软雅黑"/>
              </a:rPr>
              <a:t>Crystal Cavern · Innovation Design for Future · ZJU 2026 · Q&amp;A</a:t>
            </a:r>
            <a:endParaRPr sz="1300" b="0">
              <a:solidFill>
                <a:srgbClr val="F0F4F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4164</Words>
  <Application>WPS 文字</Application>
  <PresentationFormat>On-screen Show (4:3)</PresentationFormat>
  <Paragraphs>445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32" baseType="lpstr">
      <vt:lpstr>Arial</vt:lpstr>
      <vt:lpstr>宋体</vt:lpstr>
      <vt:lpstr>Wingdings</vt:lpstr>
      <vt:lpstr>Arial</vt:lpstr>
      <vt:lpstr>微软雅黑</vt:lpstr>
      <vt:lpstr>汉仪旗黑</vt:lpstr>
      <vt:lpstr>Consolas</vt:lpstr>
      <vt:lpstr>Calibri</vt:lpstr>
      <vt:lpstr>Helvetica Neue</vt:lpstr>
      <vt:lpstr>微软雅黑</vt:lpstr>
      <vt:lpstr>宋体</vt:lpstr>
      <vt:lpstr>Arial Unicode MS</vt:lpstr>
      <vt:lpstr>汉仪书宋二KW</vt:lpstr>
      <vt:lpstr>Thonburi</vt:lpstr>
      <vt:lpstr>Consolas</vt:lpstr>
      <vt:lpstr>微软雅黑</vt:lpstr>
      <vt:lpstr>苹方-简</vt:lpstr>
      <vt:lpstr>Apple Color Emoji</vt:lpstr>
      <vt:lpstr>儷宋 Pro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贺想容</cp:lastModifiedBy>
  <cp:revision>2</cp:revision>
  <dcterms:created xsi:type="dcterms:W3CDTF">2026-07-22T11:06:14Z</dcterms:created>
  <dcterms:modified xsi:type="dcterms:W3CDTF">2026-07-22T11:06:14Z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2052-12.1.26026.26026</vt:lpwstr>
  </property>
  <property fmtid="{D5CDD505-2E9C-101B-9397-08002B2CF9AE}" pid="3" name="ICV">
    <vt:lpwstr>DE0CC315FF3388F626A4606A757C7427_42</vt:lpwstr>
  </property>
</Properties>
</file>