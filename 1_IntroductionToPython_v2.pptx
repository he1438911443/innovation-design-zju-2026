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355" r:id="rId6"/>
    <p:sldId id="357" r:id="rId7"/>
    <p:sldId id="381" r:id="rId8"/>
    <p:sldId id="382" r:id="rId9"/>
    <p:sldId id="384" r:id="rId10"/>
    <p:sldId id="386" r:id="rId11"/>
    <p:sldId id="383" r:id="rId12"/>
    <p:sldId id="387" r:id="rId13"/>
    <p:sldId id="360" r:id="rId14"/>
    <p:sldId id="388" r:id="rId15"/>
    <p:sldId id="366" r:id="rId16"/>
    <p:sldId id="367" r:id="rId17"/>
    <p:sldId id="377" r:id="rId18"/>
    <p:sldId id="368" r:id="rId19"/>
    <p:sldId id="369" r:id="rId20"/>
    <p:sldId id="370" r:id="rId21"/>
    <p:sldId id="371" r:id="rId22"/>
    <p:sldId id="372" r:id="rId23"/>
    <p:sldId id="373" r:id="rId24"/>
    <p:sldId id="374" r:id="rId25"/>
    <p:sldId id="376" r:id="rId26"/>
    <p:sldId id="389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782" autoAdjust="0"/>
  </p:normalViewPr>
  <p:slideViewPr>
    <p:cSldViewPr>
      <p:cViewPr varScale="1">
        <p:scale>
          <a:sx n="85" d="100"/>
          <a:sy n="85" d="100"/>
        </p:scale>
        <p:origin x="1230" y="5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2560" y="1066800"/>
            <a:ext cx="7406640" cy="765282"/>
          </a:xfrm>
        </p:spPr>
        <p:txBody>
          <a:bodyPr/>
          <a:lstStyle/>
          <a:p>
            <a:r>
              <a:rPr lang="en-GB" dirty="0"/>
              <a:t>Introduction to Python</a:t>
            </a:r>
            <a:endParaRPr lang="en-US" dirty="0"/>
          </a:p>
        </p:txBody>
      </p:sp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1432560" y="4267200"/>
            <a:ext cx="7406640" cy="2590800"/>
          </a:xfrm>
        </p:spPr>
        <p:txBody>
          <a:bodyPr>
            <a:noAutofit/>
          </a:bodyPr>
          <a:lstStyle/>
          <a:p>
            <a:r>
              <a:rPr lang="en-GB" sz="2000" b="1" dirty="0"/>
              <a:t>Prof Xiaosong Yang</a:t>
            </a:r>
          </a:p>
          <a:p>
            <a:endParaRPr lang="en-GB" sz="2000" b="1" dirty="0"/>
          </a:p>
          <a:p>
            <a:r>
              <a:rPr lang="en-GB" sz="1600" dirty="0"/>
              <a:t>Professor in Computer Animation</a:t>
            </a:r>
          </a:p>
          <a:p>
            <a:endParaRPr lang="en-GB" sz="1600" dirty="0"/>
          </a:p>
          <a:p>
            <a:pPr>
              <a:spcBef>
                <a:spcPts val="0"/>
              </a:spcBef>
            </a:pPr>
            <a:r>
              <a:rPr lang="en-GB" sz="1200" dirty="0"/>
              <a:t>National Centre for Computer Animation</a:t>
            </a:r>
          </a:p>
          <a:p>
            <a:pPr>
              <a:spcBef>
                <a:spcPts val="0"/>
              </a:spcBef>
            </a:pPr>
            <a:r>
              <a:rPr lang="en-GB" sz="1200" dirty="0"/>
              <a:t>Faculty of Media and Communication</a:t>
            </a:r>
          </a:p>
          <a:p>
            <a:pPr>
              <a:spcBef>
                <a:spcPts val="0"/>
              </a:spcBef>
            </a:pPr>
            <a:r>
              <a:rPr lang="en-GB" sz="1200" dirty="0"/>
              <a:t>Bournemouth University</a:t>
            </a:r>
          </a:p>
          <a:p>
            <a:pPr>
              <a:spcBef>
                <a:spcPts val="0"/>
              </a:spcBef>
            </a:pPr>
            <a:r>
              <a:rPr lang="en-GB" sz="1200" dirty="0"/>
              <a:t>Email: </a:t>
            </a:r>
            <a:r>
              <a:rPr lang="en-GB" sz="1200" dirty="0" err="1"/>
              <a:t>xyang@bournemouth.ac.uk</a:t>
            </a:r>
            <a:r>
              <a:rPr lang="en-GB" sz="1200" dirty="0"/>
              <a:t> </a:t>
            </a:r>
          </a:p>
          <a:p>
            <a:pPr>
              <a:spcBef>
                <a:spcPts val="0"/>
              </a:spcBef>
            </a:pPr>
            <a:r>
              <a:rPr lang="en-GB" sz="1200" dirty="0"/>
              <a:t>https://staffprofiles.bournemouth.ac.uk/display/xyang</a:t>
            </a:r>
            <a:endParaRPr lang="en-GB" sz="2000" b="1" dirty="0"/>
          </a:p>
          <a:p>
            <a:endParaRPr lang="en-GB" sz="2000" dirty="0"/>
          </a:p>
          <a:p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32560" y="1926264"/>
            <a:ext cx="7406640" cy="4169736"/>
          </a:xfrm>
        </p:spPr>
        <p:txBody>
          <a:bodyPr>
            <a:noAutofit/>
          </a:bodyPr>
          <a:lstStyle/>
          <a:p>
            <a:pPr marL="541782" indent="-514350" algn="just">
              <a:buAutoNum type="arabicPeriod"/>
            </a:pPr>
            <a:r>
              <a:rPr lang="en-GB" sz="2000" dirty="0"/>
              <a:t>Python programming for the absolute beginner</a:t>
            </a:r>
          </a:p>
          <a:p>
            <a:pPr marL="541782" indent="-514350" algn="just">
              <a:buFont typeface="Wingdings 2"/>
              <a:buAutoNum type="arabicPeriod"/>
            </a:pPr>
            <a:r>
              <a:rPr lang="en-GB" sz="2000" dirty="0"/>
              <a:t>Python programming: an introduction to computer science</a:t>
            </a:r>
          </a:p>
          <a:p>
            <a:pPr marL="541782" indent="-514350" algn="just">
              <a:buFont typeface="Wingdings 2"/>
              <a:buAutoNum type="arabicPeriod"/>
            </a:pPr>
            <a:r>
              <a:rPr lang="en-GB" sz="2000" dirty="0" err="1">
                <a:solidFill>
                  <a:srgbClr val="FF0000"/>
                </a:solidFill>
              </a:rPr>
              <a:t>Tutorialspoint</a:t>
            </a:r>
            <a:r>
              <a:rPr lang="en-GB" sz="2000" dirty="0">
                <a:solidFill>
                  <a:srgbClr val="FF0000"/>
                </a:solidFill>
              </a:rPr>
              <a:t>, Python Programming, Python Basic Tutorial, Python Advanced Tutorial</a:t>
            </a:r>
          </a:p>
          <a:p>
            <a:pPr lvl="2" algn="just"/>
            <a:r>
              <a:rPr lang="en-GB" sz="1800" dirty="0">
                <a:solidFill>
                  <a:srgbClr val="FF0000"/>
                </a:solidFill>
              </a:rPr>
              <a:t>http://www.tutorialspoint.com/python/python_basic_syntax.htm</a:t>
            </a:r>
          </a:p>
          <a:p>
            <a:pPr marL="541782" indent="-514350" algn="just">
              <a:buFont typeface="Wingdings 2"/>
              <a:buAutoNum type="arabicPeriod"/>
            </a:pPr>
            <a:r>
              <a:rPr lang="en-GB" sz="2000" dirty="0"/>
              <a:t>Autodesk Maya Python API</a:t>
            </a:r>
          </a:p>
          <a:p>
            <a:pPr marL="541782" indent="-514350" algn="just">
              <a:buFont typeface="Wingdings 2"/>
              <a:buAutoNum type="arabicPeriod"/>
            </a:pPr>
            <a:r>
              <a:rPr lang="en-GB" sz="2000" dirty="0"/>
              <a:t>Maya Programming with Python Cookbook</a:t>
            </a:r>
          </a:p>
          <a:p>
            <a:pPr marL="541782" indent="-514350" algn="just">
              <a:buAutoNum type="arabicPeriod"/>
            </a:pPr>
            <a:endParaRPr lang="en-GB" sz="20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432560" y="1066800"/>
            <a:ext cx="7406640" cy="76528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marL="541782" indent="-514350"/>
            <a:r>
              <a:rPr lang="en-GB" sz="4400" b="1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179123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1432560" y="1066800"/>
            <a:ext cx="7406640" cy="76528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GB" dirty="0"/>
              <a:t>Python Programming</a:t>
            </a:r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2560" y="2286000"/>
            <a:ext cx="7243156" cy="2647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91435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1432560" y="1066800"/>
            <a:ext cx="7406640" cy="76528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GB" dirty="0"/>
              <a:t>Python – Script Editor in Maya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4C6650-D07A-5A58-2F84-E77BB77987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981200"/>
            <a:ext cx="6553200" cy="4163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225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B29E5A-9417-48E9-8116-F683665409B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3333" t="69675"/>
          <a:stretch/>
        </p:blipFill>
        <p:spPr>
          <a:xfrm>
            <a:off x="1371600" y="2177664"/>
            <a:ext cx="6090727" cy="3200400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1432560" y="1066800"/>
            <a:ext cx="7406640" cy="76528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GB" dirty="0"/>
              <a:t>Python – Script Editor in Maya</a:t>
            </a:r>
            <a:endParaRPr lang="en-US" dirty="0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F83542F8-EB9F-4539-A79D-E6FEF53986B1}"/>
              </a:ext>
            </a:extLst>
          </p:cNvPr>
          <p:cNvSpPr/>
          <p:nvPr/>
        </p:nvSpPr>
        <p:spPr>
          <a:xfrm flipH="1">
            <a:off x="7696200" y="4997064"/>
            <a:ext cx="8382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ED95833-281C-41FF-8025-80FC347DA5FE}"/>
              </a:ext>
            </a:extLst>
          </p:cNvPr>
          <p:cNvSpPr/>
          <p:nvPr/>
        </p:nvSpPr>
        <p:spPr>
          <a:xfrm>
            <a:off x="6943099" y="4851747"/>
            <a:ext cx="609600" cy="61288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87479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F125697-C43F-933B-5A9B-1BBED7BC43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7787" y="2295525"/>
            <a:ext cx="6448425" cy="2266950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1432560" y="1066800"/>
            <a:ext cx="7406640" cy="76528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GB" dirty="0"/>
              <a:t>Python – Script Editor in Maya</a:t>
            </a:r>
            <a:endParaRPr lang="en-US" dirty="0"/>
          </a:p>
        </p:txBody>
      </p:sp>
      <p:sp>
        <p:nvSpPr>
          <p:cNvPr id="8" name="Subtitle 1">
            <a:extLst>
              <a:ext uri="{FF2B5EF4-FFF2-40B4-BE49-F238E27FC236}">
                <a16:creationId xmlns:a16="http://schemas.microsoft.com/office/drawing/2014/main" id="{F64F6F80-C923-4008-8384-68B2779727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2560" y="4724402"/>
            <a:ext cx="7406640" cy="1578936"/>
          </a:xfrm>
        </p:spPr>
        <p:txBody>
          <a:bodyPr>
            <a:noAutofit/>
          </a:bodyPr>
          <a:lstStyle/>
          <a:p>
            <a:r>
              <a:rPr lang="en-GB" dirty="0"/>
              <a:t>In the lower section, select “Python” tab for enter python script. </a:t>
            </a:r>
          </a:p>
          <a:p>
            <a:r>
              <a:rPr lang="en-GB" dirty="0"/>
              <a:t>“MEL” is for MEL script. </a:t>
            </a:r>
          </a:p>
          <a:p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AF43A8-F35F-4027-9CAA-7012FF412D53}"/>
              </a:ext>
            </a:extLst>
          </p:cNvPr>
          <p:cNvSpPr/>
          <p:nvPr/>
        </p:nvSpPr>
        <p:spPr>
          <a:xfrm>
            <a:off x="2057400" y="3581400"/>
            <a:ext cx="685800" cy="533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3037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1432560" y="1066800"/>
            <a:ext cx="7406640" cy="76528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GB" dirty="0"/>
              <a:t>Interface in Script Editor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18D86F-6870-D2DB-C48B-7EE783D65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7787" y="2295525"/>
            <a:ext cx="6448425" cy="226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8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1432560" y="1066800"/>
            <a:ext cx="7406640" cy="76528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GB" dirty="0"/>
              <a:t>Python – Keyboard</a:t>
            </a:r>
            <a:endParaRPr lang="en-US" dirty="0"/>
          </a:p>
        </p:txBody>
      </p:sp>
      <p:pic>
        <p:nvPicPr>
          <p:cNvPr id="1026" name="Picture 2" descr="Image result for uk keyboard">
            <a:extLst>
              <a:ext uri="{FF2B5EF4-FFF2-40B4-BE49-F238E27FC236}">
                <a16:creationId xmlns:a16="http://schemas.microsoft.com/office/drawing/2014/main" id="{82866D80-1AA3-4C0E-BC3C-D34F0AA2CB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69" b="13200"/>
          <a:stretch/>
        </p:blipFill>
        <p:spPr bwMode="auto">
          <a:xfrm>
            <a:off x="1295400" y="2246569"/>
            <a:ext cx="7406641" cy="2741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F83542F8-EB9F-4539-A79D-E6FEF53986B1}"/>
              </a:ext>
            </a:extLst>
          </p:cNvPr>
          <p:cNvSpPr/>
          <p:nvPr/>
        </p:nvSpPr>
        <p:spPr>
          <a:xfrm flipH="1">
            <a:off x="8534400" y="4038600"/>
            <a:ext cx="52179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5EB28B5D-E6DE-4FC2-9B28-75CC42AD0BEF}"/>
              </a:ext>
            </a:extLst>
          </p:cNvPr>
          <p:cNvSpPr/>
          <p:nvPr/>
        </p:nvSpPr>
        <p:spPr>
          <a:xfrm flipV="1">
            <a:off x="5610773" y="4173380"/>
            <a:ext cx="304800" cy="94963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8FCF9C8E-5B6F-488B-8227-C68E3A2FA7FF}"/>
              </a:ext>
            </a:extLst>
          </p:cNvPr>
          <p:cNvSpPr/>
          <p:nvPr/>
        </p:nvSpPr>
        <p:spPr>
          <a:xfrm>
            <a:off x="678179" y="3388803"/>
            <a:ext cx="685800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ED95833-281C-41FF-8025-80FC347DA5FE}"/>
              </a:ext>
            </a:extLst>
          </p:cNvPr>
          <p:cNvSpPr/>
          <p:nvPr/>
        </p:nvSpPr>
        <p:spPr>
          <a:xfrm>
            <a:off x="8001000" y="3926494"/>
            <a:ext cx="533400" cy="72170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566C197-1065-46B8-9F92-20A983E83608}"/>
              </a:ext>
            </a:extLst>
          </p:cNvPr>
          <p:cNvSpPr/>
          <p:nvPr/>
        </p:nvSpPr>
        <p:spPr>
          <a:xfrm rot="5400000">
            <a:off x="5496473" y="3400974"/>
            <a:ext cx="533400" cy="81805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2C5AC54-CF03-495F-B074-A2D8448A3DAC}"/>
              </a:ext>
            </a:extLst>
          </p:cNvPr>
          <p:cNvSpPr/>
          <p:nvPr/>
        </p:nvSpPr>
        <p:spPr>
          <a:xfrm rot="5400000">
            <a:off x="1554478" y="3154681"/>
            <a:ext cx="457201" cy="70104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2460AB2-5812-4DAF-A327-97339E43F0E3}"/>
              </a:ext>
            </a:extLst>
          </p:cNvPr>
          <p:cNvSpPr/>
          <p:nvPr/>
        </p:nvSpPr>
        <p:spPr>
          <a:xfrm rot="5400000">
            <a:off x="3342560" y="3248740"/>
            <a:ext cx="630080" cy="228600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F1D4865D-2CF6-40EC-B78F-F5D599D4CAD1}"/>
              </a:ext>
            </a:extLst>
          </p:cNvPr>
          <p:cNvSpPr/>
          <p:nvPr/>
        </p:nvSpPr>
        <p:spPr>
          <a:xfrm flipV="1">
            <a:off x="3525346" y="4841562"/>
            <a:ext cx="304800" cy="41623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A4F5FDF-35F6-4753-AA26-26F7E9F75205}"/>
              </a:ext>
            </a:extLst>
          </p:cNvPr>
          <p:cNvSpPr/>
          <p:nvPr/>
        </p:nvSpPr>
        <p:spPr>
          <a:xfrm>
            <a:off x="593480" y="2957200"/>
            <a:ext cx="685800" cy="4316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tx1"/>
                </a:solidFill>
              </a:rPr>
              <a:t>Tab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78F4F6-02C7-4EE2-9A8C-2F5EB9173FC0}"/>
              </a:ext>
            </a:extLst>
          </p:cNvPr>
          <p:cNvSpPr/>
          <p:nvPr/>
        </p:nvSpPr>
        <p:spPr>
          <a:xfrm>
            <a:off x="3059169" y="5352898"/>
            <a:ext cx="1237154" cy="4316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tx1"/>
                </a:solidFill>
              </a:rPr>
              <a:t>Space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4361B43-4B20-4316-B9CE-38A7FB6D3B9A}"/>
              </a:ext>
            </a:extLst>
          </p:cNvPr>
          <p:cNvSpPr/>
          <p:nvPr/>
        </p:nvSpPr>
        <p:spPr>
          <a:xfrm>
            <a:off x="5149140" y="5186923"/>
            <a:ext cx="1377129" cy="4316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tx1"/>
                </a:solidFill>
              </a:rPr>
              <a:t>Line break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E5FFC1A-1658-49B7-943B-61BD867D7F49}"/>
              </a:ext>
            </a:extLst>
          </p:cNvPr>
          <p:cNvSpPr/>
          <p:nvPr/>
        </p:nvSpPr>
        <p:spPr>
          <a:xfrm>
            <a:off x="7679061" y="4942456"/>
            <a:ext cx="1377129" cy="4316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tx1"/>
                </a:solidFill>
              </a:rPr>
              <a:t>Execute Enter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7E6F86-84A2-445E-9169-7C820608DD20}"/>
              </a:ext>
            </a:extLst>
          </p:cNvPr>
          <p:cNvSpPr/>
          <p:nvPr/>
        </p:nvSpPr>
        <p:spPr>
          <a:xfrm>
            <a:off x="2912152" y="5779829"/>
            <a:ext cx="1531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'</a:t>
            </a:r>
            <a:r>
              <a:rPr lang="en-GB" b="1" dirty="0" err="1">
                <a:solidFill>
                  <a:srgbClr val="FF0000"/>
                </a:solidFill>
              </a:rPr>
              <a:t>Hello</a:t>
            </a:r>
            <a:r>
              <a:rPr lang="en-GB" dirty="0" err="1">
                <a:solidFill>
                  <a:srgbClr val="FF0000"/>
                </a:solidFill>
              </a:rPr>
              <a:t>␣</a:t>
            </a:r>
            <a:r>
              <a:rPr lang="en-GB" b="1" dirty="0" err="1">
                <a:solidFill>
                  <a:srgbClr val="FF0000"/>
                </a:solidFill>
              </a:rPr>
              <a:t>world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04301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Laptop Users, Here are 6 Reasons Why You Should Buy an External Keyboard">
            <a:extLst>
              <a:ext uri="{FF2B5EF4-FFF2-40B4-BE49-F238E27FC236}">
                <a16:creationId xmlns:a16="http://schemas.microsoft.com/office/drawing/2014/main" id="{7D49EBCB-846E-21FC-3B81-1F0CE8D74C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9680" y="2007742"/>
            <a:ext cx="7772400" cy="3400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1432560" y="1066800"/>
            <a:ext cx="7406640" cy="76528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GB" dirty="0"/>
              <a:t>Python – Keyboard</a:t>
            </a:r>
            <a:endParaRPr lang="en-US" dirty="0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F83542F8-EB9F-4539-A79D-E6FEF53986B1}"/>
              </a:ext>
            </a:extLst>
          </p:cNvPr>
          <p:cNvSpPr/>
          <p:nvPr/>
        </p:nvSpPr>
        <p:spPr>
          <a:xfrm>
            <a:off x="4800600" y="3429000"/>
            <a:ext cx="296019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5EB28B5D-E6DE-4FC2-9B28-75CC42AD0BEF}"/>
              </a:ext>
            </a:extLst>
          </p:cNvPr>
          <p:cNvSpPr/>
          <p:nvPr/>
        </p:nvSpPr>
        <p:spPr>
          <a:xfrm flipV="1">
            <a:off x="8442010" y="3970376"/>
            <a:ext cx="320989" cy="151602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566C197-1065-46B8-9F92-20A983E83608}"/>
              </a:ext>
            </a:extLst>
          </p:cNvPr>
          <p:cNvSpPr/>
          <p:nvPr/>
        </p:nvSpPr>
        <p:spPr>
          <a:xfrm rot="5400000">
            <a:off x="8327711" y="3197970"/>
            <a:ext cx="533400" cy="81805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4361B43-4B20-4316-B9CE-38A7FB6D3B9A}"/>
              </a:ext>
            </a:extLst>
          </p:cNvPr>
          <p:cNvSpPr/>
          <p:nvPr/>
        </p:nvSpPr>
        <p:spPr>
          <a:xfrm>
            <a:off x="8001000" y="5583827"/>
            <a:ext cx="1377129" cy="4316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tx1"/>
                </a:solidFill>
              </a:rPr>
              <a:t>Line break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E5FFC1A-1658-49B7-943B-61BD867D7F49}"/>
              </a:ext>
            </a:extLst>
          </p:cNvPr>
          <p:cNvSpPr/>
          <p:nvPr/>
        </p:nvSpPr>
        <p:spPr>
          <a:xfrm>
            <a:off x="2093325" y="3363861"/>
            <a:ext cx="2590800" cy="43160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tx1"/>
                </a:solidFill>
              </a:rPr>
              <a:t>Execute: </a:t>
            </a:r>
            <a:r>
              <a:rPr lang="en-GB" sz="2000" b="1" dirty="0" err="1">
                <a:solidFill>
                  <a:schemeClr val="tx1"/>
                </a:solidFill>
              </a:rPr>
              <a:t>Ctl</a:t>
            </a:r>
            <a:r>
              <a:rPr lang="en-GB" sz="2000" b="1" dirty="0">
                <a:solidFill>
                  <a:schemeClr val="tx1"/>
                </a:solidFill>
              </a:rPr>
              <a:t> + Enter</a:t>
            </a:r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3D03D188-E21A-EAAB-7D07-8970C5E35BD5}"/>
              </a:ext>
            </a:extLst>
          </p:cNvPr>
          <p:cNvSpPr/>
          <p:nvPr/>
        </p:nvSpPr>
        <p:spPr>
          <a:xfrm>
            <a:off x="2093325" y="3873697"/>
            <a:ext cx="320989" cy="86428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677420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1432560" y="1066800"/>
            <a:ext cx="7406640" cy="76528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GB" dirty="0"/>
              <a:t>Hello world example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360199" y="3370113"/>
            <a:ext cx="1905000" cy="6581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tx1"/>
                </a:solidFill>
              </a:rPr>
              <a:t>Python script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14868" y="3893450"/>
            <a:ext cx="1363980" cy="6581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tx1"/>
                </a:solidFill>
              </a:rPr>
              <a:t>Output 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81400" y="3048000"/>
            <a:ext cx="4179599" cy="16002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GB" sz="2400" b="1" dirty="0">
                <a:solidFill>
                  <a:srgbClr val="FF0000"/>
                </a:solidFill>
              </a:rPr>
              <a:t>print('</a:t>
            </a:r>
            <a:r>
              <a:rPr lang="en-GB" sz="2400" b="1" dirty="0" err="1">
                <a:solidFill>
                  <a:srgbClr val="FF0000"/>
                </a:solidFill>
              </a:rPr>
              <a:t>Hello</a:t>
            </a:r>
            <a:r>
              <a:rPr lang="en-GB" sz="2400" dirty="0" err="1">
                <a:solidFill>
                  <a:srgbClr val="FF0000"/>
                </a:solidFill>
              </a:rPr>
              <a:t>␣</a:t>
            </a:r>
            <a:r>
              <a:rPr lang="en-GB" sz="2400" b="1" dirty="0" err="1">
                <a:solidFill>
                  <a:srgbClr val="FF0000"/>
                </a:solidFill>
              </a:rPr>
              <a:t>World</a:t>
            </a:r>
            <a:r>
              <a:rPr lang="en-GB" sz="2400" b="1" dirty="0">
                <a:solidFill>
                  <a:srgbClr val="FF0000"/>
                </a:solidFill>
              </a:rPr>
              <a:t>!')</a:t>
            </a:r>
          </a:p>
          <a:p>
            <a:pPr>
              <a:lnSpc>
                <a:spcPct val="150000"/>
              </a:lnSpc>
            </a:pPr>
            <a:r>
              <a:rPr lang="en-GB" sz="2400" b="1" dirty="0" err="1"/>
              <a:t>Hello</a:t>
            </a:r>
            <a:r>
              <a:rPr lang="en-GB" sz="2400" dirty="0" err="1"/>
              <a:t>␣</a:t>
            </a:r>
            <a:r>
              <a:rPr lang="en-GB" sz="2400" b="1" dirty="0" err="1"/>
              <a:t>World</a:t>
            </a:r>
            <a:r>
              <a:rPr lang="en-GB" sz="2400" b="1" dirty="0"/>
              <a:t>!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AAD1A42E-94A0-4C4A-9572-F43CC9023468}"/>
              </a:ext>
            </a:extLst>
          </p:cNvPr>
          <p:cNvSpPr/>
          <p:nvPr/>
        </p:nvSpPr>
        <p:spPr>
          <a:xfrm>
            <a:off x="3112799" y="3629763"/>
            <a:ext cx="381000" cy="1698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71E4BB6-3956-4918-B293-AFB3B0A77685}"/>
              </a:ext>
            </a:extLst>
          </p:cNvPr>
          <p:cNvSpPr/>
          <p:nvPr/>
        </p:nvSpPr>
        <p:spPr>
          <a:xfrm>
            <a:off x="3112799" y="4137576"/>
            <a:ext cx="381000" cy="1698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5F64898-E8FD-407E-B509-09A3F0A3C0F0}"/>
              </a:ext>
            </a:extLst>
          </p:cNvPr>
          <p:cNvSpPr/>
          <p:nvPr/>
        </p:nvSpPr>
        <p:spPr>
          <a:xfrm>
            <a:off x="1777379" y="5566249"/>
            <a:ext cx="569022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Case sensitive: print is different from PRINT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Python text (string of characters) - quotation marks</a:t>
            </a:r>
          </a:p>
          <a:p>
            <a:r>
              <a:rPr lang="en-GB" dirty="0"/>
              <a:t>	difference between      print     ‘print’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B98B47E-3B43-CD84-C19E-7E49073E4F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1131738"/>
            <a:ext cx="3990975" cy="2238375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B86FDBA-46CA-1BE5-DD2C-EC6FA7BB9DC2}"/>
              </a:ext>
            </a:extLst>
          </p:cNvPr>
          <p:cNvSpPr/>
          <p:nvPr/>
        </p:nvSpPr>
        <p:spPr>
          <a:xfrm>
            <a:off x="4175760" y="1867490"/>
            <a:ext cx="1905000" cy="6581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tx1"/>
                </a:solidFill>
              </a:rPr>
              <a:t>Output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EEAF27D-A34C-D361-61B8-D55958104D81}"/>
              </a:ext>
            </a:extLst>
          </p:cNvPr>
          <p:cNvSpPr/>
          <p:nvPr/>
        </p:nvSpPr>
        <p:spPr>
          <a:xfrm>
            <a:off x="4114800" y="2581825"/>
            <a:ext cx="1994849" cy="6581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tx1"/>
                </a:solidFill>
              </a:rPr>
              <a:t>Python script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4E29B026-5D5F-CAC8-910D-01E35762A8B1}"/>
              </a:ext>
            </a:extLst>
          </p:cNvPr>
          <p:cNvSpPr/>
          <p:nvPr/>
        </p:nvSpPr>
        <p:spPr>
          <a:xfrm>
            <a:off x="5928360" y="2127140"/>
            <a:ext cx="381000" cy="1698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46C42CD0-484D-9B58-8508-605015068C18}"/>
              </a:ext>
            </a:extLst>
          </p:cNvPr>
          <p:cNvSpPr/>
          <p:nvPr/>
        </p:nvSpPr>
        <p:spPr>
          <a:xfrm>
            <a:off x="5943600" y="2825951"/>
            <a:ext cx="381000" cy="1698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36304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Laptop Users, Here are 6 Reasons Why You Should Buy an External Keyboard">
            <a:extLst>
              <a:ext uri="{FF2B5EF4-FFF2-40B4-BE49-F238E27FC236}">
                <a16:creationId xmlns:a16="http://schemas.microsoft.com/office/drawing/2014/main" id="{7D49EBCB-846E-21FC-3B81-1F0CE8D74C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4705132"/>
            <a:ext cx="4008120" cy="1753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1432560" y="1066800"/>
            <a:ext cx="7406640" cy="76528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GB" dirty="0"/>
              <a:t>Python – Keyboard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E5FFC1A-1658-49B7-943B-61BD867D7F49}"/>
              </a:ext>
            </a:extLst>
          </p:cNvPr>
          <p:cNvSpPr/>
          <p:nvPr/>
        </p:nvSpPr>
        <p:spPr>
          <a:xfrm>
            <a:off x="1535324" y="5085277"/>
            <a:ext cx="3332480" cy="43160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tx1"/>
                </a:solidFill>
              </a:rPr>
              <a:t>Zoom in or out: </a:t>
            </a:r>
            <a:r>
              <a:rPr lang="en-GB" sz="2000" b="1" dirty="0" err="1">
                <a:solidFill>
                  <a:schemeClr val="tx1"/>
                </a:solidFill>
              </a:rPr>
              <a:t>Ctl</a:t>
            </a:r>
            <a:r>
              <a:rPr lang="en-GB" sz="2000" b="1" dirty="0">
                <a:solidFill>
                  <a:schemeClr val="tx1"/>
                </a:solidFill>
              </a:rPr>
              <a:t> + Scroll</a:t>
            </a:r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3D03D188-E21A-EAAB-7D07-8970C5E35BD5}"/>
              </a:ext>
            </a:extLst>
          </p:cNvPr>
          <p:cNvSpPr/>
          <p:nvPr/>
        </p:nvSpPr>
        <p:spPr>
          <a:xfrm>
            <a:off x="1676401" y="5743285"/>
            <a:ext cx="228600" cy="30480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2050" name="Picture 2" descr="Computer Mouse Scroll Wheel Point And Click Scrolling Mouse Button PNG,  Clipart, Button, Computer Component, Computer">
            <a:extLst>
              <a:ext uri="{FF2B5EF4-FFF2-40B4-BE49-F238E27FC236}">
                <a16:creationId xmlns:a16="http://schemas.microsoft.com/office/drawing/2014/main" id="{B99DC1DF-328E-BF4A-6548-10F16B723D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5021760"/>
            <a:ext cx="1911116" cy="1409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F83542F8-EB9F-4539-A79D-E6FEF53986B1}"/>
              </a:ext>
            </a:extLst>
          </p:cNvPr>
          <p:cNvSpPr/>
          <p:nvPr/>
        </p:nvSpPr>
        <p:spPr>
          <a:xfrm>
            <a:off x="3571411" y="5521960"/>
            <a:ext cx="296019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EA2EDF-A7BC-1BA1-BFD9-FF12F89C7C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2560" y="1930133"/>
            <a:ext cx="6515100" cy="270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123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1432560" y="1066800"/>
            <a:ext cx="7406640" cy="76528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GB" b="1" dirty="0"/>
              <a:t>Text</a:t>
            </a:r>
            <a:r>
              <a:rPr lang="en-GB" dirty="0"/>
              <a:t>: a string of characters </a:t>
            </a:r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3560136"/>
          </a:xfrm>
        </p:spPr>
        <p:txBody>
          <a:bodyPr>
            <a:noAutofit/>
          </a:bodyPr>
          <a:lstStyle/>
          <a:p>
            <a:endParaRPr lang="en-GB" sz="2400" i="1" dirty="0"/>
          </a:p>
          <a:p>
            <a:endParaRPr lang="en-GB" sz="2400" i="1" dirty="0"/>
          </a:p>
          <a:p>
            <a:endParaRPr lang="en-GB" sz="2400" i="1" dirty="0"/>
          </a:p>
        </p:txBody>
      </p:sp>
      <p:sp>
        <p:nvSpPr>
          <p:cNvPr id="4" name="Rounded Rectangle 3"/>
          <p:cNvSpPr/>
          <p:nvPr/>
        </p:nvSpPr>
        <p:spPr>
          <a:xfrm>
            <a:off x="3505200" y="2008716"/>
            <a:ext cx="2362200" cy="561131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GB" sz="2400" dirty="0"/>
              <a:t>'</a:t>
            </a:r>
            <a:r>
              <a:rPr lang="en-GB" sz="2400" b="1" dirty="0" err="1"/>
              <a:t>Hello,</a:t>
            </a:r>
            <a:r>
              <a:rPr lang="en-GB" sz="2400" dirty="0" err="1"/>
              <a:t>␣</a:t>
            </a:r>
            <a:r>
              <a:rPr lang="en-GB" sz="2400" b="1" dirty="0" err="1"/>
              <a:t>world</a:t>
            </a:r>
            <a:r>
              <a:rPr lang="en-GB" sz="2400" b="1" dirty="0"/>
              <a:t>!</a:t>
            </a:r>
            <a:r>
              <a:rPr lang="en-GB" sz="2400" dirty="0"/>
              <a:t>'</a:t>
            </a:r>
            <a:endParaRPr lang="en-GB" sz="2400" b="1" dirty="0"/>
          </a:p>
        </p:txBody>
      </p:sp>
      <p:sp>
        <p:nvSpPr>
          <p:cNvPr id="3" name="Rectangle 2"/>
          <p:cNvSpPr/>
          <p:nvPr/>
        </p:nvSpPr>
        <p:spPr>
          <a:xfrm>
            <a:off x="3158112" y="2836743"/>
            <a:ext cx="270510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i="1" dirty="0"/>
              <a:t>type ('Hello, world!')</a:t>
            </a:r>
          </a:p>
          <a:p>
            <a:r>
              <a:rPr lang="en-GB" i="1" dirty="0"/>
              <a:t>&lt;type ‘</a:t>
            </a:r>
            <a:r>
              <a:rPr lang="en-GB" i="1" dirty="0" err="1"/>
              <a:t>str</a:t>
            </a:r>
            <a:r>
              <a:rPr lang="en-GB" i="1" dirty="0"/>
              <a:t>’&gt;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8112" y="3719920"/>
            <a:ext cx="150495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i="1" dirty="0" err="1"/>
              <a:t>ord</a:t>
            </a:r>
            <a:r>
              <a:rPr lang="en-GB" i="1" dirty="0"/>
              <a:t>('H')</a:t>
            </a:r>
          </a:p>
          <a:p>
            <a:r>
              <a:rPr lang="en-GB" i="1" dirty="0"/>
              <a:t>72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18760" y="2836743"/>
            <a:ext cx="150495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i="1" dirty="0" err="1"/>
              <a:t>chr</a:t>
            </a:r>
            <a:r>
              <a:rPr lang="en-GB" i="1" dirty="0"/>
              <a:t>(72)</a:t>
            </a:r>
          </a:p>
          <a:p>
            <a:r>
              <a:rPr lang="en-GB" i="1" dirty="0"/>
              <a:t>'H'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0725" y="5765032"/>
            <a:ext cx="6348296" cy="6256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199" y="4869565"/>
            <a:ext cx="5967295" cy="722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234791F-BDE0-44F0-B0AE-1CE0095B9FA7}"/>
              </a:ext>
            </a:extLst>
          </p:cNvPr>
          <p:cNvSpPr/>
          <p:nvPr/>
        </p:nvSpPr>
        <p:spPr>
          <a:xfrm>
            <a:off x="921014" y="2679038"/>
            <a:ext cx="1905000" cy="6581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tx1"/>
                </a:solidFill>
              </a:rPr>
              <a:t>Python script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EF9CAC-EF58-44A8-BD7F-7D3F2F1BE4E6}"/>
              </a:ext>
            </a:extLst>
          </p:cNvPr>
          <p:cNvSpPr/>
          <p:nvPr/>
        </p:nvSpPr>
        <p:spPr>
          <a:xfrm>
            <a:off x="1475683" y="2971800"/>
            <a:ext cx="1363980" cy="6581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tx1"/>
                </a:solidFill>
              </a:rPr>
              <a:t>Output 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1C7C176C-D769-443B-9082-7AB3DA58C6AD}"/>
              </a:ext>
            </a:extLst>
          </p:cNvPr>
          <p:cNvSpPr/>
          <p:nvPr/>
        </p:nvSpPr>
        <p:spPr>
          <a:xfrm>
            <a:off x="2673614" y="2938688"/>
            <a:ext cx="381000" cy="1698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E5DC98AD-D9BD-442D-A7D4-F10E5CD5AD95}"/>
              </a:ext>
            </a:extLst>
          </p:cNvPr>
          <p:cNvSpPr/>
          <p:nvPr/>
        </p:nvSpPr>
        <p:spPr>
          <a:xfrm>
            <a:off x="2673614" y="3215926"/>
            <a:ext cx="381000" cy="1698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6B33B6-FDA5-4B5E-9A01-0C5B4D90AAE0}"/>
              </a:ext>
            </a:extLst>
          </p:cNvPr>
          <p:cNvSpPr/>
          <p:nvPr/>
        </p:nvSpPr>
        <p:spPr>
          <a:xfrm>
            <a:off x="5181600" y="2718529"/>
            <a:ext cx="1905000" cy="6581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tx1"/>
                </a:solidFill>
              </a:rPr>
              <a:t>Python script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9CF7DF7-4872-4D11-90ED-218CDE6105A7}"/>
              </a:ext>
            </a:extLst>
          </p:cNvPr>
          <p:cNvSpPr/>
          <p:nvPr/>
        </p:nvSpPr>
        <p:spPr>
          <a:xfrm>
            <a:off x="5736269" y="3011291"/>
            <a:ext cx="1363980" cy="6581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tx1"/>
                </a:solidFill>
              </a:rPr>
              <a:t>Output 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301BEB58-A2A0-495A-805D-E2F8D2C8A19A}"/>
              </a:ext>
            </a:extLst>
          </p:cNvPr>
          <p:cNvSpPr/>
          <p:nvPr/>
        </p:nvSpPr>
        <p:spPr>
          <a:xfrm>
            <a:off x="6934200" y="2978179"/>
            <a:ext cx="381000" cy="1698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1B19AB3C-955A-4CC5-9265-4210274DE672}"/>
              </a:ext>
            </a:extLst>
          </p:cNvPr>
          <p:cNvSpPr/>
          <p:nvPr/>
        </p:nvSpPr>
        <p:spPr>
          <a:xfrm>
            <a:off x="6934200" y="3255417"/>
            <a:ext cx="381000" cy="1698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013491-FC93-4116-8CCC-6C6CF9B8B53A}"/>
              </a:ext>
            </a:extLst>
          </p:cNvPr>
          <p:cNvSpPr/>
          <p:nvPr/>
        </p:nvSpPr>
        <p:spPr>
          <a:xfrm>
            <a:off x="1055746" y="3563866"/>
            <a:ext cx="1905000" cy="6581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tx1"/>
                </a:solidFill>
              </a:rPr>
              <a:t>Python script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E18ED0E-9122-408D-9CA4-5B1E14AEA2E0}"/>
              </a:ext>
            </a:extLst>
          </p:cNvPr>
          <p:cNvSpPr/>
          <p:nvPr/>
        </p:nvSpPr>
        <p:spPr>
          <a:xfrm>
            <a:off x="1610415" y="3856628"/>
            <a:ext cx="1363980" cy="6581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tx1"/>
                </a:solidFill>
              </a:rPr>
              <a:t>Output 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AD845214-DC0D-4EC9-B2B0-DBF4C94C1058}"/>
              </a:ext>
            </a:extLst>
          </p:cNvPr>
          <p:cNvSpPr/>
          <p:nvPr/>
        </p:nvSpPr>
        <p:spPr>
          <a:xfrm>
            <a:off x="2808346" y="3823516"/>
            <a:ext cx="381000" cy="1698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2A0CAA35-CBD8-4457-89AB-1759900F01F3}"/>
              </a:ext>
            </a:extLst>
          </p:cNvPr>
          <p:cNvSpPr/>
          <p:nvPr/>
        </p:nvSpPr>
        <p:spPr>
          <a:xfrm>
            <a:off x="2808346" y="4100754"/>
            <a:ext cx="381000" cy="1698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40857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1432560" y="1066800"/>
            <a:ext cx="7406640" cy="765282"/>
          </a:xfrm>
          <a:prstGeom prst="rect">
            <a:avLst/>
          </a:prstGeom>
        </p:spPr>
        <p:txBody>
          <a:bodyPr anchor="b">
            <a:normAutofit fontScale="62500" lnSpcReduction="2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GB" b="1" dirty="0"/>
              <a:t>Text</a:t>
            </a:r>
            <a:r>
              <a:rPr lang="en-GB" dirty="0"/>
              <a:t>: adding strings together, “+” Concatenation</a:t>
            </a:r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3598147" y="2438400"/>
            <a:ext cx="2971800" cy="3560136"/>
          </a:xfrm>
        </p:spPr>
        <p:txBody>
          <a:bodyPr>
            <a:no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'Hello,␣'  +  'world!'</a:t>
            </a:r>
            <a:endParaRPr lang="en-GB" sz="2000" i="1" dirty="0">
              <a:solidFill>
                <a:srgbClr val="FF0000"/>
              </a:solidFill>
            </a:endParaRPr>
          </a:p>
          <a:p>
            <a:r>
              <a:rPr lang="en-GB" sz="2000" dirty="0"/>
              <a:t>'Hello, world!'</a:t>
            </a:r>
          </a:p>
          <a:p>
            <a:endParaRPr lang="en-GB" sz="2400" i="1" dirty="0"/>
          </a:p>
          <a:p>
            <a:r>
              <a:rPr lang="en-GB" sz="2400" b="1" dirty="0"/>
              <a:t>String repetition *</a:t>
            </a:r>
          </a:p>
          <a:p>
            <a:r>
              <a:rPr lang="en-GB" sz="2000" dirty="0"/>
              <a:t>'Hello' * 3 </a:t>
            </a:r>
          </a:p>
          <a:p>
            <a:r>
              <a:rPr lang="en-GB" sz="2000" dirty="0"/>
              <a:t>'</a:t>
            </a:r>
            <a:r>
              <a:rPr lang="en-GB" sz="2000" dirty="0" err="1"/>
              <a:t>HelloHelloHello</a:t>
            </a:r>
            <a:r>
              <a:rPr lang="en-GB" sz="2000" dirty="0"/>
              <a:t>'</a:t>
            </a:r>
          </a:p>
          <a:p>
            <a:endParaRPr lang="en-GB" sz="2400" i="1" dirty="0"/>
          </a:p>
          <a:p>
            <a:endParaRPr lang="en-GB" sz="2400" i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79F51E-1137-4678-A9C0-BAF0EE674BBE}"/>
              </a:ext>
            </a:extLst>
          </p:cNvPr>
          <p:cNvSpPr/>
          <p:nvPr/>
        </p:nvSpPr>
        <p:spPr>
          <a:xfrm>
            <a:off x="1487407" y="2213082"/>
            <a:ext cx="1905000" cy="6581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tx1"/>
                </a:solidFill>
              </a:rPr>
              <a:t>Python script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3C974F-5F67-4AA5-98F4-195D2AEC37C5}"/>
              </a:ext>
            </a:extLst>
          </p:cNvPr>
          <p:cNvSpPr/>
          <p:nvPr/>
        </p:nvSpPr>
        <p:spPr>
          <a:xfrm>
            <a:off x="2042076" y="2667000"/>
            <a:ext cx="1363980" cy="6581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tx1"/>
                </a:solidFill>
              </a:rPr>
              <a:t>Output 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6820FB30-EA43-4772-9098-F86AB6C54767}"/>
              </a:ext>
            </a:extLst>
          </p:cNvPr>
          <p:cNvSpPr/>
          <p:nvPr/>
        </p:nvSpPr>
        <p:spPr>
          <a:xfrm>
            <a:off x="3240007" y="2472732"/>
            <a:ext cx="381000" cy="1698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9292B732-53C2-44B3-A3ED-646F9F679597}"/>
              </a:ext>
            </a:extLst>
          </p:cNvPr>
          <p:cNvSpPr/>
          <p:nvPr/>
        </p:nvSpPr>
        <p:spPr>
          <a:xfrm>
            <a:off x="3240007" y="2911126"/>
            <a:ext cx="381000" cy="1698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542433-59AE-49B0-A4BD-CC4A580103E9}"/>
              </a:ext>
            </a:extLst>
          </p:cNvPr>
          <p:cNvSpPr/>
          <p:nvPr/>
        </p:nvSpPr>
        <p:spPr>
          <a:xfrm>
            <a:off x="1449307" y="3883293"/>
            <a:ext cx="1905000" cy="6581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tx1"/>
                </a:solidFill>
              </a:rPr>
              <a:t>Python script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D5AD99-D9F6-4CCD-AED9-F8B4F32192BA}"/>
              </a:ext>
            </a:extLst>
          </p:cNvPr>
          <p:cNvSpPr/>
          <p:nvPr/>
        </p:nvSpPr>
        <p:spPr>
          <a:xfrm>
            <a:off x="2003976" y="4337211"/>
            <a:ext cx="1363980" cy="6581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tx1"/>
                </a:solidFill>
              </a:rPr>
              <a:t>Output 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7600114B-C1F2-4484-8863-C11012CC5F62}"/>
              </a:ext>
            </a:extLst>
          </p:cNvPr>
          <p:cNvSpPr/>
          <p:nvPr/>
        </p:nvSpPr>
        <p:spPr>
          <a:xfrm>
            <a:off x="3201907" y="4142943"/>
            <a:ext cx="381000" cy="1698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DA46D26B-9553-42CC-A35E-E16F446C1992}"/>
              </a:ext>
            </a:extLst>
          </p:cNvPr>
          <p:cNvSpPr/>
          <p:nvPr/>
        </p:nvSpPr>
        <p:spPr>
          <a:xfrm>
            <a:off x="3201907" y="4581337"/>
            <a:ext cx="381000" cy="1698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73013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1432560" y="1066800"/>
            <a:ext cx="7406640" cy="765282"/>
          </a:xfrm>
          <a:prstGeom prst="rect">
            <a:avLst/>
          </a:prstGeom>
        </p:spPr>
        <p:txBody>
          <a:bodyPr anchor="b">
            <a:normAutofit fontScale="925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GB" b="1" dirty="0"/>
              <a:t>Text</a:t>
            </a:r>
            <a:r>
              <a:rPr lang="en-GB" dirty="0"/>
              <a:t>: strings literals concatenation</a:t>
            </a:r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3115157" y="2462814"/>
            <a:ext cx="5629756" cy="2563105"/>
          </a:xfrm>
        </p:spPr>
        <p:txBody>
          <a:bodyPr>
            <a:noAutofit/>
          </a:bodyPr>
          <a:lstStyle/>
          <a:p>
            <a:r>
              <a:rPr lang="en-GB" sz="1800" i="1" dirty="0"/>
              <a:t># Two string literals next to each other are automatically</a:t>
            </a:r>
          </a:p>
          <a:p>
            <a:r>
              <a:rPr lang="en-GB" sz="1800" i="1" dirty="0"/>
              <a:t># concatenated; this only works with two literals, not </a:t>
            </a:r>
          </a:p>
          <a:p>
            <a:r>
              <a:rPr lang="en-GB" sz="1800" i="1" dirty="0"/>
              <a:t># with arbitrary string expressions:</a:t>
            </a:r>
          </a:p>
          <a:p>
            <a:endParaRPr lang="en-GB" sz="2400" i="1" dirty="0"/>
          </a:p>
          <a:p>
            <a:r>
              <a:rPr lang="en-GB" sz="2400" i="1" dirty="0"/>
              <a:t>'str' '</a:t>
            </a:r>
            <a:r>
              <a:rPr lang="en-GB" sz="2400" i="1" dirty="0" err="1"/>
              <a:t>ing</a:t>
            </a:r>
            <a:r>
              <a:rPr lang="en-GB" sz="2400" i="1" dirty="0"/>
              <a:t>'                   #  &lt;-  This is ok</a:t>
            </a:r>
          </a:p>
          <a:p>
            <a:r>
              <a:rPr lang="en-GB" sz="2400" i="1" dirty="0"/>
              <a:t>'string'</a:t>
            </a:r>
          </a:p>
          <a:p>
            <a:endParaRPr lang="en-GB" sz="2400" i="1" dirty="0"/>
          </a:p>
          <a:p>
            <a:endParaRPr lang="en-GB" sz="2400" i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210B12-2451-46B2-9801-E6FD3297CEE4}"/>
              </a:ext>
            </a:extLst>
          </p:cNvPr>
          <p:cNvSpPr/>
          <p:nvPr/>
        </p:nvSpPr>
        <p:spPr>
          <a:xfrm>
            <a:off x="914400" y="3855150"/>
            <a:ext cx="1905000" cy="6581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tx1"/>
                </a:solidFill>
              </a:rPr>
              <a:t>Python script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DC1A00-BE9E-4E98-8537-1895441C0452}"/>
              </a:ext>
            </a:extLst>
          </p:cNvPr>
          <p:cNvSpPr/>
          <p:nvPr/>
        </p:nvSpPr>
        <p:spPr>
          <a:xfrm>
            <a:off x="1469069" y="4309068"/>
            <a:ext cx="1363980" cy="6581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tx1"/>
                </a:solidFill>
              </a:rPr>
              <a:t>Output 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E0B2C2A7-F57D-4A0E-9EED-D40480E06389}"/>
              </a:ext>
            </a:extLst>
          </p:cNvPr>
          <p:cNvSpPr/>
          <p:nvPr/>
        </p:nvSpPr>
        <p:spPr>
          <a:xfrm>
            <a:off x="2667000" y="4114800"/>
            <a:ext cx="381000" cy="1698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7D507DF9-5B15-4203-8DF6-B10F67E37136}"/>
              </a:ext>
            </a:extLst>
          </p:cNvPr>
          <p:cNvSpPr/>
          <p:nvPr/>
        </p:nvSpPr>
        <p:spPr>
          <a:xfrm>
            <a:off x="2667000" y="4553194"/>
            <a:ext cx="381000" cy="1698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05650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1432560" y="1066800"/>
            <a:ext cx="7406640" cy="765282"/>
          </a:xfrm>
          <a:prstGeom prst="rect">
            <a:avLst/>
          </a:prstGeom>
        </p:spPr>
        <p:txBody>
          <a:bodyPr anchor="b">
            <a:normAutofit fontScale="62500" lnSpcReduction="2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GB" b="1" dirty="0"/>
              <a:t>Text</a:t>
            </a:r>
            <a:r>
              <a:rPr lang="en-GB" dirty="0"/>
              <a:t>: Single &amp; double quotes, same string objects</a:t>
            </a:r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5135880" y="1832082"/>
            <a:ext cx="3215640" cy="2798136"/>
          </a:xfrm>
        </p:spPr>
        <p:txBody>
          <a:bodyPr>
            <a:noAutofit/>
          </a:bodyPr>
          <a:lstStyle/>
          <a:p>
            <a:endParaRPr lang="en-GB" sz="2400" i="1" dirty="0"/>
          </a:p>
          <a:p>
            <a:r>
              <a:rPr lang="en-GB" sz="2400" b="1" dirty="0"/>
              <a:t>'Hello, world!' </a:t>
            </a:r>
            <a:endParaRPr lang="en-GB" sz="2400" dirty="0"/>
          </a:p>
          <a:p>
            <a:r>
              <a:rPr lang="en-GB" sz="2400" dirty="0"/>
              <a:t>'Hello, world!'</a:t>
            </a:r>
          </a:p>
          <a:p>
            <a:endParaRPr lang="en-GB" sz="2400" i="1" dirty="0"/>
          </a:p>
          <a:p>
            <a:r>
              <a:rPr lang="en-GB" sz="2400" b="1" dirty="0"/>
              <a:t>"Hello, world!" </a:t>
            </a:r>
            <a:endParaRPr lang="en-GB" sz="2400" dirty="0"/>
          </a:p>
          <a:p>
            <a:r>
              <a:rPr lang="en-GB" sz="2400" dirty="0"/>
              <a:t>'Hello, world!'</a:t>
            </a:r>
          </a:p>
          <a:p>
            <a:endParaRPr lang="en-GB" sz="2400" i="1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B02D05D-E2AA-4403-85EC-EABA3DD2025D}"/>
              </a:ext>
            </a:extLst>
          </p:cNvPr>
          <p:cNvGrpSpPr/>
          <p:nvPr/>
        </p:nvGrpSpPr>
        <p:grpSpPr>
          <a:xfrm>
            <a:off x="2968785" y="2136882"/>
            <a:ext cx="2133600" cy="1112023"/>
            <a:chOff x="2968785" y="2136882"/>
            <a:chExt cx="2133600" cy="111202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F17C9E3-E75B-40B5-AF18-29ED246DB472}"/>
                </a:ext>
              </a:extLst>
            </p:cNvPr>
            <p:cNvSpPr/>
            <p:nvPr/>
          </p:nvSpPr>
          <p:spPr>
            <a:xfrm>
              <a:off x="2968785" y="2136882"/>
              <a:ext cx="1905000" cy="65810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000" b="1" dirty="0">
                  <a:solidFill>
                    <a:schemeClr val="tx1"/>
                  </a:solidFill>
                </a:rPr>
                <a:t>Python script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09F36FE-48BD-4C1D-8203-99669A16FF75}"/>
                </a:ext>
              </a:extLst>
            </p:cNvPr>
            <p:cNvSpPr/>
            <p:nvPr/>
          </p:nvSpPr>
          <p:spPr>
            <a:xfrm>
              <a:off x="3523454" y="2590800"/>
              <a:ext cx="1363980" cy="65810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000" b="1" dirty="0">
                  <a:solidFill>
                    <a:schemeClr val="tx1"/>
                  </a:solidFill>
                </a:rPr>
                <a:t>Output </a:t>
              </a:r>
            </a:p>
          </p:txBody>
        </p:sp>
        <p:sp>
          <p:nvSpPr>
            <p:cNvPr id="7" name="Arrow: Right 6">
              <a:extLst>
                <a:ext uri="{FF2B5EF4-FFF2-40B4-BE49-F238E27FC236}">
                  <a16:creationId xmlns:a16="http://schemas.microsoft.com/office/drawing/2014/main" id="{1D36FCEF-2994-4E17-A20F-26C58B0D1AC3}"/>
                </a:ext>
              </a:extLst>
            </p:cNvPr>
            <p:cNvSpPr/>
            <p:nvPr/>
          </p:nvSpPr>
          <p:spPr>
            <a:xfrm>
              <a:off x="4721385" y="2396532"/>
              <a:ext cx="381000" cy="169855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Arrow: Right 7">
              <a:extLst>
                <a:ext uri="{FF2B5EF4-FFF2-40B4-BE49-F238E27FC236}">
                  <a16:creationId xmlns:a16="http://schemas.microsoft.com/office/drawing/2014/main" id="{8AAB4D05-3033-47AC-A251-036D5DA24ED9}"/>
                </a:ext>
              </a:extLst>
            </p:cNvPr>
            <p:cNvSpPr/>
            <p:nvPr/>
          </p:nvSpPr>
          <p:spPr>
            <a:xfrm>
              <a:off x="4721385" y="2834926"/>
              <a:ext cx="381000" cy="169855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23FE7A49-C538-4569-B328-3737483DA254}"/>
              </a:ext>
            </a:extLst>
          </p:cNvPr>
          <p:cNvSpPr/>
          <p:nvPr/>
        </p:nvSpPr>
        <p:spPr>
          <a:xfrm>
            <a:off x="2968785" y="3457862"/>
            <a:ext cx="1905000" cy="6581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tx1"/>
                </a:solidFill>
              </a:rPr>
              <a:t>Python script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6E8642-D339-4237-874E-7FD87E5F450E}"/>
              </a:ext>
            </a:extLst>
          </p:cNvPr>
          <p:cNvSpPr/>
          <p:nvPr/>
        </p:nvSpPr>
        <p:spPr>
          <a:xfrm>
            <a:off x="3523454" y="3911780"/>
            <a:ext cx="1363980" cy="6581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tx1"/>
                </a:solidFill>
              </a:rPr>
              <a:t>Output 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BE837DEA-E303-4A8E-BF2B-D50E0C910EEC}"/>
              </a:ext>
            </a:extLst>
          </p:cNvPr>
          <p:cNvSpPr/>
          <p:nvPr/>
        </p:nvSpPr>
        <p:spPr>
          <a:xfrm>
            <a:off x="4721385" y="3717512"/>
            <a:ext cx="381000" cy="1698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A635ADE9-227E-4203-B337-89DE39D24B7C}"/>
              </a:ext>
            </a:extLst>
          </p:cNvPr>
          <p:cNvSpPr/>
          <p:nvPr/>
        </p:nvSpPr>
        <p:spPr>
          <a:xfrm>
            <a:off x="4721385" y="4155906"/>
            <a:ext cx="381000" cy="1698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49354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1432560" y="1066800"/>
            <a:ext cx="7406640" cy="765282"/>
          </a:xfrm>
          <a:prstGeom prst="rect">
            <a:avLst/>
          </a:prstGeom>
        </p:spPr>
        <p:txBody>
          <a:bodyPr anchor="b">
            <a:normAutofit fontScale="925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GB" b="1" dirty="0"/>
              <a:t>Text</a:t>
            </a:r>
            <a:r>
              <a:rPr lang="en-GB" dirty="0"/>
              <a:t>: Nest Single &amp; double quotes</a:t>
            </a:r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4191000" y="1726773"/>
            <a:ext cx="4511040" cy="3560136"/>
          </a:xfrm>
        </p:spPr>
        <p:txBody>
          <a:bodyPr>
            <a:noAutofit/>
          </a:bodyPr>
          <a:lstStyle/>
          <a:p>
            <a:endParaRPr lang="en-GB" sz="2400" i="1" dirty="0"/>
          </a:p>
          <a:p>
            <a:r>
              <a:rPr lang="en-GB" sz="2400" b="1" dirty="0"/>
              <a:t>print('He said "hello" to her.')</a:t>
            </a:r>
            <a:endParaRPr lang="en-GB" sz="2400" dirty="0"/>
          </a:p>
          <a:p>
            <a:r>
              <a:rPr lang="en-GB" sz="2400" dirty="0"/>
              <a:t>He said "hello" to her.</a:t>
            </a:r>
          </a:p>
          <a:p>
            <a:endParaRPr lang="en-GB" sz="2400" i="1" dirty="0"/>
          </a:p>
          <a:p>
            <a:r>
              <a:rPr lang="en-GB" sz="2400" b="1" dirty="0"/>
              <a:t>print("He said 'hello' to her.")</a:t>
            </a:r>
            <a:endParaRPr lang="en-GB" sz="2400" dirty="0"/>
          </a:p>
          <a:p>
            <a:r>
              <a:rPr lang="en-GB" sz="2400" dirty="0"/>
              <a:t>He said 'hello' to her.</a:t>
            </a:r>
          </a:p>
          <a:p>
            <a:endParaRPr lang="en-GB" sz="2400" dirty="0"/>
          </a:p>
          <a:p>
            <a:r>
              <a:rPr lang="en-GB" sz="2400" b="1" dirty="0"/>
              <a:t>print('He said 'hello' to her.')</a:t>
            </a:r>
          </a:p>
          <a:p>
            <a:r>
              <a:rPr lang="en-GB" sz="2400" dirty="0" err="1"/>
              <a:t>SyntaxError</a:t>
            </a:r>
            <a:r>
              <a:rPr lang="en-GB" sz="2400" dirty="0"/>
              <a:t>: invalid syntax</a:t>
            </a:r>
          </a:p>
          <a:p>
            <a:endParaRPr lang="en-GB" sz="2400" dirty="0"/>
          </a:p>
          <a:p>
            <a:endParaRPr lang="en-GB" sz="2400" dirty="0"/>
          </a:p>
          <a:p>
            <a:endParaRPr lang="en-GB" sz="2400" i="1" dirty="0"/>
          </a:p>
        </p:txBody>
      </p:sp>
      <p:sp>
        <p:nvSpPr>
          <p:cNvPr id="3" name="Multiply 2"/>
          <p:cNvSpPr/>
          <p:nvPr/>
        </p:nvSpPr>
        <p:spPr>
          <a:xfrm>
            <a:off x="7543800" y="5527782"/>
            <a:ext cx="609600" cy="838200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F408EE-D383-413D-820E-8B739ECFD278}"/>
              </a:ext>
            </a:extLst>
          </p:cNvPr>
          <p:cNvSpPr/>
          <p:nvPr/>
        </p:nvSpPr>
        <p:spPr>
          <a:xfrm>
            <a:off x="1900981" y="2060682"/>
            <a:ext cx="1905000" cy="6581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tx1"/>
                </a:solidFill>
              </a:rPr>
              <a:t>Python script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CCFE3E-2F07-4309-A832-E69B7ED6F016}"/>
              </a:ext>
            </a:extLst>
          </p:cNvPr>
          <p:cNvSpPr/>
          <p:nvPr/>
        </p:nvSpPr>
        <p:spPr>
          <a:xfrm>
            <a:off x="2455650" y="2514600"/>
            <a:ext cx="1363980" cy="6581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tx1"/>
                </a:solidFill>
              </a:rPr>
              <a:t>Output 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FE3FD1A3-D6A8-4EA6-A8DE-848F1A4C8009}"/>
              </a:ext>
            </a:extLst>
          </p:cNvPr>
          <p:cNvSpPr/>
          <p:nvPr/>
        </p:nvSpPr>
        <p:spPr>
          <a:xfrm>
            <a:off x="3653581" y="2320332"/>
            <a:ext cx="381000" cy="1698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51995AAC-26F4-4446-B012-CA6182111D21}"/>
              </a:ext>
            </a:extLst>
          </p:cNvPr>
          <p:cNvSpPr/>
          <p:nvPr/>
        </p:nvSpPr>
        <p:spPr>
          <a:xfrm>
            <a:off x="3653581" y="2758726"/>
            <a:ext cx="381000" cy="1698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DAFF5E-1C90-4227-A237-CD4C7B4DE609}"/>
              </a:ext>
            </a:extLst>
          </p:cNvPr>
          <p:cNvSpPr/>
          <p:nvPr/>
        </p:nvSpPr>
        <p:spPr>
          <a:xfrm>
            <a:off x="2023905" y="3356243"/>
            <a:ext cx="1905000" cy="6581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tx1"/>
                </a:solidFill>
              </a:rPr>
              <a:t>Python script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77B637-5FB1-427D-BC35-1725CDE45A3D}"/>
              </a:ext>
            </a:extLst>
          </p:cNvPr>
          <p:cNvSpPr/>
          <p:nvPr/>
        </p:nvSpPr>
        <p:spPr>
          <a:xfrm>
            <a:off x="2578574" y="3810161"/>
            <a:ext cx="1363980" cy="6581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tx1"/>
                </a:solidFill>
              </a:rPr>
              <a:t>Output 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29D112E6-B0CD-4C46-895F-84220DAD20D7}"/>
              </a:ext>
            </a:extLst>
          </p:cNvPr>
          <p:cNvSpPr/>
          <p:nvPr/>
        </p:nvSpPr>
        <p:spPr>
          <a:xfrm>
            <a:off x="3776505" y="3615893"/>
            <a:ext cx="381000" cy="1698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686CD309-43F3-4E27-8C4D-BE0F234AAC63}"/>
              </a:ext>
            </a:extLst>
          </p:cNvPr>
          <p:cNvSpPr/>
          <p:nvPr/>
        </p:nvSpPr>
        <p:spPr>
          <a:xfrm>
            <a:off x="3776505" y="4054287"/>
            <a:ext cx="381000" cy="1698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5E3E846-D455-48E4-B832-674B8B842DE8}"/>
              </a:ext>
            </a:extLst>
          </p:cNvPr>
          <p:cNvGrpSpPr/>
          <p:nvPr/>
        </p:nvGrpSpPr>
        <p:grpSpPr>
          <a:xfrm>
            <a:off x="2010256" y="4658602"/>
            <a:ext cx="2133600" cy="1112023"/>
            <a:chOff x="2010256" y="4658602"/>
            <a:chExt cx="2133600" cy="111202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A94178B-8910-4B52-8DAA-72B2B5A93549}"/>
                </a:ext>
              </a:extLst>
            </p:cNvPr>
            <p:cNvSpPr/>
            <p:nvPr/>
          </p:nvSpPr>
          <p:spPr>
            <a:xfrm>
              <a:off x="2010256" y="4658602"/>
              <a:ext cx="1905000" cy="65810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000" b="1" dirty="0">
                  <a:solidFill>
                    <a:schemeClr val="tx1"/>
                  </a:solidFill>
                </a:rPr>
                <a:t>Python script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787035C-EDD8-43FA-B8A3-E79503DA1679}"/>
                </a:ext>
              </a:extLst>
            </p:cNvPr>
            <p:cNvSpPr/>
            <p:nvPr/>
          </p:nvSpPr>
          <p:spPr>
            <a:xfrm>
              <a:off x="2564925" y="5112520"/>
              <a:ext cx="1363980" cy="65810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000" b="1" dirty="0">
                  <a:solidFill>
                    <a:schemeClr val="tx1"/>
                  </a:solidFill>
                </a:rPr>
                <a:t>Output </a:t>
              </a:r>
            </a:p>
          </p:txBody>
        </p:sp>
        <p:sp>
          <p:nvSpPr>
            <p:cNvPr id="16" name="Arrow: Right 15">
              <a:extLst>
                <a:ext uri="{FF2B5EF4-FFF2-40B4-BE49-F238E27FC236}">
                  <a16:creationId xmlns:a16="http://schemas.microsoft.com/office/drawing/2014/main" id="{67942779-59A4-480B-9494-81540AE65A81}"/>
                </a:ext>
              </a:extLst>
            </p:cNvPr>
            <p:cNvSpPr/>
            <p:nvPr/>
          </p:nvSpPr>
          <p:spPr>
            <a:xfrm>
              <a:off x="3762856" y="4918252"/>
              <a:ext cx="381000" cy="169855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Arrow: Right 16">
              <a:extLst>
                <a:ext uri="{FF2B5EF4-FFF2-40B4-BE49-F238E27FC236}">
                  <a16:creationId xmlns:a16="http://schemas.microsoft.com/office/drawing/2014/main" id="{443482C2-B4A6-4937-8B47-EC3526648F7A}"/>
                </a:ext>
              </a:extLst>
            </p:cNvPr>
            <p:cNvSpPr/>
            <p:nvPr/>
          </p:nvSpPr>
          <p:spPr>
            <a:xfrm>
              <a:off x="3762856" y="5356646"/>
              <a:ext cx="381000" cy="169855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5334503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1432560" y="1066800"/>
            <a:ext cx="7406640" cy="76528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GB" b="1" dirty="0"/>
              <a:t>Text</a:t>
            </a:r>
            <a:r>
              <a:rPr lang="en-GB" dirty="0"/>
              <a:t>: Escaping</a:t>
            </a:r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4343400" y="1648932"/>
            <a:ext cx="4663440" cy="3560136"/>
          </a:xfrm>
        </p:spPr>
        <p:txBody>
          <a:bodyPr>
            <a:noAutofit/>
          </a:bodyPr>
          <a:lstStyle/>
          <a:p>
            <a:endParaRPr lang="en-GB" sz="2400" i="1" dirty="0"/>
          </a:p>
          <a:p>
            <a:r>
              <a:rPr lang="en-GB" sz="2400" b="1" dirty="0"/>
              <a:t>print('He said \'hello\' to her.')</a:t>
            </a:r>
          </a:p>
          <a:p>
            <a:r>
              <a:rPr lang="en-GB" sz="2400" dirty="0"/>
              <a:t>He said 'hello' to her.</a:t>
            </a:r>
          </a:p>
          <a:p>
            <a:endParaRPr lang="en-GB" sz="2400" dirty="0"/>
          </a:p>
          <a:p>
            <a:r>
              <a:rPr lang="en-GB" sz="2400" dirty="0"/>
              <a:t>Escaping \'  =&gt; '</a:t>
            </a:r>
          </a:p>
          <a:p>
            <a:r>
              <a:rPr lang="en-GB" sz="2400" dirty="0"/>
              <a:t>Escaping \"  =&gt; "</a:t>
            </a:r>
          </a:p>
          <a:p>
            <a:endParaRPr lang="en-GB" sz="2400" dirty="0"/>
          </a:p>
          <a:p>
            <a:endParaRPr lang="en-GB" sz="2400" dirty="0"/>
          </a:p>
          <a:p>
            <a:endParaRPr lang="en-GB" sz="2400" i="1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BCBCFE2-F7AD-4F95-B43F-BFB9D80AD20B}"/>
              </a:ext>
            </a:extLst>
          </p:cNvPr>
          <p:cNvGrpSpPr/>
          <p:nvPr/>
        </p:nvGrpSpPr>
        <p:grpSpPr>
          <a:xfrm>
            <a:off x="2057400" y="1981200"/>
            <a:ext cx="2133600" cy="1112023"/>
            <a:chOff x="2010256" y="4658602"/>
            <a:chExt cx="2133600" cy="111202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9EEB059-1E47-4A09-BE56-E5598830D1F5}"/>
                </a:ext>
              </a:extLst>
            </p:cNvPr>
            <p:cNvSpPr/>
            <p:nvPr/>
          </p:nvSpPr>
          <p:spPr>
            <a:xfrm>
              <a:off x="2010256" y="4658602"/>
              <a:ext cx="1905000" cy="65810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000" b="1" dirty="0">
                  <a:solidFill>
                    <a:schemeClr val="tx1"/>
                  </a:solidFill>
                </a:rPr>
                <a:t>Python script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0A4E77E-7302-4279-B83C-B8DEE258606C}"/>
                </a:ext>
              </a:extLst>
            </p:cNvPr>
            <p:cNvSpPr/>
            <p:nvPr/>
          </p:nvSpPr>
          <p:spPr>
            <a:xfrm>
              <a:off x="2564925" y="5112520"/>
              <a:ext cx="1363980" cy="65810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000" b="1" dirty="0">
                  <a:solidFill>
                    <a:schemeClr val="tx1"/>
                  </a:solidFill>
                </a:rPr>
                <a:t>Output </a:t>
              </a:r>
            </a:p>
          </p:txBody>
        </p:sp>
        <p:sp>
          <p:nvSpPr>
            <p:cNvPr id="8" name="Arrow: Right 7">
              <a:extLst>
                <a:ext uri="{FF2B5EF4-FFF2-40B4-BE49-F238E27FC236}">
                  <a16:creationId xmlns:a16="http://schemas.microsoft.com/office/drawing/2014/main" id="{5B6466CE-E536-4C6A-A9DA-E3056E03E510}"/>
                </a:ext>
              </a:extLst>
            </p:cNvPr>
            <p:cNvSpPr/>
            <p:nvPr/>
          </p:nvSpPr>
          <p:spPr>
            <a:xfrm>
              <a:off x="3762856" y="4918252"/>
              <a:ext cx="381000" cy="169855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Arrow: Right 8">
              <a:extLst>
                <a:ext uri="{FF2B5EF4-FFF2-40B4-BE49-F238E27FC236}">
                  <a16:creationId xmlns:a16="http://schemas.microsoft.com/office/drawing/2014/main" id="{150437E9-1CF8-44FA-A467-29B6340A6045}"/>
                </a:ext>
              </a:extLst>
            </p:cNvPr>
            <p:cNvSpPr/>
            <p:nvPr/>
          </p:nvSpPr>
          <p:spPr>
            <a:xfrm>
              <a:off x="3762856" y="5356646"/>
              <a:ext cx="381000" cy="169855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2065883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1432560" y="1066800"/>
            <a:ext cx="7406640" cy="76528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GB" b="1" dirty="0"/>
              <a:t>Text</a:t>
            </a:r>
            <a:r>
              <a:rPr lang="en-GB" dirty="0"/>
              <a:t>: line breaks in text</a:t>
            </a:r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3182781" y="2231064"/>
            <a:ext cx="5273040" cy="3560136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GB" sz="2400" dirty="0"/>
              <a:t>Hello,</a:t>
            </a:r>
          </a:p>
          <a:p>
            <a:pPr>
              <a:spcBef>
                <a:spcPts val="0"/>
              </a:spcBef>
            </a:pPr>
            <a:r>
              <a:rPr lang="en-GB" sz="2400" dirty="0"/>
              <a:t>world!</a:t>
            </a:r>
          </a:p>
          <a:p>
            <a:r>
              <a:rPr lang="en-GB" sz="2400" b="1" dirty="0"/>
              <a:t>print('Hello,</a:t>
            </a:r>
          </a:p>
          <a:p>
            <a:r>
              <a:rPr lang="en-GB" sz="2400" b="1" dirty="0"/>
              <a:t>world')</a:t>
            </a:r>
          </a:p>
          <a:p>
            <a:endParaRPr lang="en-GB" sz="2400" dirty="0"/>
          </a:p>
          <a:p>
            <a:r>
              <a:rPr lang="en-GB" sz="2400" b="1" dirty="0"/>
              <a:t>print('Hello,\</a:t>
            </a:r>
            <a:r>
              <a:rPr lang="en-GB" sz="2400" b="1" dirty="0" err="1"/>
              <a:t>nworld</a:t>
            </a:r>
            <a:r>
              <a:rPr lang="en-GB" sz="2400" b="1" dirty="0"/>
              <a:t>! ')</a:t>
            </a:r>
            <a:endParaRPr lang="en-GB" sz="2400" dirty="0"/>
          </a:p>
          <a:p>
            <a:endParaRPr lang="en-GB" sz="2400" dirty="0"/>
          </a:p>
          <a:p>
            <a:endParaRPr lang="en-GB" sz="2400" i="1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9434" y="2958960"/>
            <a:ext cx="465137" cy="430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Multiply 4"/>
          <p:cNvSpPr/>
          <p:nvPr/>
        </p:nvSpPr>
        <p:spPr>
          <a:xfrm>
            <a:off x="6248400" y="2806787"/>
            <a:ext cx="609600" cy="838200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ounded Rectangle 6"/>
          <p:cNvSpPr/>
          <p:nvPr/>
        </p:nvSpPr>
        <p:spPr>
          <a:xfrm>
            <a:off x="5943600" y="4724400"/>
            <a:ext cx="3139440" cy="9906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sz="2000" i="1" dirty="0"/>
              <a:t>&gt;&gt;&gt; </a:t>
            </a:r>
            <a:r>
              <a:rPr lang="en-GB" sz="2000" i="1" dirty="0" err="1"/>
              <a:t>len</a:t>
            </a:r>
            <a:r>
              <a:rPr lang="en-GB" sz="2000" i="1" dirty="0"/>
              <a:t>('Hello,\</a:t>
            </a:r>
            <a:r>
              <a:rPr lang="en-GB" sz="2000" i="1" dirty="0" err="1"/>
              <a:t>nworld</a:t>
            </a:r>
            <a:r>
              <a:rPr lang="en-GB" sz="2000" i="1" dirty="0"/>
              <a:t>!')</a:t>
            </a:r>
          </a:p>
          <a:p>
            <a:r>
              <a:rPr lang="en-GB" sz="2000" i="1" dirty="0"/>
              <a:t>13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4724400"/>
            <a:ext cx="6264275" cy="178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D11242F-9892-49C6-B3E0-7CF8ECD8D503}"/>
              </a:ext>
            </a:extLst>
          </p:cNvPr>
          <p:cNvSpPr/>
          <p:nvPr/>
        </p:nvSpPr>
        <p:spPr>
          <a:xfrm>
            <a:off x="981314" y="4207305"/>
            <a:ext cx="1905000" cy="6581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tx1"/>
                </a:solidFill>
              </a:rPr>
              <a:t>Python script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8F3BF1-B31E-49BD-A510-20CEF4512476}"/>
              </a:ext>
            </a:extLst>
          </p:cNvPr>
          <p:cNvSpPr/>
          <p:nvPr/>
        </p:nvSpPr>
        <p:spPr>
          <a:xfrm>
            <a:off x="1459858" y="2210967"/>
            <a:ext cx="1363980" cy="6581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tx1"/>
                </a:solidFill>
              </a:rPr>
              <a:t>Output 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9388B142-9C94-4B4C-A856-B2AB1BDCE92C}"/>
              </a:ext>
            </a:extLst>
          </p:cNvPr>
          <p:cNvSpPr/>
          <p:nvPr/>
        </p:nvSpPr>
        <p:spPr>
          <a:xfrm>
            <a:off x="2733914" y="4466955"/>
            <a:ext cx="381000" cy="1698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CC8F5806-3BE7-45B7-8A63-9EFC04BB059B}"/>
              </a:ext>
            </a:extLst>
          </p:cNvPr>
          <p:cNvSpPr/>
          <p:nvPr/>
        </p:nvSpPr>
        <p:spPr>
          <a:xfrm>
            <a:off x="2657789" y="2455093"/>
            <a:ext cx="381000" cy="1698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3D073BD-5386-4B5F-BDB2-D4528D5EEB14}"/>
              </a:ext>
            </a:extLst>
          </p:cNvPr>
          <p:cNvSpPr/>
          <p:nvPr/>
        </p:nvSpPr>
        <p:spPr>
          <a:xfrm>
            <a:off x="932447" y="2872421"/>
            <a:ext cx="1905000" cy="6581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tx1"/>
                </a:solidFill>
              </a:rPr>
              <a:t>Python script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511DD2E9-290A-4CE6-B888-6C51B9B85A2E}"/>
              </a:ext>
            </a:extLst>
          </p:cNvPr>
          <p:cNvSpPr/>
          <p:nvPr/>
        </p:nvSpPr>
        <p:spPr>
          <a:xfrm>
            <a:off x="2685047" y="3132071"/>
            <a:ext cx="381000" cy="1698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9362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1432560" y="1066800"/>
            <a:ext cx="7406640" cy="76528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GB" b="1" dirty="0"/>
              <a:t>Text</a:t>
            </a:r>
            <a:r>
              <a:rPr lang="en-GB" dirty="0"/>
              <a:t>: backslash</a:t>
            </a:r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3560136"/>
          </a:xfrm>
        </p:spPr>
        <p:txBody>
          <a:bodyPr>
            <a:noAutofit/>
          </a:bodyPr>
          <a:lstStyle/>
          <a:p>
            <a:r>
              <a:rPr lang="en-GB" sz="2400" dirty="0"/>
              <a:t>1. Special character =&gt; ordinary character</a:t>
            </a:r>
          </a:p>
          <a:p>
            <a:r>
              <a:rPr lang="en-GB" sz="2400" dirty="0"/>
              <a:t>\'    \"</a:t>
            </a:r>
          </a:p>
          <a:p>
            <a:endParaRPr lang="en-GB" sz="2400" dirty="0"/>
          </a:p>
          <a:p>
            <a:r>
              <a:rPr lang="en-GB" sz="2400" dirty="0"/>
              <a:t>2. Ordinary =&gt; Special</a:t>
            </a:r>
          </a:p>
          <a:p>
            <a:r>
              <a:rPr lang="en-GB" sz="2400" dirty="0"/>
              <a:t>\n   \t   \v … etc. </a:t>
            </a:r>
          </a:p>
          <a:p>
            <a:endParaRPr lang="en-GB" sz="2400" dirty="0"/>
          </a:p>
          <a:p>
            <a:endParaRPr lang="en-GB" sz="2400" i="1" dirty="0"/>
          </a:p>
        </p:txBody>
      </p:sp>
    </p:spTree>
    <p:extLst>
      <p:ext uri="{BB962C8B-B14F-4D97-AF65-F5344CB8AC3E}">
        <p14:creationId xmlns:p14="http://schemas.microsoft.com/office/powerpoint/2010/main" val="33603500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1432560" y="1066800"/>
            <a:ext cx="7406640" cy="76528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GB" b="1" dirty="0"/>
              <a:t>Text</a:t>
            </a:r>
            <a:r>
              <a:rPr lang="en-GB" dirty="0"/>
              <a:t>: powerful \n</a:t>
            </a:r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3560136"/>
          </a:xfrm>
        </p:spPr>
        <p:txBody>
          <a:bodyPr>
            <a:noAutofit/>
          </a:bodyPr>
          <a:lstStyle/>
          <a:p>
            <a:pPr algn="just"/>
            <a:r>
              <a:rPr lang="en-GB" sz="1400" i="1" dirty="0"/>
              <a:t>'SQUIRE TRELAWNEY, Dr. </a:t>
            </a:r>
            <a:r>
              <a:rPr lang="en-GB" sz="1400" i="1" dirty="0" err="1"/>
              <a:t>Livesey</a:t>
            </a:r>
            <a:r>
              <a:rPr lang="en-GB" sz="1400" i="1" dirty="0"/>
              <a:t>, and the</a:t>
            </a:r>
            <a:r>
              <a:rPr lang="en-GB" sz="1400" b="1" i="1" dirty="0">
                <a:solidFill>
                  <a:srgbClr val="FF0000"/>
                </a:solidFill>
              </a:rPr>
              <a:t>\n </a:t>
            </a:r>
            <a:r>
              <a:rPr lang="en-GB" sz="1400" i="1" dirty="0"/>
              <a:t>rest of these gentlemen having asked me\n to write down the whole particulars\</a:t>
            </a:r>
            <a:r>
              <a:rPr lang="en-GB" sz="1400" i="1" dirty="0" err="1"/>
              <a:t>nabout</a:t>
            </a:r>
            <a:r>
              <a:rPr lang="en-GB" sz="1400" i="1" dirty="0"/>
              <a:t> Treasure Island, from the</a:t>
            </a:r>
            <a:r>
              <a:rPr lang="en-GB" sz="1400" b="1" i="1" dirty="0">
                <a:solidFill>
                  <a:srgbClr val="FF0000"/>
                </a:solidFill>
              </a:rPr>
              <a:t>\</a:t>
            </a:r>
            <a:r>
              <a:rPr lang="en-GB" sz="1400" b="1" i="1" dirty="0" err="1">
                <a:solidFill>
                  <a:srgbClr val="FF0000"/>
                </a:solidFill>
              </a:rPr>
              <a:t>n</a:t>
            </a:r>
            <a:r>
              <a:rPr lang="en-GB" sz="1400" i="1" dirty="0" err="1"/>
              <a:t>beginning</a:t>
            </a:r>
            <a:r>
              <a:rPr lang="en-GB" sz="1400" i="1" dirty="0"/>
              <a:t> to the end, keeping nothing</a:t>
            </a:r>
            <a:r>
              <a:rPr lang="en-GB" sz="1400" b="1" i="1" dirty="0">
                <a:solidFill>
                  <a:srgbClr val="FF0000"/>
                </a:solidFill>
              </a:rPr>
              <a:t>\</a:t>
            </a:r>
            <a:r>
              <a:rPr lang="en-GB" sz="1400" b="1" i="1" dirty="0" err="1">
                <a:solidFill>
                  <a:srgbClr val="FF0000"/>
                </a:solidFill>
              </a:rPr>
              <a:t>n</a:t>
            </a:r>
            <a:r>
              <a:rPr lang="en-GB" sz="1400" i="1" dirty="0" err="1"/>
              <a:t>back</a:t>
            </a:r>
            <a:r>
              <a:rPr lang="en-GB" sz="1400" i="1" dirty="0"/>
              <a:t> but the bearings of the island</a:t>
            </a:r>
            <a:r>
              <a:rPr lang="en-GB" sz="1400" b="1" i="1" dirty="0">
                <a:solidFill>
                  <a:srgbClr val="FF0000"/>
                </a:solidFill>
              </a:rPr>
              <a:t>,\</a:t>
            </a:r>
            <a:r>
              <a:rPr lang="en-GB" sz="1400" b="1" i="1" dirty="0" err="1">
                <a:solidFill>
                  <a:srgbClr val="FF0000"/>
                </a:solidFill>
              </a:rPr>
              <a:t>n</a:t>
            </a:r>
            <a:r>
              <a:rPr lang="en-GB" sz="1400" i="1" dirty="0" err="1"/>
              <a:t>and</a:t>
            </a:r>
            <a:r>
              <a:rPr lang="en-GB" sz="1400" i="1" dirty="0"/>
              <a:t> that only because there is still</a:t>
            </a:r>
            <a:r>
              <a:rPr lang="en-GB" sz="1400" b="1" i="1" dirty="0">
                <a:solidFill>
                  <a:srgbClr val="FF0000"/>
                </a:solidFill>
              </a:rPr>
              <a:t>\</a:t>
            </a:r>
            <a:r>
              <a:rPr lang="en-GB" sz="1400" b="1" i="1" dirty="0" err="1">
                <a:solidFill>
                  <a:srgbClr val="FF0000"/>
                </a:solidFill>
              </a:rPr>
              <a:t>n</a:t>
            </a:r>
            <a:r>
              <a:rPr lang="en-GB" sz="1400" i="1" dirty="0" err="1"/>
              <a:t>treasure</a:t>
            </a:r>
            <a:r>
              <a:rPr lang="en-GB" sz="1400" i="1" dirty="0"/>
              <a:t> not yet lifted, I take up my</a:t>
            </a:r>
            <a:r>
              <a:rPr lang="en-GB" sz="1400" b="1" i="1" dirty="0">
                <a:solidFill>
                  <a:srgbClr val="FF0000"/>
                </a:solidFill>
              </a:rPr>
              <a:t>\</a:t>
            </a:r>
            <a:r>
              <a:rPr lang="en-GB" sz="1400" b="1" i="1" dirty="0" err="1">
                <a:solidFill>
                  <a:srgbClr val="FF0000"/>
                </a:solidFill>
              </a:rPr>
              <a:t>n</a:t>
            </a:r>
            <a:r>
              <a:rPr lang="en-GB" sz="1400" i="1" dirty="0" err="1"/>
              <a:t>pen</a:t>
            </a:r>
            <a:r>
              <a:rPr lang="en-GB" sz="1400" i="1" dirty="0"/>
              <a:t> in the year of grace 17__ and go</a:t>
            </a:r>
            <a:r>
              <a:rPr lang="en-GB" sz="1400" b="1" i="1" dirty="0">
                <a:solidFill>
                  <a:srgbClr val="FF0000"/>
                </a:solidFill>
              </a:rPr>
              <a:t>\</a:t>
            </a:r>
            <a:r>
              <a:rPr lang="en-GB" sz="1400" b="1" i="1" dirty="0" err="1">
                <a:solidFill>
                  <a:srgbClr val="FF0000"/>
                </a:solidFill>
              </a:rPr>
              <a:t>n</a:t>
            </a:r>
            <a:r>
              <a:rPr lang="en-GB" sz="1400" i="1" dirty="0" err="1"/>
              <a:t>back</a:t>
            </a:r>
            <a:r>
              <a:rPr lang="en-GB" sz="1400" i="1" dirty="0"/>
              <a:t> to the time when my father kept</a:t>
            </a:r>
            <a:r>
              <a:rPr lang="en-GB" sz="1400" b="1" i="1" dirty="0">
                <a:solidFill>
                  <a:srgbClr val="FF0000"/>
                </a:solidFill>
              </a:rPr>
              <a:t>\</a:t>
            </a:r>
            <a:r>
              <a:rPr lang="en-GB" sz="1400" b="1" i="1" dirty="0" err="1">
                <a:solidFill>
                  <a:srgbClr val="FF0000"/>
                </a:solidFill>
              </a:rPr>
              <a:t>n</a:t>
            </a:r>
            <a:r>
              <a:rPr lang="en-GB" sz="1400" i="1" dirty="0" err="1"/>
              <a:t>the</a:t>
            </a:r>
            <a:r>
              <a:rPr lang="en-GB" sz="1400" i="1" dirty="0"/>
              <a:t> Admiral </a:t>
            </a:r>
            <a:r>
              <a:rPr lang="en-GB" sz="1400" i="1" dirty="0" err="1"/>
              <a:t>Benbow</a:t>
            </a:r>
            <a:r>
              <a:rPr lang="en-GB" sz="1400" i="1" dirty="0"/>
              <a:t> inn and the brown</a:t>
            </a:r>
            <a:r>
              <a:rPr lang="en-GB" sz="1400" b="1" i="1" dirty="0">
                <a:solidFill>
                  <a:srgbClr val="FF0000"/>
                </a:solidFill>
              </a:rPr>
              <a:t>\</a:t>
            </a:r>
            <a:r>
              <a:rPr lang="en-GB" sz="1400" b="1" i="1" dirty="0" err="1">
                <a:solidFill>
                  <a:srgbClr val="FF0000"/>
                </a:solidFill>
              </a:rPr>
              <a:t>n</a:t>
            </a:r>
            <a:r>
              <a:rPr lang="en-GB" sz="1400" i="1" dirty="0" err="1"/>
              <a:t>old</a:t>
            </a:r>
            <a:r>
              <a:rPr lang="en-GB" sz="1400" i="1" dirty="0"/>
              <a:t> seaman with the sabre cut first</a:t>
            </a:r>
            <a:r>
              <a:rPr lang="en-GB" sz="1400" b="1" i="1" dirty="0">
                <a:solidFill>
                  <a:srgbClr val="FF0000"/>
                </a:solidFill>
              </a:rPr>
              <a:t>\</a:t>
            </a:r>
            <a:r>
              <a:rPr lang="en-GB" sz="1400" b="1" i="1" dirty="0" err="1">
                <a:solidFill>
                  <a:srgbClr val="FF0000"/>
                </a:solidFill>
              </a:rPr>
              <a:t>n</a:t>
            </a:r>
            <a:r>
              <a:rPr lang="en-GB" sz="1400" i="1" dirty="0" err="1"/>
              <a:t>took</a:t>
            </a:r>
            <a:r>
              <a:rPr lang="en-GB" sz="1400" i="1" dirty="0"/>
              <a:t> up his lodging under our roof.'</a:t>
            </a:r>
            <a:endParaRPr lang="en-GB" sz="2000" i="1" dirty="0"/>
          </a:p>
          <a:p>
            <a:endParaRPr lang="en-GB" sz="2400" i="1" dirty="0"/>
          </a:p>
          <a:p>
            <a:pPr>
              <a:spcBef>
                <a:spcPts val="0"/>
              </a:spcBef>
            </a:pPr>
            <a:r>
              <a:rPr lang="en-GB" sz="1200" i="1" dirty="0"/>
              <a:t>SQUIRE TRELAWNEY, </a:t>
            </a:r>
            <a:r>
              <a:rPr lang="en-GB" sz="1200" i="1" dirty="0" err="1"/>
              <a:t>Dr.</a:t>
            </a:r>
            <a:r>
              <a:rPr lang="en-GB" sz="1200" i="1" dirty="0"/>
              <a:t> </a:t>
            </a:r>
            <a:r>
              <a:rPr lang="en-GB" sz="1200" i="1" dirty="0" err="1"/>
              <a:t>Livesey</a:t>
            </a:r>
            <a:r>
              <a:rPr lang="en-GB" sz="1200" i="1" dirty="0"/>
              <a:t>, and the</a:t>
            </a:r>
          </a:p>
          <a:p>
            <a:pPr>
              <a:spcBef>
                <a:spcPts val="0"/>
              </a:spcBef>
            </a:pPr>
            <a:r>
              <a:rPr lang="en-GB" sz="1200" i="1" dirty="0"/>
              <a:t> rest of these gentlemen having asked me</a:t>
            </a:r>
          </a:p>
          <a:p>
            <a:pPr>
              <a:spcBef>
                <a:spcPts val="0"/>
              </a:spcBef>
            </a:pPr>
            <a:r>
              <a:rPr lang="en-GB" sz="1200" i="1" dirty="0"/>
              <a:t> to write down the whole particulars</a:t>
            </a:r>
          </a:p>
          <a:p>
            <a:pPr>
              <a:spcBef>
                <a:spcPts val="0"/>
              </a:spcBef>
            </a:pPr>
            <a:r>
              <a:rPr lang="en-GB" sz="1200" i="1" dirty="0"/>
              <a:t>about Treasure Island, from the</a:t>
            </a:r>
          </a:p>
          <a:p>
            <a:pPr>
              <a:spcBef>
                <a:spcPts val="0"/>
              </a:spcBef>
            </a:pPr>
            <a:r>
              <a:rPr lang="en-GB" sz="1200" i="1" dirty="0"/>
              <a:t>beginning to the end, keeping nothing</a:t>
            </a:r>
          </a:p>
          <a:p>
            <a:pPr>
              <a:spcBef>
                <a:spcPts val="0"/>
              </a:spcBef>
            </a:pPr>
            <a:r>
              <a:rPr lang="en-GB" sz="1200" i="1" dirty="0"/>
              <a:t>back but the bearings of the island,</a:t>
            </a:r>
          </a:p>
          <a:p>
            <a:pPr>
              <a:spcBef>
                <a:spcPts val="0"/>
              </a:spcBef>
            </a:pPr>
            <a:r>
              <a:rPr lang="en-GB" sz="1200" i="1" dirty="0"/>
              <a:t>and that only because there is still</a:t>
            </a:r>
          </a:p>
          <a:p>
            <a:pPr>
              <a:spcBef>
                <a:spcPts val="0"/>
              </a:spcBef>
            </a:pPr>
            <a:r>
              <a:rPr lang="en-GB" sz="1200" i="1" dirty="0"/>
              <a:t>treasure not yet lifted, I take up my</a:t>
            </a:r>
          </a:p>
          <a:p>
            <a:pPr>
              <a:spcBef>
                <a:spcPts val="0"/>
              </a:spcBef>
            </a:pPr>
            <a:r>
              <a:rPr lang="en-GB" sz="1200" i="1" dirty="0"/>
              <a:t>pen in the year of grace 17__ and go</a:t>
            </a:r>
          </a:p>
          <a:p>
            <a:pPr>
              <a:spcBef>
                <a:spcPts val="0"/>
              </a:spcBef>
            </a:pPr>
            <a:r>
              <a:rPr lang="en-GB" sz="1200" i="1" dirty="0"/>
              <a:t>back to the time when my father kept</a:t>
            </a:r>
          </a:p>
          <a:p>
            <a:pPr>
              <a:spcBef>
                <a:spcPts val="0"/>
              </a:spcBef>
            </a:pPr>
            <a:r>
              <a:rPr lang="en-GB" sz="1200" i="1" dirty="0"/>
              <a:t>the Admiral </a:t>
            </a:r>
            <a:r>
              <a:rPr lang="en-GB" sz="1200" i="1" dirty="0" err="1"/>
              <a:t>Benbow</a:t>
            </a:r>
            <a:r>
              <a:rPr lang="en-GB" sz="1200" i="1" dirty="0"/>
              <a:t> inn and the brown</a:t>
            </a:r>
          </a:p>
          <a:p>
            <a:pPr>
              <a:spcBef>
                <a:spcPts val="0"/>
              </a:spcBef>
            </a:pPr>
            <a:r>
              <a:rPr lang="en-GB" sz="1200" i="1" dirty="0"/>
              <a:t>old seaman with the sabre cut first</a:t>
            </a:r>
          </a:p>
          <a:p>
            <a:pPr>
              <a:spcBef>
                <a:spcPts val="0"/>
              </a:spcBef>
            </a:pPr>
            <a:r>
              <a:rPr lang="en-GB" sz="1200" i="1" dirty="0"/>
              <a:t>took up his lodging under our roof.</a:t>
            </a:r>
            <a:endParaRPr lang="en-GB" sz="2400" i="1" dirty="0"/>
          </a:p>
        </p:txBody>
      </p:sp>
    </p:spTree>
    <p:extLst>
      <p:ext uri="{BB962C8B-B14F-4D97-AF65-F5344CB8AC3E}">
        <p14:creationId xmlns:p14="http://schemas.microsoft.com/office/powerpoint/2010/main" val="10601622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1432560" y="1066800"/>
            <a:ext cx="7406640" cy="76528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GB" b="1" dirty="0"/>
              <a:t>Text</a:t>
            </a:r>
            <a:r>
              <a:rPr lang="en-GB" dirty="0"/>
              <a:t>: Triple quotes</a:t>
            </a:r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3560136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endParaRPr lang="en-GB" sz="1200" dirty="0">
              <a:solidFill>
                <a:srgbClr val="FF0000"/>
              </a:solidFill>
            </a:endParaRPr>
          </a:p>
          <a:p>
            <a:pPr>
              <a:spcBef>
                <a:spcPts val="0"/>
              </a:spcBef>
            </a:pPr>
            <a:r>
              <a:rPr lang="en-GB" sz="1200" dirty="0">
                <a:solidFill>
                  <a:srgbClr val="FF0000"/>
                </a:solidFill>
              </a:rPr>
              <a:t>'''</a:t>
            </a:r>
            <a:r>
              <a:rPr lang="en-GB" sz="1200" i="1" dirty="0"/>
              <a:t>SQUIRE TRELAWNEY, </a:t>
            </a:r>
            <a:r>
              <a:rPr lang="en-GB" sz="1200" i="1" dirty="0" err="1"/>
              <a:t>Dr.</a:t>
            </a:r>
            <a:r>
              <a:rPr lang="en-GB" sz="1200" i="1" dirty="0"/>
              <a:t> </a:t>
            </a:r>
            <a:r>
              <a:rPr lang="en-GB" sz="1200" i="1" dirty="0" err="1"/>
              <a:t>Livesey</a:t>
            </a:r>
            <a:r>
              <a:rPr lang="en-GB" sz="1200" i="1" dirty="0"/>
              <a:t>, and the</a:t>
            </a:r>
          </a:p>
          <a:p>
            <a:pPr>
              <a:spcBef>
                <a:spcPts val="0"/>
              </a:spcBef>
            </a:pPr>
            <a:r>
              <a:rPr lang="en-GB" sz="1200" i="1" dirty="0"/>
              <a:t> rest of these gentlemen having asked me</a:t>
            </a:r>
          </a:p>
          <a:p>
            <a:pPr>
              <a:spcBef>
                <a:spcPts val="0"/>
              </a:spcBef>
            </a:pPr>
            <a:r>
              <a:rPr lang="en-GB" sz="1200" i="1" dirty="0"/>
              <a:t> to write down the whole particulars</a:t>
            </a:r>
          </a:p>
          <a:p>
            <a:pPr>
              <a:spcBef>
                <a:spcPts val="0"/>
              </a:spcBef>
            </a:pPr>
            <a:r>
              <a:rPr lang="en-GB" sz="1200" i="1" dirty="0"/>
              <a:t>about Treasure Island, from the</a:t>
            </a:r>
          </a:p>
          <a:p>
            <a:pPr>
              <a:spcBef>
                <a:spcPts val="0"/>
              </a:spcBef>
            </a:pPr>
            <a:r>
              <a:rPr lang="en-GB" sz="1200" i="1" dirty="0"/>
              <a:t>beginning to the end, keeping nothing</a:t>
            </a:r>
          </a:p>
          <a:p>
            <a:pPr>
              <a:spcBef>
                <a:spcPts val="0"/>
              </a:spcBef>
            </a:pPr>
            <a:r>
              <a:rPr lang="en-GB" sz="1200" i="1" dirty="0"/>
              <a:t>back but the bearings of the island,</a:t>
            </a:r>
          </a:p>
          <a:p>
            <a:pPr>
              <a:spcBef>
                <a:spcPts val="0"/>
              </a:spcBef>
            </a:pPr>
            <a:r>
              <a:rPr lang="en-GB" sz="1200" i="1" dirty="0"/>
              <a:t>and that only because there is still</a:t>
            </a:r>
          </a:p>
          <a:p>
            <a:pPr>
              <a:spcBef>
                <a:spcPts val="0"/>
              </a:spcBef>
            </a:pPr>
            <a:r>
              <a:rPr lang="en-GB" sz="1200" i="1" dirty="0"/>
              <a:t>treasure not yet lifted, I take up my</a:t>
            </a:r>
          </a:p>
          <a:p>
            <a:pPr>
              <a:spcBef>
                <a:spcPts val="0"/>
              </a:spcBef>
            </a:pPr>
            <a:r>
              <a:rPr lang="en-GB" sz="1200" i="1" dirty="0"/>
              <a:t>pen in the year of grace 17__ and go</a:t>
            </a:r>
          </a:p>
          <a:p>
            <a:pPr>
              <a:spcBef>
                <a:spcPts val="0"/>
              </a:spcBef>
            </a:pPr>
            <a:r>
              <a:rPr lang="en-GB" sz="1200" i="1" dirty="0"/>
              <a:t>back to the time when my father kept</a:t>
            </a:r>
          </a:p>
          <a:p>
            <a:pPr>
              <a:spcBef>
                <a:spcPts val="0"/>
              </a:spcBef>
            </a:pPr>
            <a:r>
              <a:rPr lang="en-GB" sz="1200" i="1" dirty="0"/>
              <a:t>the Admiral </a:t>
            </a:r>
            <a:r>
              <a:rPr lang="en-GB" sz="1200" i="1" dirty="0" err="1"/>
              <a:t>Benbow</a:t>
            </a:r>
            <a:r>
              <a:rPr lang="en-GB" sz="1200" i="1" dirty="0"/>
              <a:t> inn and the brown</a:t>
            </a:r>
          </a:p>
          <a:p>
            <a:pPr>
              <a:spcBef>
                <a:spcPts val="0"/>
              </a:spcBef>
            </a:pPr>
            <a:r>
              <a:rPr lang="en-GB" sz="1200" i="1" dirty="0"/>
              <a:t>old seaman with the sabre cut first</a:t>
            </a:r>
          </a:p>
          <a:p>
            <a:pPr>
              <a:spcBef>
                <a:spcPts val="0"/>
              </a:spcBef>
            </a:pPr>
            <a:r>
              <a:rPr lang="en-GB" sz="1200" i="1" dirty="0"/>
              <a:t>took up his lodging under our roof. </a:t>
            </a:r>
            <a:r>
              <a:rPr lang="en-GB" sz="1200" i="1" dirty="0">
                <a:solidFill>
                  <a:srgbClr val="FF0000"/>
                </a:solidFill>
              </a:rPr>
              <a:t>'''</a:t>
            </a:r>
            <a:endParaRPr lang="en-GB" sz="2800" i="1" dirty="0">
              <a:solidFill>
                <a:srgbClr val="FF0000"/>
              </a:solidFill>
            </a:endParaRPr>
          </a:p>
          <a:p>
            <a:endParaRPr lang="en-GB" sz="1000" i="1" dirty="0"/>
          </a:p>
        </p:txBody>
      </p:sp>
      <p:sp>
        <p:nvSpPr>
          <p:cNvPr id="3" name="Rectangle 2"/>
          <p:cNvSpPr/>
          <p:nvPr/>
        </p:nvSpPr>
        <p:spPr>
          <a:xfrm>
            <a:off x="5155977" y="1981200"/>
            <a:ext cx="3124200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GB" sz="1200" i="1" dirty="0"/>
              <a:t>SQUIRE TRELAWNEY, </a:t>
            </a:r>
            <a:r>
              <a:rPr lang="en-GB" sz="1200" i="1" dirty="0" err="1"/>
              <a:t>Dr.</a:t>
            </a:r>
            <a:r>
              <a:rPr lang="en-GB" sz="1200" i="1" dirty="0"/>
              <a:t> </a:t>
            </a:r>
            <a:r>
              <a:rPr lang="en-GB" sz="1200" i="1" dirty="0" err="1"/>
              <a:t>Livesey</a:t>
            </a:r>
            <a:r>
              <a:rPr lang="en-GB" sz="1200" i="1" dirty="0"/>
              <a:t>, and the</a:t>
            </a:r>
          </a:p>
          <a:p>
            <a:pPr>
              <a:spcBef>
                <a:spcPts val="0"/>
              </a:spcBef>
            </a:pPr>
            <a:r>
              <a:rPr lang="en-GB" sz="1200" i="1" dirty="0"/>
              <a:t> rest of these gentlemen having asked me</a:t>
            </a:r>
          </a:p>
          <a:p>
            <a:pPr>
              <a:spcBef>
                <a:spcPts val="0"/>
              </a:spcBef>
            </a:pPr>
            <a:r>
              <a:rPr lang="en-GB" sz="1200" i="1" dirty="0"/>
              <a:t> to write down the whole particulars</a:t>
            </a:r>
          </a:p>
          <a:p>
            <a:pPr>
              <a:spcBef>
                <a:spcPts val="0"/>
              </a:spcBef>
            </a:pPr>
            <a:r>
              <a:rPr lang="en-GB" sz="1200" i="1" dirty="0"/>
              <a:t>about Treasure Island, from the</a:t>
            </a:r>
          </a:p>
          <a:p>
            <a:pPr>
              <a:spcBef>
                <a:spcPts val="0"/>
              </a:spcBef>
            </a:pPr>
            <a:r>
              <a:rPr lang="en-GB" sz="1200" i="1" dirty="0"/>
              <a:t>beginning to the end, keeping nothing</a:t>
            </a:r>
          </a:p>
          <a:p>
            <a:pPr>
              <a:spcBef>
                <a:spcPts val="0"/>
              </a:spcBef>
            </a:pPr>
            <a:r>
              <a:rPr lang="en-GB" sz="1200" i="1" dirty="0"/>
              <a:t>back but the bearings of the island,</a:t>
            </a:r>
          </a:p>
          <a:p>
            <a:pPr>
              <a:spcBef>
                <a:spcPts val="0"/>
              </a:spcBef>
            </a:pPr>
            <a:r>
              <a:rPr lang="en-GB" sz="1200" i="1" dirty="0"/>
              <a:t>and that only because there is still</a:t>
            </a:r>
          </a:p>
          <a:p>
            <a:pPr>
              <a:spcBef>
                <a:spcPts val="0"/>
              </a:spcBef>
            </a:pPr>
            <a:r>
              <a:rPr lang="en-GB" sz="1200" i="1" dirty="0"/>
              <a:t>treasure not yet lifted, I take up my</a:t>
            </a:r>
          </a:p>
          <a:p>
            <a:pPr>
              <a:spcBef>
                <a:spcPts val="0"/>
              </a:spcBef>
            </a:pPr>
            <a:r>
              <a:rPr lang="en-GB" sz="1200" i="1" dirty="0"/>
              <a:t>pen in the year of grace 17__ and go</a:t>
            </a:r>
          </a:p>
          <a:p>
            <a:pPr>
              <a:spcBef>
                <a:spcPts val="0"/>
              </a:spcBef>
            </a:pPr>
            <a:r>
              <a:rPr lang="en-GB" sz="1200" i="1" dirty="0"/>
              <a:t>back to the time when my father kept</a:t>
            </a:r>
          </a:p>
          <a:p>
            <a:pPr>
              <a:spcBef>
                <a:spcPts val="0"/>
              </a:spcBef>
            </a:pPr>
            <a:r>
              <a:rPr lang="en-GB" sz="1200" i="1" dirty="0"/>
              <a:t>the Admiral </a:t>
            </a:r>
            <a:r>
              <a:rPr lang="en-GB" sz="1200" i="1" dirty="0" err="1"/>
              <a:t>Benbow</a:t>
            </a:r>
            <a:r>
              <a:rPr lang="en-GB" sz="1200" i="1" dirty="0"/>
              <a:t> inn and the brown</a:t>
            </a:r>
          </a:p>
          <a:p>
            <a:pPr>
              <a:spcBef>
                <a:spcPts val="0"/>
              </a:spcBef>
            </a:pPr>
            <a:r>
              <a:rPr lang="en-GB" sz="1200" i="1" dirty="0"/>
              <a:t>old seaman with the sabre cut first</a:t>
            </a:r>
          </a:p>
          <a:p>
            <a:pPr>
              <a:spcBef>
                <a:spcPts val="0"/>
              </a:spcBef>
            </a:pPr>
            <a:r>
              <a:rPr lang="en-GB" sz="1200" i="1" dirty="0"/>
              <a:t>took up his lodging under our roof.</a:t>
            </a:r>
            <a:endParaRPr lang="en-GB" sz="2400" i="1" dirty="0"/>
          </a:p>
        </p:txBody>
      </p:sp>
    </p:spTree>
    <p:extLst>
      <p:ext uri="{BB962C8B-B14F-4D97-AF65-F5344CB8AC3E}">
        <p14:creationId xmlns:p14="http://schemas.microsoft.com/office/powerpoint/2010/main" val="42672430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1432560" y="1066800"/>
            <a:ext cx="7406640" cy="76528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GB" dirty="0"/>
              <a:t>Python Programming</a:t>
            </a:r>
            <a:endParaRPr lang="en-US" dirty="0"/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3560136"/>
          </a:xfrm>
        </p:spPr>
        <p:txBody>
          <a:bodyPr>
            <a:noAutofit/>
          </a:bodyPr>
          <a:lstStyle/>
          <a:p>
            <a:r>
              <a:rPr lang="en-GB" b="1" dirty="0"/>
              <a:t>Text</a:t>
            </a:r>
            <a:r>
              <a:rPr lang="en-GB" dirty="0"/>
              <a:t>: Quotes, all the same</a:t>
            </a:r>
          </a:p>
          <a:p>
            <a:pPr>
              <a:spcBef>
                <a:spcPts val="0"/>
              </a:spcBef>
            </a:pPr>
            <a:endParaRPr lang="en-GB" sz="1200" dirty="0">
              <a:solidFill>
                <a:srgbClr val="FF0000"/>
              </a:solidFill>
            </a:endParaRPr>
          </a:p>
          <a:p>
            <a:pPr>
              <a:spcBef>
                <a:spcPts val="0"/>
              </a:spcBef>
            </a:pPr>
            <a:endParaRPr lang="en-GB" sz="1800" i="1" dirty="0">
              <a:solidFill>
                <a:schemeClr val="tx1"/>
              </a:solidFill>
            </a:endParaRPr>
          </a:p>
          <a:p>
            <a:endParaRPr lang="en-GB" sz="1000" i="1" dirty="0"/>
          </a:p>
        </p:txBody>
      </p:sp>
      <p:sp>
        <p:nvSpPr>
          <p:cNvPr id="7" name="Rounded Rectangle 6"/>
          <p:cNvSpPr/>
          <p:nvPr/>
        </p:nvSpPr>
        <p:spPr>
          <a:xfrm>
            <a:off x="1639389" y="2476500"/>
            <a:ext cx="2209800" cy="533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sz="2400" dirty="0"/>
              <a:t>'Hello,\</a:t>
            </a:r>
            <a:r>
              <a:rPr lang="en-GB" sz="2400" dirty="0" err="1"/>
              <a:t>nworld</a:t>
            </a:r>
            <a:r>
              <a:rPr lang="en-GB" sz="2400" dirty="0"/>
              <a:t>!'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38600" y="2481943"/>
            <a:ext cx="2345094" cy="533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sz="2400" dirty="0"/>
              <a:t>"Hello,\</a:t>
            </a:r>
            <a:r>
              <a:rPr lang="en-GB" sz="2400" dirty="0" err="1"/>
              <a:t>nworld</a:t>
            </a:r>
            <a:r>
              <a:rPr lang="en-GB" sz="2400" dirty="0"/>
              <a:t>!"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33169" y="3352800"/>
            <a:ext cx="1338631" cy="762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sz="2400" dirty="0"/>
              <a:t>'''Hello,</a:t>
            </a:r>
          </a:p>
          <a:p>
            <a:r>
              <a:rPr lang="en-GB" sz="2400" dirty="0"/>
              <a:t>world!'''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38600" y="3352800"/>
            <a:ext cx="1524000" cy="762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sz="2400" dirty="0"/>
              <a:t>"""Hello,</a:t>
            </a:r>
          </a:p>
          <a:p>
            <a:r>
              <a:rPr lang="en-GB" sz="2400" dirty="0"/>
              <a:t>world!"""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9389" y="4648200"/>
            <a:ext cx="6264275" cy="86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186519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5EAF8-FCC9-E18F-68CA-5AB68717F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766EB35-EB91-BD2F-4CCD-2E1EECFD5201}"/>
              </a:ext>
            </a:extLst>
          </p:cNvPr>
          <p:cNvSpPr txBox="1">
            <a:spLocks/>
          </p:cNvSpPr>
          <p:nvPr/>
        </p:nvSpPr>
        <p:spPr>
          <a:xfrm>
            <a:off x="1432560" y="1066800"/>
            <a:ext cx="7406640" cy="76528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GB" dirty="0"/>
              <a:t>Triple Quotes </a:t>
            </a:r>
            <a:r>
              <a:rPr lang="en-GB" dirty="0" err="1"/>
              <a:t>Exercist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0067EC4-D6F6-3C9E-D3B2-DF6F9F164E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4668627"/>
              </p:ext>
            </p:extLst>
          </p:nvPr>
        </p:nvGraphicFramePr>
        <p:xfrm>
          <a:off x="1647100" y="5181600"/>
          <a:ext cx="1765300" cy="1043940"/>
        </p:xfrm>
        <a:graphic>
          <a:graphicData uri="http://schemas.openxmlformats.org/drawingml/2006/table">
            <a:tbl>
              <a:tblPr/>
              <a:tblGrid>
                <a:gridCol w="1765300">
                  <a:extLst>
                    <a:ext uri="{9D8B030D-6E8A-4147-A177-3AD203B41FA5}">
                      <a16:colId xmlns:a16="http://schemas.microsoft.com/office/drawing/2014/main" val="27581114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GB" sz="1050" b="0" i="0" dirty="0">
                          <a:effectLst/>
                          <a:latin typeface="Segoe UI" panose="020B0502040204020203" pitchFamily="34" charset="0"/>
                        </a:rPr>
                        <a:t>The AI arrived at NCCA.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GB" sz="1050" b="0" i="0" dirty="0">
                          <a:effectLst/>
                          <a:latin typeface="Segoe UI" panose="020B0502040204020203" pitchFamily="34" charset="0"/>
                        </a:rPr>
                        <a:t>It wanted coffee.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GB" sz="1050" b="0" i="0" dirty="0">
                          <a:effectLst/>
                          <a:latin typeface="Segoe UI" panose="020B0502040204020203" pitchFamily="34" charset="0"/>
                        </a:rPr>
                        <a:t>It opened Maya.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GB" sz="1050" b="0" i="0" dirty="0">
                          <a:effectLst/>
                          <a:latin typeface="Segoe UI" panose="020B0502040204020203" pitchFamily="34" charset="0"/>
                        </a:rPr>
                        <a:t>It forgot to save.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GB" sz="1050" b="0" i="0" dirty="0">
                          <a:effectLst/>
                          <a:latin typeface="Segoe UI" panose="020B0502040204020203" pitchFamily="34" charset="0"/>
                        </a:rPr>
                        <a:t>The computer restarted.</a:t>
                      </a:r>
                    </a:p>
                  </a:txBody>
                  <a:tcPr>
                    <a:lnL w="476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806397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5C835F8-692C-FEE6-3BD8-5DAD14E60D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5906207"/>
              </p:ext>
            </p:extLst>
          </p:nvPr>
        </p:nvGraphicFramePr>
        <p:xfrm>
          <a:off x="3496319" y="5276850"/>
          <a:ext cx="1911350" cy="853440"/>
        </p:xfrm>
        <a:graphic>
          <a:graphicData uri="http://schemas.openxmlformats.org/drawingml/2006/table">
            <a:tbl>
              <a:tblPr/>
              <a:tblGrid>
                <a:gridCol w="1911350">
                  <a:extLst>
                    <a:ext uri="{9D8B030D-6E8A-4147-A177-3AD203B41FA5}">
                      <a16:colId xmlns:a16="http://schemas.microsoft.com/office/drawing/2014/main" val="24674499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GB" sz="1050" b="0" i="0" dirty="0">
                          <a:effectLst/>
                          <a:latin typeface="Segoe UI" panose="020B0502040204020203" pitchFamily="34" charset="0"/>
                        </a:rPr>
                        <a:t>The AI finished its animation.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GB" sz="1050" b="0" i="0" dirty="0">
                          <a:effectLst/>
                          <a:latin typeface="Segoe UI" panose="020B0502040204020203" pitchFamily="34" charset="0"/>
                        </a:rPr>
                        <a:t>It pressed Render.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GB" sz="1050" b="0" i="0" dirty="0">
                          <a:effectLst/>
                          <a:latin typeface="Segoe UI" panose="020B0502040204020203" pitchFamily="34" charset="0"/>
                        </a:rPr>
                        <a:t>Estimated time remaining: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GB" sz="1050" b="0" i="0" dirty="0">
                          <a:effectLst/>
                          <a:latin typeface="Segoe UI" panose="020B0502040204020203" pitchFamily="34" charset="0"/>
                        </a:rPr>
                        <a:t>3 days 17 hours.</a:t>
                      </a:r>
                    </a:p>
                  </a:txBody>
                  <a:tcPr>
                    <a:lnL w="476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016359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0127D695-F299-2E4D-3C94-252D8AFB5155}"/>
              </a:ext>
            </a:extLst>
          </p:cNvPr>
          <p:cNvSpPr txBox="1"/>
          <p:nvPr/>
        </p:nvSpPr>
        <p:spPr>
          <a:xfrm>
            <a:off x="5643475" y="5257562"/>
            <a:ext cx="35052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"""</a:t>
            </a:r>
          </a:p>
          <a:p>
            <a:r>
              <a:rPr lang="en-GB" sz="1400" dirty="0"/>
              <a:t>The AI arrived at NCCA.</a:t>
            </a:r>
          </a:p>
          <a:p>
            <a:r>
              <a:rPr lang="en-GB" sz="1400" dirty="0"/>
              <a:t>It said, 'I know everything about animation.'</a:t>
            </a:r>
          </a:p>
          <a:p>
            <a:r>
              <a:rPr lang="en-GB" sz="1400" dirty="0"/>
              <a:t>A student asked:</a:t>
            </a:r>
          </a:p>
          <a:p>
            <a:r>
              <a:rPr lang="en-GB" sz="1400" dirty="0"/>
              <a:t>'Can you fix my rig?'</a:t>
            </a:r>
          </a:p>
          <a:p>
            <a:r>
              <a:rPr lang="en-GB" sz="1400" dirty="0"/>
              <a:t>The AI applied for annual leave.</a:t>
            </a:r>
          </a:p>
          <a:p>
            <a:r>
              <a:rPr lang="en-GB" sz="1400" dirty="0"/>
              <a:t>"""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76B4932-A04E-4C21-3AF5-1823528372A2}"/>
              </a:ext>
            </a:extLst>
          </p:cNvPr>
          <p:cNvSpPr txBox="1"/>
          <p:nvPr/>
        </p:nvSpPr>
        <p:spPr>
          <a:xfrm>
            <a:off x="1524000" y="2667000"/>
            <a:ext cx="601839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Write a funny story about an AI  and an animator working at ZJU.</a:t>
            </a:r>
          </a:p>
          <a:p>
            <a:r>
              <a:rPr lang="en-GB" dirty="0"/>
              <a:t>Requirements:</a:t>
            </a:r>
          </a:p>
          <a:p>
            <a:r>
              <a:rPr lang="en-GB" dirty="0"/>
              <a:t>• use triple quotes</a:t>
            </a:r>
          </a:p>
          <a:p>
            <a:r>
              <a:rPr lang="en-GB" dirty="0"/>
              <a:t>• minimum 5 lines</a:t>
            </a:r>
          </a:p>
          <a:p>
            <a:r>
              <a:rPr lang="en-GB" dirty="0"/>
              <a:t>• include dialogue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54D55D0-B998-0B8F-9EBC-8925D308EE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3159018"/>
            <a:ext cx="19050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91013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Custom 3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5050F6D1718DE46A3C18ED24F3CED5D" ma:contentTypeVersion="19" ma:contentTypeDescription="Create a new document." ma:contentTypeScope="" ma:versionID="410dabcf04c30db477af8aec3a008be5">
  <xsd:schema xmlns:xsd="http://www.w3.org/2001/XMLSchema" xmlns:xs="http://www.w3.org/2001/XMLSchema" xmlns:p="http://schemas.microsoft.com/office/2006/metadata/properties" xmlns:ns3="8216c9bb-a3f7-40c7-aa15-fb0efe595a4d" xmlns:ns4="7b835cfa-d6d7-4cf7-9990-dbcbdf97b3e4" targetNamespace="http://schemas.microsoft.com/office/2006/metadata/properties" ma:root="true" ma:fieldsID="be0fc850846961de756408758227ce56" ns3:_="" ns4:_="">
    <xsd:import namespace="8216c9bb-a3f7-40c7-aa15-fb0efe595a4d"/>
    <xsd:import namespace="7b835cfa-d6d7-4cf7-9990-dbcbdf97b3e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16c9bb-a3f7-40c7-aa15-fb0efe595a4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835cfa-d6d7-4cf7-9990-dbcbdf97b3e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216c9bb-a3f7-40c7-aa15-fb0efe595a4d" xsi:nil="true"/>
  </documentManagement>
</p:properties>
</file>

<file path=customXml/itemProps1.xml><?xml version="1.0" encoding="utf-8"?>
<ds:datastoreItem xmlns:ds="http://schemas.openxmlformats.org/officeDocument/2006/customXml" ds:itemID="{FE3074A8-70D1-45F5-A88A-317506F4793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216c9bb-a3f7-40c7-aa15-fb0efe595a4d"/>
    <ds:schemaRef ds:uri="7b835cfa-d6d7-4cf7-9990-dbcbdf97b3e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EE8E67B-7713-4E29-99F2-85EE418CC68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8579EFD-9A8B-45C8-98E2-A7BC0D27E649}">
  <ds:schemaRefs>
    <ds:schemaRef ds:uri="http://schemas.openxmlformats.org/package/2006/metadata/core-properties"/>
    <ds:schemaRef ds:uri="http://schemas.microsoft.com/office/infopath/2007/PartnerControls"/>
    <ds:schemaRef ds:uri="http://schemas.microsoft.com/office/2006/documentManagement/types"/>
    <ds:schemaRef ds:uri="8216c9bb-a3f7-40c7-aa15-fb0efe595a4d"/>
    <ds:schemaRef ds:uri="http://purl.org/dc/terms/"/>
    <ds:schemaRef ds:uri="http://purl.org/dc/elements/1.1/"/>
    <ds:schemaRef ds:uri="http://www.w3.org/XML/1998/namespace"/>
    <ds:schemaRef ds:uri="http://schemas.microsoft.com/office/2006/metadata/properties"/>
    <ds:schemaRef ds:uri="7b835cfa-d6d7-4cf7-9990-dbcbdf97b3e4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ede29655-d097-42e4-bbb5-f38d427fbfb8}" enabled="0" method="" siteId="{ede29655-d097-42e4-bbb5-f38d427fbfb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2751</TotalTime>
  <Words>1092</Words>
  <Application>Microsoft Office PowerPoint</Application>
  <PresentationFormat>On-screen Show (4:3)</PresentationFormat>
  <Paragraphs>211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Segoe UI</vt:lpstr>
      <vt:lpstr>Times New Roman</vt:lpstr>
      <vt:lpstr>Verdana</vt:lpstr>
      <vt:lpstr>Wingdings 2</vt:lpstr>
      <vt:lpstr>Solstice</vt:lpstr>
      <vt:lpstr>Introduction to Python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Functions</dc:title>
  <dc:creator>sam</dc:creator>
  <cp:lastModifiedBy>Xiaosong Yang</cp:lastModifiedBy>
  <cp:revision>374</cp:revision>
  <cp:lastPrinted>2019-10-09T15:46:03Z</cp:lastPrinted>
  <dcterms:created xsi:type="dcterms:W3CDTF">2006-08-16T00:00:00Z</dcterms:created>
  <dcterms:modified xsi:type="dcterms:W3CDTF">2026-07-13T16:09:54Z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0x010100C5050F6D1718DE46A3C18ED24F3CED5D</vt:lpwstr>
  </property>
</Properties>
</file>