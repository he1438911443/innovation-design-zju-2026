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1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hero_di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2898648" y="-91440"/>
            <a:ext cx="6400800" cy="6400800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3172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PROCEDURAL  ·  MAYA PYTHON  ·  2026</a:t>
            </a:r>
            <a:endParaRPr sz="13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269748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>
                <a:solidFill>
                  <a:srgbClr val="F0F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 CAVERN</a:t>
            </a:r>
            <a:endParaRPr sz="6000" b="1">
              <a:solidFill>
                <a:srgbClr val="F0F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>
                <a:solidFill>
                  <a:srgbClr val="4DE4FF"/>
                </a:solidFill>
                <a:latin typeface="微软雅黑"/>
                <a:ea typeface="微软雅黑"/>
                <a:cs typeface="微软雅黑"/>
              </a:rPr>
              <a:t>Python 驱动 Maya 程序化水晶洞穴生成系统</a:t>
            </a:r>
            <a:endParaRPr sz="2200" b="0">
              <a:solidFill>
                <a:srgbClr val="4DE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4937760" y="4343400"/>
            <a:ext cx="2313432" cy="0"/>
          </a:xfrm>
          <a:prstGeom prst="line">
            <a:avLst/>
          </a:prstGeom>
          <a:ln w="1905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0" y="4480560"/>
            <a:ext cx="12191695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未来创新设计  ·  浙江大学 2026  ·  Prof. Xiaosong Yang</a:t>
            </a:r>
            <a:endParaRPr sz="150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  <a:p>
            <a:pPr algn="ctr"/>
            <a:r>
              <a:rPr lang="en-US" sz="150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He Xiangrong 3230104205</a:t>
            </a:r>
            <a:endParaRPr lang="en-US" sz="150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 · PROJECT OVERVIEW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项目概述  —  从实景到程序化生成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326880" y="4572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v1→v2→v3 迭代</a:t>
            </a:r>
            <a:endParaRPr sz="10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 / 12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15087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66,049</a:t>
            </a:r>
            <a:endParaRPr sz="38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176479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地形顶点</a:t>
            </a:r>
            <a:endParaRPr sz="140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0" y="24231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B388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56</a:t>
            </a:r>
            <a:endParaRPr sz="3800" b="1">
              <a:solidFill>
                <a:srgbClr val="B388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78240" y="267919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颗六棱柱晶体</a:t>
            </a:r>
            <a:endParaRPr sz="140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75120" y="33375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FFC14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960</a:t>
            </a:r>
            <a:endParaRPr sz="3800" b="1">
              <a:solidFill>
                <a:srgbClr val="FFC14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78240" y="359359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帧飞越动画</a:t>
            </a:r>
            <a:endParaRPr sz="140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75120" y="43434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一键点击 → Maya 自动生成完整水晶洞穴：地形、晶体、灯光、飞越相机，全程零手动。</a:t>
            </a:r>
            <a:endParaRPr sz="13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5715000"/>
            <a:ext cx="11091672" cy="0"/>
          </a:xfrm>
          <a:prstGeom prst="line">
            <a:avLst/>
          </a:prstGeom>
          <a:ln w="15875">
            <a:solidFill>
              <a:srgbClr val="009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75488" y="5641848"/>
            <a:ext cx="146304" cy="146304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58247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7/19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0" y="604418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v1 原型</a:t>
            </a:r>
            <a:endParaRPr sz="10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021324" y="5641848"/>
            <a:ext cx="146304" cy="146304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45836" y="58247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B388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7/20</a:t>
            </a:r>
            <a:endParaRPr sz="1100" b="1">
              <a:solidFill>
                <a:srgbClr val="B388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545836" y="604418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v2 管线</a:t>
            </a:r>
            <a:endParaRPr sz="10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11567160" y="5641848"/>
            <a:ext cx="146304" cy="146304"/>
          </a:xfrm>
          <a:prstGeom prst="ellipse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91672" y="58247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C14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7/21</a:t>
            </a:r>
            <a:endParaRPr sz="1100" b="1">
              <a:solidFill>
                <a:srgbClr val="FFC14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91672" y="604418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v3 精品</a:t>
            </a:r>
            <a:endParaRPr sz="10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75120" y="59436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3 天内从算法原型迭代到完整交付，4 个核心模块各经历 2-3 轮代际进化</a:t>
            </a:r>
            <a:endParaRPr sz="10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3" name="图片 32" descr="gui_v3_crysta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6560" y="1662430"/>
            <a:ext cx="2255520" cy="3486785"/>
          </a:xfrm>
          <a:prstGeom prst="rect">
            <a:avLst/>
          </a:prstGeom>
        </p:spPr>
      </p:pic>
      <p:pic>
        <p:nvPicPr>
          <p:cNvPr id="35" name="图片 34" descr="0cf7cc1349abe3d1248e12b04438b58c~tplv-a9rns2rl98-pc_smart_face_crop-v1_512_3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" y="1663700"/>
            <a:ext cx="3572510" cy="2679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 · REFERENCE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实景参考  —  奈卡水晶洞 vs 算法目标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 / 12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实景  ·  墨西哥奈卡 (Naica) 水晶洞</a:t>
            </a:r>
            <a:endParaRPr sz="120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6640" y="1725360"/>
            <a:ext cx="2767200" cy="2081400"/>
          </a:xfrm>
          <a:prstGeom prst="rect">
            <a:avLst/>
          </a:prstGeom>
          <a:solidFill>
            <a:srgbClr val="0A0E1A"/>
          </a:solidFill>
          <a:ln w="9525">
            <a:solidFill>
              <a:srgbClr val="FFC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2743200" cy="2057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417000" y="1725360"/>
            <a:ext cx="2767200" cy="2081400"/>
          </a:xfrm>
          <a:prstGeom prst="rect">
            <a:avLst/>
          </a:prstGeom>
          <a:solidFill>
            <a:srgbClr val="0A0E1A"/>
          </a:solidFill>
          <a:ln w="9525">
            <a:solidFill>
              <a:srgbClr val="FFC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737360"/>
            <a:ext cx="2743200" cy="2057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3886200"/>
            <a:ext cx="5623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▼  从实景到算法生成目标</a:t>
            </a:r>
            <a:endParaRPr sz="12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478980" y="4194240"/>
            <a:ext cx="3762880" cy="2127120"/>
          </a:xfrm>
          <a:prstGeom prst="rect">
            <a:avLst/>
          </a:prstGeom>
          <a:solidFill>
            <a:srgbClr val="0A0E1A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rnold_r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0" y="4206240"/>
            <a:ext cx="3738880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13716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算法目标  ·  我们的程序化生成</a:t>
            </a:r>
            <a:endParaRPr sz="1200" b="1">
              <a:solidFill>
                <a:srgbClr val="00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80240" y="1839660"/>
            <a:ext cx="5144640" cy="2904360"/>
          </a:xfrm>
          <a:prstGeom prst="rect">
            <a:avLst/>
          </a:prstGeom>
          <a:solidFill>
            <a:srgbClr val="0A0E1A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en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51660"/>
            <a:ext cx="5120640" cy="2880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75120" y="5029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7B2FF7"/>
                </a:solidFill>
                <a:latin typeface="微软雅黑"/>
                <a:ea typeface="微软雅黑"/>
                <a:cs typeface="微软雅黑"/>
              </a:rPr>
              <a:t>▸</a:t>
            </a:r>
            <a:endParaRPr sz="1300" b="1">
              <a:solidFill>
                <a:srgbClr val="7B2F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49440" y="5029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晶簇生长  ·  多色辉光</a:t>
            </a:r>
            <a:endParaRPr sz="12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75120" y="53766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7B2FF7"/>
                </a:solidFill>
                <a:latin typeface="微软雅黑"/>
                <a:ea typeface="微软雅黑"/>
                <a:cs typeface="微软雅黑"/>
              </a:rPr>
              <a:t>▸</a:t>
            </a:r>
            <a:endParaRPr sz="1300" b="1">
              <a:solidFill>
                <a:srgbClr val="7B2F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49440" y="5376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次表面散射照明  ·  暗洞氛围</a:t>
            </a:r>
            <a:endParaRPr sz="12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75120" y="572414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7B2FF7"/>
                </a:solidFill>
                <a:latin typeface="微软雅黑"/>
                <a:ea typeface="微软雅黑"/>
                <a:cs typeface="微软雅黑"/>
              </a:rPr>
              <a:t>▸</a:t>
            </a:r>
            <a:endParaRPr sz="1300" b="1">
              <a:solidFill>
                <a:srgbClr val="7B2F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49440" y="572414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体积光束  ·  10 种宝石材质</a:t>
            </a:r>
            <a:endParaRPr sz="12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608076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真实晶洞长达 12 米 — 用算法复现其几何与光照质感</a:t>
            </a:r>
            <a:endParaRPr sz="10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595" y="4340225"/>
            <a:ext cx="3771900" cy="18548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 · ALGORITHM INNOVATION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算法创新  —  四个经典算法的三维应用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326880" y="4572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v1→v3 进化</a:t>
            </a:r>
            <a:endParaRPr sz="10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 / 12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48640" y="1508760"/>
            <a:ext cx="18288" cy="941832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148132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Diamond-Square</a:t>
            </a:r>
            <a:endParaRPr sz="16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Fournier, Fussell &amp; Carpenter · 1982</a:t>
            </a:r>
            <a:endParaRPr sz="1050" b="0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0480" y="157276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66,049 顶点地形 · 洞穴塑造（径向幂 + 正弦扰动）</a:t>
            </a:r>
            <a:endParaRPr sz="12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595360" y="1773936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v1→v3 · 算法不变，v3 新增 OpenMaya2 批量写入</a:t>
            </a:r>
            <a:endParaRPr sz="10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587752"/>
            <a:ext cx="18288" cy="941832"/>
          </a:xfrm>
          <a:prstGeom prst="line">
            <a:avLst/>
          </a:prstGeom>
          <a:ln w="31750">
            <a:solidFill>
              <a:srgbClr val="B38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256032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Poisson-disc 采样</a:t>
            </a:r>
            <a:endParaRPr sz="16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29077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B388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Bridson · 2007</a:t>
            </a:r>
            <a:endParaRPr sz="1050" b="0">
              <a:solidFill>
                <a:srgbClr val="B388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40480" y="265176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晶体种子分布 · 避免扎堆的自然间距</a:t>
            </a:r>
            <a:endParaRPr sz="12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595360" y="2852928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B388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v1 ❌假 Bridson  →  v3 ✅真 Bridson + 空间哈希</a:t>
            </a:r>
            <a:endParaRPr sz="1000" b="1">
              <a:solidFill>
                <a:srgbClr val="B388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666744"/>
            <a:ext cx="18288" cy="941832"/>
          </a:xfrm>
          <a:prstGeom prst="line">
            <a:avLst/>
          </a:prstGeom>
          <a:ln w="3175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363931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L-System 分支</a:t>
            </a:r>
            <a:endParaRPr sz="16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398678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7B2FF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Prusinkiewicz &amp; Lindenmayer · 1990</a:t>
            </a:r>
            <a:endParaRPr sz="1050" b="0">
              <a:solidFill>
                <a:srgbClr val="7B2FF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40480" y="3730752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三维球面坐标分支 · 自相似晶簇形态</a:t>
            </a:r>
            <a:endParaRPr sz="12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595360" y="393192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7B2FF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v1 无  →  v2 一层分支  →  v3 递归重写 + 六方晶系</a:t>
            </a:r>
            <a:endParaRPr sz="1000" b="1">
              <a:solidFill>
                <a:srgbClr val="7B2FF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745736"/>
            <a:ext cx="18288" cy="941832"/>
          </a:xfrm>
          <a:prstGeom prst="line">
            <a:avLst/>
          </a:prstGeom>
          <a:ln w="31750">
            <a:solidFill>
              <a:srgbClr val="FFC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4718304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Subsurface Scattering</a:t>
            </a:r>
            <a:endParaRPr sz="16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FC14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Jensen et al. · 2001</a:t>
            </a:r>
            <a:endParaRPr sz="1050" b="0">
              <a:solidFill>
                <a:srgbClr val="FFC14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40480" y="4809744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Arnold BSSRDF · 光从晶体内部透出</a:t>
            </a:r>
            <a:endParaRPr sz="12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595360" y="5010912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FFC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C14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v3 学术澄清 · 材质 BSSRDF ≠ 点光补光</a:t>
            </a:r>
            <a:endParaRPr sz="1000" b="1">
              <a:solidFill>
                <a:srgbClr val="FFC14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 · PIPELINE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五阶段全自动生成管线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326880" y="4572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v1→v3 进化</a:t>
            </a:r>
            <a:endParaRPr sz="10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 / 12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749808" y="1572768"/>
            <a:ext cx="237744" cy="237744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96696" y="1691640"/>
            <a:ext cx="2350008" cy="0"/>
          </a:xfrm>
          <a:prstGeom prst="line">
            <a:avLst/>
          </a:prstGeom>
          <a:ln w="15875">
            <a:solidFill>
              <a:srgbClr val="009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45720" y="1874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1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-45720" y="21122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地形生成</a:t>
            </a:r>
            <a:endParaRPr sz="13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91440" y="24048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Diamond-Square</a:t>
            </a:r>
            <a:endParaRPr sz="9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355848" y="1572768"/>
            <a:ext cx="237744" cy="237744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3602736" y="1691640"/>
            <a:ext cx="2350008" cy="0"/>
          </a:xfrm>
          <a:prstGeom prst="line">
            <a:avLst/>
          </a:prstGeom>
          <a:ln w="15875">
            <a:solidFill>
              <a:srgbClr val="009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560320" y="1874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B388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2</a:t>
            </a:r>
            <a:endParaRPr sz="1100" b="1">
              <a:solidFill>
                <a:srgbClr val="B388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60320" y="21122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种子分布</a:t>
            </a:r>
            <a:endParaRPr sz="13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14600" y="24048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Poisson-disc</a:t>
            </a:r>
            <a:endParaRPr sz="9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961888" y="1572768"/>
            <a:ext cx="237744" cy="237744"/>
          </a:xfrm>
          <a:prstGeom prst="ellipse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208776" y="1691640"/>
            <a:ext cx="2350008" cy="0"/>
          </a:xfrm>
          <a:prstGeom prst="line">
            <a:avLst/>
          </a:prstGeom>
          <a:ln w="15875">
            <a:solidFill>
              <a:srgbClr val="009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66360" y="1874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7B2FF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3</a:t>
            </a:r>
            <a:endParaRPr sz="1100" b="1">
              <a:solidFill>
                <a:srgbClr val="7B2FF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66360" y="21122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晶体生长</a:t>
            </a:r>
            <a:endParaRPr sz="13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20640" y="24048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L-system + axis-angle</a:t>
            </a:r>
            <a:endParaRPr sz="9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567928" y="1572768"/>
            <a:ext cx="237744" cy="237744"/>
          </a:xfrm>
          <a:prstGeom prst="ellipse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8814816" y="1691640"/>
            <a:ext cx="2350008" cy="0"/>
          </a:xfrm>
          <a:prstGeom prst="line">
            <a:avLst/>
          </a:prstGeom>
          <a:ln w="15875">
            <a:solidFill>
              <a:srgbClr val="009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0" y="1874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C14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4</a:t>
            </a:r>
            <a:endParaRPr sz="1100" b="1">
              <a:solidFill>
                <a:srgbClr val="FFC14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0" y="21122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灯光雾效</a:t>
            </a:r>
            <a:endParaRPr sz="13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26680" y="24048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三层布光 · 体积雾</a:t>
            </a:r>
            <a:endParaRPr sz="9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1173968" y="1572768"/>
            <a:ext cx="237744" cy="237744"/>
          </a:xfrm>
          <a:prstGeom prst="ellipse">
            <a:avLst/>
          </a:prstGeom>
          <a:solidFill>
            <a:srgbClr val="FF4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78440" y="1874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4D6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Stage 5</a:t>
            </a:r>
            <a:endParaRPr sz="1100" b="1">
              <a:solidFill>
                <a:srgbClr val="FF4D6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378440" y="21122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相机动画</a:t>
            </a:r>
            <a:endParaRPr sz="13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332720" y="24048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960 帧飞越</a:t>
            </a:r>
            <a:endParaRPr sz="9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255010" y="3273425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B2FF7"/>
                </a:solidFill>
                <a:latin typeface="微软雅黑"/>
                <a:ea typeface="微软雅黑"/>
                <a:cs typeface="微软雅黑"/>
              </a:rPr>
              <a:t>版本迭代标注</a:t>
            </a:r>
            <a:endParaRPr sz="1100" b="1">
              <a:solidFill>
                <a:srgbClr val="7B2F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255010" y="3639185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v1  7/19</a:t>
            </a:r>
            <a:endParaRPr sz="125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09489" y="3657473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仅地形 + 随机散点晶体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55010" y="4206113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B388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v2  7/20</a:t>
            </a:r>
            <a:endParaRPr sz="1250" b="1">
              <a:solidFill>
                <a:srgbClr val="B388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809489" y="4224401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六棱柱 + 一层分支 + 根部嵌入 + aimConstraint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255010" y="4773041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FFC14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v3  7/22</a:t>
            </a:r>
            <a:endParaRPr sz="1250" b="1">
              <a:solidFill>
                <a:srgbClr val="FFC14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809489" y="4791329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递归 L-system + 真 Bridson + OpenMaya2 + axis-angle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 · CODE ARCHITECTURE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代码架构  —  7 个独立模块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326880" y="4572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v1:6  v2:7  v3:10 模块</a:t>
            </a:r>
            <a:endParaRPr sz="10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 / 12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函数完整 docstring · 算法引用标注 · 单一职责 · 可独立测试 · 约 2,200 行</a:t>
            </a:r>
            <a:endParaRPr sz="12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548640" y="1783080"/>
            <a:ext cx="18288" cy="566928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190195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0F4FF"/>
                </a:solidFill>
                <a:latin typeface="Consolas"/>
                <a:ea typeface="Consolas"/>
                <a:cs typeface="Consolas"/>
              </a:rPr>
              <a:t>cave_terrain.py</a:t>
            </a:r>
            <a:endParaRPr sz="1400" b="1">
              <a:solidFill>
                <a:srgbClr val="F0F4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0" y="19202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Diamond-Square</a:t>
            </a:r>
            <a:endParaRPr sz="1200" b="1">
              <a:solidFill>
                <a:srgbClr val="00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192938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地形 · 洞穴围合 · 钟乳石/石笋</a:t>
            </a:r>
            <a:endParaRPr sz="11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423160"/>
            <a:ext cx="18288" cy="566928"/>
          </a:xfrm>
          <a:prstGeom prst="line">
            <a:avLst/>
          </a:prstGeom>
          <a:ln w="31750">
            <a:solidFill>
              <a:srgbClr val="B38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25420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0F4FF"/>
                </a:solidFill>
                <a:latin typeface="Consolas"/>
                <a:ea typeface="Consolas"/>
                <a:cs typeface="Consolas"/>
              </a:rPr>
              <a:t>crystal_seed.py</a:t>
            </a:r>
            <a:endParaRPr sz="1400" b="1">
              <a:solidFill>
                <a:srgbClr val="F0F4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14800" y="256032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B388FF"/>
                </a:solidFill>
                <a:latin typeface="微软雅黑"/>
                <a:ea typeface="微软雅黑"/>
                <a:cs typeface="微软雅黑"/>
              </a:rPr>
              <a:t>Poisson-disc</a:t>
            </a:r>
            <a:endParaRPr sz="1200" b="1">
              <a:solidFill>
                <a:srgbClr val="B38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256946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晶体种子分布 · 空间哈希</a:t>
            </a:r>
            <a:endParaRPr sz="11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063240"/>
            <a:ext cx="18288" cy="566928"/>
          </a:xfrm>
          <a:prstGeom prst="line">
            <a:avLst/>
          </a:prstGeom>
          <a:ln w="3175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318211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0F4FF"/>
                </a:solidFill>
                <a:latin typeface="Consolas"/>
                <a:ea typeface="Consolas"/>
                <a:cs typeface="Consolas"/>
              </a:rPr>
              <a:t>crystal_growth.py</a:t>
            </a:r>
            <a:endParaRPr sz="1400" b="1">
              <a:solidFill>
                <a:srgbClr val="F0F4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800" y="32004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7B2FF7"/>
                </a:solidFill>
                <a:latin typeface="微软雅黑"/>
                <a:ea typeface="微软雅黑"/>
                <a:cs typeface="微软雅黑"/>
              </a:rPr>
              <a:t>L-System</a:t>
            </a:r>
            <a:endParaRPr sz="1200" b="1">
              <a:solidFill>
                <a:srgbClr val="7B2F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0" y="320954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六边形晶体 · 尖端 · 递归分支</a:t>
            </a:r>
            <a:endParaRPr sz="11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703320"/>
            <a:ext cx="18288" cy="566928"/>
          </a:xfrm>
          <a:prstGeom prst="line">
            <a:avLst/>
          </a:prstGeom>
          <a:ln w="31750">
            <a:solidFill>
              <a:srgbClr val="FFC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382219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0F4FF"/>
                </a:solidFill>
                <a:latin typeface="Consolas"/>
                <a:ea typeface="Consolas"/>
                <a:cs typeface="Consolas"/>
              </a:rPr>
              <a:t>cave_lighting.py</a:t>
            </a:r>
            <a:endParaRPr sz="1400" b="1">
              <a:solidFill>
                <a:srgbClr val="F0F4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14800" y="3840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Subsurface</a:t>
            </a:r>
            <a:endParaRPr sz="120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83680" y="384962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3 层布光 · 体积雾 · 尘埃 · 相机</a:t>
            </a:r>
            <a:endParaRPr sz="11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48640" y="4343400"/>
            <a:ext cx="18288" cy="566928"/>
          </a:xfrm>
          <a:prstGeom prst="line">
            <a:avLst/>
          </a:prstGeom>
          <a:ln w="31750">
            <a:solidFill>
              <a:srgbClr val="4CE0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446227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0F4FF"/>
                </a:solidFill>
                <a:latin typeface="Consolas"/>
                <a:ea typeface="Consolas"/>
                <a:cs typeface="Consolas"/>
              </a:rPr>
              <a:t>crystal_ui.py</a:t>
            </a:r>
            <a:endParaRPr sz="1400" b="1">
              <a:solidFill>
                <a:srgbClr val="F0F4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14800" y="44805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4CE09B"/>
                </a:solidFill>
                <a:latin typeface="微软雅黑"/>
                <a:ea typeface="微软雅黑"/>
                <a:cs typeface="微软雅黑"/>
              </a:rPr>
              <a:t>GUI</a:t>
            </a:r>
            <a:endParaRPr sz="1200" b="1">
              <a:solidFill>
                <a:srgbClr val="4CE0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3680" y="448970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4 标签页 · 16 控件 · 一键生成</a:t>
            </a:r>
            <a:endParaRPr sz="11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983480"/>
            <a:ext cx="18288" cy="566928"/>
          </a:xfrm>
          <a:prstGeom prst="line">
            <a:avLst/>
          </a:prstGeom>
          <a:ln w="31750">
            <a:solidFill>
              <a:srgbClr val="FF4D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7240" y="510235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0F4FF"/>
                </a:solidFill>
                <a:latin typeface="Consolas"/>
                <a:ea typeface="Consolas"/>
                <a:cs typeface="Consolas"/>
              </a:rPr>
              <a:t>arnold_render.py</a:t>
            </a:r>
            <a:endParaRPr sz="1400" b="1">
              <a:solidFill>
                <a:srgbClr val="F0F4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14800" y="51206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4D6B"/>
                </a:solidFill>
                <a:latin typeface="微软雅黑"/>
                <a:ea typeface="微软雅黑"/>
                <a:cs typeface="微软雅黑"/>
              </a:rPr>
              <a:t>Arnold</a:t>
            </a:r>
            <a:endParaRPr sz="1200" b="1">
              <a:solidFill>
                <a:srgbClr val="FF4D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83680" y="512978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AA/采样/AOV/渲染相机</a:t>
            </a:r>
            <a:endParaRPr sz="11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548640" y="5623560"/>
            <a:ext cx="18288" cy="566928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" y="57424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0F4FF"/>
                </a:solidFill>
                <a:latin typeface="Consolas"/>
                <a:ea typeface="Consolas"/>
                <a:cs typeface="Consolas"/>
              </a:rPr>
              <a:t>batch_render.py</a:t>
            </a:r>
            <a:endParaRPr sz="1400" b="1">
              <a:solidFill>
                <a:srgbClr val="F0F4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14800" y="576072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批量</a:t>
            </a:r>
            <a:endParaRPr sz="1200" b="1">
              <a:solidFill>
                <a:srgbClr val="00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0" y="576986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多 seed → 多 .ma 场景</a:t>
            </a:r>
            <a:endParaRPr sz="115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640" y="619963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00D4FF"/>
                </a:solidFill>
                <a:latin typeface="Consolas"/>
                <a:ea typeface="Consolas"/>
                <a:cs typeface="Consolas"/>
              </a:rPr>
              <a:t>集成入口：final_scene.py  →  build(seed, density, fog_density, render)</a:t>
            </a:r>
            <a:endParaRPr sz="1250" b="1">
              <a:solidFill>
                <a:srgbClr val="00D4FF"/>
              </a:solidFill>
              <a:latin typeface="Consolas"/>
              <a:ea typeface="Consolas"/>
              <a:cs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 · CRYSTAL GEOMETRY  ·  CORE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晶体几何进化  —  从「钉子」到「水晶」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326880" y="4572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三次代际跳跃</a:t>
            </a:r>
            <a:endParaRPr sz="10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 / 12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v1  7/19</a:t>
            </a:r>
            <a:endParaRPr sz="10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圆柱堆叠</a:t>
            </a:r>
            <a:endParaRPr sz="1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Can 9"/>
          <p:cNvSpPr/>
          <p:nvPr/>
        </p:nvSpPr>
        <p:spPr>
          <a:xfrm>
            <a:off x="1691640" y="2697480"/>
            <a:ext cx="1280160" cy="2011680"/>
          </a:xfrm>
          <a:prstGeom prst="can">
            <a:avLst/>
          </a:prstGeom>
          <a:solidFill>
            <a:srgbClr val="0A0E1A"/>
          </a:solidFill>
          <a:ln w="2857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像钉子 · 无分支</a:t>
            </a:r>
            <a:endParaRPr sz="1200" b="0">
              <a:solidFill>
                <a:srgbClr val="00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80560" y="15544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B388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v2  7/20</a:t>
            </a:r>
            <a:endParaRPr sz="1000" b="1">
              <a:solidFill>
                <a:srgbClr val="B388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六棱柱 + 一层分支</a:t>
            </a:r>
            <a:endParaRPr sz="1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Hexagon 13"/>
          <p:cNvSpPr/>
          <p:nvPr/>
        </p:nvSpPr>
        <p:spPr>
          <a:xfrm>
            <a:off x="5257800" y="2697480"/>
            <a:ext cx="1828800" cy="2011680"/>
          </a:xfrm>
          <a:prstGeom prst="hexagon">
            <a:avLst/>
          </a:prstGeom>
          <a:solidFill>
            <a:srgbClr val="0A0E1A"/>
          </a:solidFill>
          <a:ln w="28575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49834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B388FF"/>
                </a:solidFill>
                <a:latin typeface="微软雅黑"/>
                <a:ea typeface="微软雅黑"/>
                <a:cs typeface="微软雅黑"/>
              </a:rPr>
              <a:t>根部嵌入 · aimConstraint</a:t>
            </a:r>
            <a:endParaRPr sz="1200" b="0">
              <a:solidFill>
                <a:srgbClr val="B38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321040" y="15544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FFC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C14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v3  7/22</a:t>
            </a:r>
            <a:endParaRPr sz="1000" b="1">
              <a:solidFill>
                <a:srgbClr val="FFC14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递归 L-system</a:t>
            </a:r>
            <a:endParaRPr sz="1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17600" y="2688337"/>
            <a:ext cx="3590160" cy="2029965"/>
          </a:xfrm>
          <a:prstGeom prst="rect">
            <a:avLst/>
          </a:prstGeom>
          <a:solidFill>
            <a:srgbClr val="0A0E1A"/>
          </a:solidFill>
          <a:ln w="9525">
            <a:solidFill>
              <a:srgbClr val="FFC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10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00337"/>
            <a:ext cx="3566160" cy="200596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0" y="49834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二级三级分支 · 晶面方位角</a:t>
            </a:r>
            <a:endParaRPr sz="1200" b="0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48640" y="5806440"/>
            <a:ext cx="11091672" cy="0"/>
          </a:xfrm>
          <a:prstGeom prst="line">
            <a:avLst/>
          </a:prstGeom>
          <a:ln w="9525">
            <a:solidFill>
              <a:srgbClr val="009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关键创新：递归 L-system × 六方晶系 60° 方位角偏置 × axis-angle 最短旋转（无 aimConstraint · 无 gimbal lock）</a:t>
            </a:r>
            <a:endParaRPr sz="130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 · MATERIAL &amp; LIGHTING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材质与灯光  —  SSS 学术严谨性澄清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326880" y="4572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v3 学术澄清</a:t>
            </a:r>
            <a:endParaRPr sz="10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 / 12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6640" y="1462470"/>
            <a:ext cx="5510400" cy="3110100"/>
          </a:xfrm>
          <a:prstGeom prst="rect">
            <a:avLst/>
          </a:prstGeom>
          <a:solidFill>
            <a:srgbClr val="0A0E1A"/>
          </a:solidFill>
          <a:ln w="9525">
            <a:solidFill>
              <a:srgbClr val="FFC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nold_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74470"/>
            <a:ext cx="5486400" cy="3086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10 种宝石  ·  aiStandardSurface</a:t>
            </a:r>
            <a:endParaRPr sz="120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822960" cy="868680"/>
          </a:xfrm>
          <a:prstGeom prst="roundRect">
            <a:avLst>
              <a:gd name="adj" fmla="val 18000"/>
            </a:avLst>
          </a:prstGeom>
          <a:solidFill>
            <a:srgbClr val="7B2FF7"/>
          </a:solidFill>
          <a:ln w="635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5504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紫水晶</a:t>
            </a:r>
            <a:endParaRPr sz="9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426464" y="4983480"/>
            <a:ext cx="822960" cy="868680"/>
          </a:xfrm>
          <a:prstGeom prst="roundRect">
            <a:avLst>
              <a:gd name="adj" fmla="val 18000"/>
            </a:avLst>
          </a:prstGeom>
          <a:solidFill>
            <a:srgbClr val="FF4D6B"/>
          </a:solidFill>
          <a:ln w="635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6464" y="55504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红宝石</a:t>
            </a:r>
            <a:endParaRPr sz="9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304288" y="4983480"/>
            <a:ext cx="822960" cy="868680"/>
          </a:xfrm>
          <a:prstGeom prst="roundRect">
            <a:avLst>
              <a:gd name="adj" fmla="val 18000"/>
            </a:avLst>
          </a:prstGeom>
          <a:solidFill>
            <a:srgbClr val="FFC14D"/>
          </a:solidFill>
          <a:ln w="635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04288" y="55504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黄水晶</a:t>
            </a:r>
            <a:endParaRPr sz="9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82112" y="4983480"/>
            <a:ext cx="822960" cy="868680"/>
          </a:xfrm>
          <a:prstGeom prst="roundRect">
            <a:avLst>
              <a:gd name="adj" fmla="val 18000"/>
            </a:avLst>
          </a:prstGeom>
          <a:solidFill>
            <a:srgbClr val="00D4FF"/>
          </a:solidFill>
          <a:ln w="635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82112" y="55504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海蓝宝</a:t>
            </a:r>
            <a:endParaRPr sz="9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059936" y="4983480"/>
            <a:ext cx="822960" cy="868680"/>
          </a:xfrm>
          <a:prstGeom prst="roundRect">
            <a:avLst>
              <a:gd name="adj" fmla="val 18000"/>
            </a:avLst>
          </a:prstGeom>
          <a:solidFill>
            <a:srgbClr val="4CE09B"/>
          </a:solidFill>
          <a:ln w="635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9936" y="55504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萤石</a:t>
            </a:r>
            <a:endParaRPr sz="9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937760" y="4983480"/>
            <a:ext cx="822960" cy="868680"/>
          </a:xfrm>
          <a:prstGeom prst="roundRect">
            <a:avLst>
              <a:gd name="adj" fmla="val 18000"/>
            </a:avLst>
          </a:prstGeom>
          <a:solidFill>
            <a:srgbClr val="8A99B8"/>
          </a:solidFill>
          <a:ln w="635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55504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黑曜石</a:t>
            </a:r>
            <a:endParaRPr sz="95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14630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SSS 到底谁负责？  ·  材质端 ≠ 灯光端</a:t>
            </a:r>
            <a:endParaRPr sz="1400" b="1">
              <a:solidFill>
                <a:srgbClr val="00D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6400800" y="1965960"/>
            <a:ext cx="18288" cy="2057400"/>
          </a:xfrm>
          <a:prstGeom prst="line">
            <a:avLst/>
          </a:prstGeom>
          <a:ln w="3175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29400" y="19659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7B2FF7"/>
                </a:solidFill>
                <a:latin typeface="微软雅黑"/>
                <a:ea typeface="微软雅黑"/>
                <a:cs typeface="微软雅黑"/>
              </a:rPr>
              <a:t>材质端  ·  Arnold BSSRDF (Jensen 2001)</a:t>
            </a:r>
            <a:endParaRPr sz="1300" b="1">
              <a:solidFill>
                <a:srgbClr val="7B2F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75120" y="237744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✓ 真正的次表面散射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75120" y="268833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✓ subsurface / Color / Radius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75120" y="299923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✓ Coat 薄膜 + Transmission 半透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75120" y="331012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✓ 光从晶体内部透出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6400800" y="4160520"/>
            <a:ext cx="18288" cy="1965960"/>
          </a:xfrm>
          <a:prstGeom prst="line">
            <a:avLst/>
          </a:prstGeom>
          <a:ln w="31750">
            <a:solidFill>
              <a:srgbClr val="FFC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29400" y="4160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灯光端  ·  20 盏 accent 点光源</a:t>
            </a:r>
            <a:endParaRPr sz="130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75120" y="45720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▸ 外光补光 · 非次表面散射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75120" y="488289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▸ intensity 800–1600 · decayRate 0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75120" y="51937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▸ 颜色匹配宝石辉光色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75120" y="550468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▸ 放置在最高晶体锚点</a:t>
            </a:r>
            <a:endParaRPr sz="11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00800" y="612648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CE09B"/>
                </a:solidFill>
                <a:latin typeface="微软雅黑"/>
                <a:ea typeface="微软雅黑"/>
                <a:cs typeface="微软雅黑"/>
              </a:rPr>
              <a:t>两者分开、各司其职 — 论文引用与代码实现对得上</a:t>
            </a:r>
            <a:endParaRPr sz="1100" b="1">
              <a:solidFill>
                <a:srgbClr val="4CE09B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9" name="图片 38" descr="a6a3556f6a16cb62ef7a7b628e70c3dc~tplv-a9rns2rl98-pc_smart_face_crop-v1_512_3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55" y="2152650"/>
            <a:ext cx="3203575" cy="2402840"/>
          </a:xfrm>
          <a:prstGeom prst="rect">
            <a:avLst/>
          </a:prstGeom>
        </p:spPr>
      </p:pic>
      <p:pic>
        <p:nvPicPr>
          <p:cNvPr id="40" name="图片 39" descr="3b80ff12a708b83f91132dc8a65a690e~tplv-a9rns2rl98-pc_smart_face_crop-v1_512_3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190" y="1474470"/>
            <a:ext cx="3117850" cy="2338705"/>
          </a:xfrm>
          <a:prstGeom prst="rect">
            <a:avLst/>
          </a:prstGeom>
        </p:spPr>
      </p:pic>
      <p:sp>
        <p:nvSpPr>
          <p:cNvPr id="42" name="矩形 41"/>
          <p:cNvSpPr/>
          <p:nvPr/>
        </p:nvSpPr>
        <p:spPr>
          <a:xfrm>
            <a:off x="3610610" y="4092575"/>
            <a:ext cx="2580640" cy="4737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期望达到的理想态</a:t>
            </a:r>
            <a:endParaRPr lang="zh-CN" altLang="en-US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 · INTERACTIVE GUI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交互 GUI  —  Maya 内嵌可视化窗口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326880" y="4572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v2→v3 品牌化</a:t>
            </a:r>
            <a:endParaRPr sz="10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 / 12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6640" y="1833945"/>
            <a:ext cx="6790560" cy="3830190"/>
          </a:xfrm>
          <a:prstGeom prst="rect">
            <a:avLst/>
          </a:prstGeom>
          <a:solidFill>
            <a:srgbClr val="0A0E1A"/>
          </a:solidFill>
          <a:ln w="9525">
            <a:solidFill>
              <a:srgbClr val="4CE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◆ Crystal Cavern v10  ·  Maya 标准 tabLayout 布局层级</a:t>
            </a:r>
            <a:endParaRPr sz="11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89520" y="15544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4 标签页</a:t>
            </a:r>
            <a:endParaRPr sz="1400" b="1">
              <a:solidFill>
                <a:srgbClr val="00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89520" y="184708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Terrain · Crystals · Lighting · Render</a:t>
            </a:r>
            <a:endParaRPr sz="11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89520" y="230428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B388FF"/>
                </a:solidFill>
                <a:latin typeface="微软雅黑"/>
                <a:ea typeface="微软雅黑"/>
                <a:cs typeface="微软雅黑"/>
              </a:rPr>
              <a:t>16 控件</a:t>
            </a:r>
            <a:endParaRPr sz="1400" b="1">
              <a:solidFill>
                <a:srgbClr val="B38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0" y="2596896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全部 min/max 安全范围 + 默认值</a:t>
            </a:r>
            <a:endParaRPr sz="11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89520" y="305409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7B2FF7"/>
                </a:solidFill>
                <a:latin typeface="微软雅黑"/>
                <a:ea typeface="微软雅黑"/>
                <a:cs typeface="微软雅黑"/>
              </a:rPr>
              <a:t>Generate</a:t>
            </a:r>
            <a:endParaRPr sz="1400" b="1">
              <a:solidFill>
                <a:srgbClr val="7B2F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89520" y="3346704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读取控件值 → final_scene.build()</a:t>
            </a:r>
            <a:endParaRPr sz="11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89520" y="380390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progressWindow</a:t>
            </a:r>
            <a:endParaRPr sz="140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89520" y="409651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8 阶段进度条 · 防卡死提示</a:t>
            </a:r>
            <a:endParaRPr sz="11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89520" y="455371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4D6B"/>
                </a:solidFill>
                <a:latin typeface="微软雅黑"/>
                <a:ea typeface="微软雅黑"/>
                <a:cs typeface="微软雅黑"/>
              </a:rPr>
              <a:t>Render Still</a:t>
            </a:r>
            <a:endParaRPr sz="1400" b="1">
              <a:solidFill>
                <a:srgbClr val="FF4D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89520" y="48463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触发 Arnold EXR 渲染</a:t>
            </a:r>
            <a:endParaRPr sz="11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89520" y="548640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CE09B"/>
                </a:solidFill>
                <a:latin typeface="微软雅黑"/>
                <a:ea typeface="微软雅黑"/>
                <a:cs typeface="微软雅黑"/>
              </a:rPr>
              <a:t>v2→v3 新增：Logo 品牌标识 + 8 阶段 progressWindow 进度条</a:t>
            </a:r>
            <a:endParaRPr sz="1100" b="0">
              <a:solidFill>
                <a:srgbClr val="4CE09B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3" name="图片 22" descr="gui_v3_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2595" y="1847215"/>
            <a:ext cx="2413635" cy="3730625"/>
          </a:xfrm>
          <a:prstGeom prst="rect">
            <a:avLst/>
          </a:prstGeom>
        </p:spPr>
      </p:pic>
      <p:pic>
        <p:nvPicPr>
          <p:cNvPr id="24" name="图片 23" descr="gui_v3_terra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480" y="1852295"/>
            <a:ext cx="2409825" cy="37255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 · FINAL RENDERS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最终渲染成果  —  两套参数对比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326880" y="4572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v3 递归 L-system + 真 Bridson</a:t>
            </a:r>
            <a:endParaRPr sz="10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 / 12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6640" y="1965390"/>
            <a:ext cx="5510400" cy="3110100"/>
          </a:xfrm>
          <a:prstGeom prst="rect">
            <a:avLst/>
          </a:prstGeom>
          <a:solidFill>
            <a:srgbClr val="0A0E1A"/>
          </a:solidFill>
          <a:ln w="952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77390"/>
            <a:ext cx="5486400" cy="30861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60200" y="1965390"/>
            <a:ext cx="5510400" cy="3110100"/>
          </a:xfrm>
          <a:prstGeom prst="rect">
            <a:avLst/>
          </a:prstGeom>
          <a:solidFill>
            <a:srgbClr val="0A0E1A"/>
          </a:solidFill>
          <a:ln w="9525">
            <a:solidFill>
              <a:srgbClr val="FF4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77390"/>
            <a:ext cx="5486400" cy="3086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65099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7B2FF7"/>
                </a:solidFill>
                <a:latin typeface="微软雅黑"/>
                <a:ea typeface="微软雅黑"/>
                <a:cs typeface="微软雅黑"/>
              </a:rPr>
              <a:t>紫水晶洞穴  ·  seed=2026  ·  56 crystals</a:t>
            </a:r>
            <a:endParaRPr sz="1300" b="1">
              <a:solidFill>
                <a:srgbClr val="7B2F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72200" y="565099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4D6B"/>
                </a:solidFill>
                <a:latin typeface="微软雅黑"/>
                <a:ea typeface="微软雅黑"/>
                <a:cs typeface="微软雅黑"/>
              </a:rPr>
              <a:t>红宝石洞穴  ·  seed=7777  ·  56 crystals</a:t>
            </a:r>
            <a:endParaRPr sz="1300" b="1">
              <a:solidFill>
                <a:srgbClr val="FF4D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1920×1080 Arnold EXR  ·  AA=5 / transmission=5 / SSS=3  ·  同参数不同 seed → 完全不同的洞穴</a:t>
            </a:r>
            <a:endParaRPr sz="11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 · ANIMATION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动画成果  —  960 帧飞越 + 56 颗生长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326880" y="4572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v2→v3 动态相机</a:t>
            </a:r>
            <a:endParaRPr sz="10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 / 12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6640" y="1497046"/>
            <a:ext cx="2721480" cy="1541332"/>
          </a:xfrm>
          <a:prstGeom prst="rect">
            <a:avLst/>
          </a:prstGeom>
          <a:solidFill>
            <a:srgbClr val="0A0E1A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y_frame_000_entra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9046"/>
            <a:ext cx="2697480" cy="15173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081528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frame 000  ·  入口俯瞰</a:t>
            </a:r>
            <a:endParaRPr sz="105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343848" y="1497046"/>
            <a:ext cx="2721480" cy="1541332"/>
          </a:xfrm>
          <a:prstGeom prst="rect">
            <a:avLst/>
          </a:prstGeom>
          <a:solidFill>
            <a:srgbClr val="0A0E1A"/>
          </a:solidFill>
          <a:ln w="9525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ly_frame_360_close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509046"/>
            <a:ext cx="2697480" cy="15173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55848" y="3081528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B388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frame 360  ·  紧贴晶体群</a:t>
            </a:r>
            <a:endParaRPr sz="1050" b="1">
              <a:solidFill>
                <a:srgbClr val="B388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51056" y="1497046"/>
            <a:ext cx="2721480" cy="1541332"/>
          </a:xfrm>
          <a:prstGeom prst="rect">
            <a:avLst/>
          </a:prstGeom>
          <a:solidFill>
            <a:srgbClr val="0A0E1A"/>
          </a:solidFill>
          <a:ln w="952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ly_frame_600_d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509046"/>
            <a:ext cx="2697480" cy="15173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63056" y="3081528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7B2FF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frame 600  ·  深处转弯</a:t>
            </a:r>
            <a:endParaRPr sz="1050" b="1">
              <a:solidFill>
                <a:srgbClr val="7B2FF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58264" y="1497046"/>
            <a:ext cx="2721480" cy="1541332"/>
          </a:xfrm>
          <a:prstGeom prst="rect">
            <a:avLst/>
          </a:prstGeom>
          <a:solidFill>
            <a:srgbClr val="0A0E1A"/>
          </a:solidFill>
          <a:ln w="9525">
            <a:solidFill>
              <a:srgbClr val="FFC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ly_frame_840_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264" y="1509046"/>
            <a:ext cx="2697480" cy="15173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70264" y="3081528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FFC14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frame 840  ·  全景收尾</a:t>
            </a:r>
            <a:endParaRPr sz="1050" b="1">
              <a:solidFill>
                <a:srgbClr val="FFC14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548640" y="3794760"/>
            <a:ext cx="11091672" cy="0"/>
          </a:xfrm>
          <a:prstGeom prst="line">
            <a:avLst/>
          </a:prstGeom>
          <a:ln w="9525">
            <a:solidFill>
              <a:srgbClr val="009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40233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960</a:t>
            </a:r>
            <a:endParaRPr sz="40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461772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帧飞越动画  ·  32 秒 30fps  ·  动态相机路径根据晶体位置自适应</a:t>
            </a:r>
            <a:endParaRPr sz="120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入口俯冲 → 紧贴晶体群掠过 → 深处转弯 → 全景上升  ·  DOF f/3.2 · 35mm</a:t>
            </a:r>
            <a:endParaRPr sz="11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09360" y="40233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7B2FF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56</a:t>
            </a:r>
            <a:endParaRPr sz="4000" b="1">
              <a:solidFill>
                <a:srgbClr val="7B2FF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09360" y="461772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颗晶体生长动画  ·  Scale 0→1  ·  错开启动帧  ·  720 帧周期</a:t>
            </a:r>
            <a:endParaRPr sz="120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09360" y="521208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168 条 animCurveTU 缩放曲线驱动  ·  .ma 场景中 Maya 按 ▶ 可播放</a:t>
            </a:r>
            <a:endParaRPr sz="11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 · AI USAGE &amp; ASSESSMENT</a:t>
            </a:r>
            <a:endParaRPr sz="11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AI 工具  ·  评估对照  ·  Thank You</a:t>
            </a:r>
            <a:endParaRPr sz="2700" b="1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217627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 / 12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9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 Cavern  ·  ZJU 2026  ·  Prof. Xiaosong Yang</a:t>
            </a:r>
            <a:endParaRPr sz="900" b="0">
              <a:solidFill>
                <a:srgbClr val="8A99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7B2FF7"/>
                </a:solidFill>
                <a:latin typeface="微软雅黑"/>
                <a:ea typeface="微软雅黑"/>
                <a:cs typeface="微软雅黑"/>
              </a:rPr>
              <a:t>AI 工具使用记录  ·  含贡献范围</a:t>
            </a:r>
            <a:endParaRPr sz="1400" b="1">
              <a:solidFill>
                <a:srgbClr val="7B2FF7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48640" y="1874519"/>
            <a:ext cx="18288" cy="566928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192023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微软雅黑"/>
                <a:ea typeface="微软雅黑"/>
                <a:cs typeface="微软雅黑"/>
              </a:rPr>
              <a:t>Claude Code</a:t>
            </a:r>
            <a:endParaRPr sz="1300" b="1">
              <a:solidFill>
                <a:srgbClr val="00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194559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算法设计 · 代码生成 · 全模块重构 · 场景搭建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441447"/>
            <a:ext cx="18288" cy="566928"/>
          </a:xfrm>
          <a:prstGeom prst="line">
            <a:avLst/>
          </a:prstGeom>
          <a:ln w="31750">
            <a:solidFill>
              <a:srgbClr val="B38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487167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B388FF"/>
                </a:solidFill>
                <a:latin typeface="微软雅黑"/>
                <a:ea typeface="微软雅黑"/>
                <a:cs typeface="微软雅黑"/>
              </a:rPr>
              <a:t>Claude MCP</a:t>
            </a:r>
            <a:endParaRPr sz="1300" b="1">
              <a:solidFill>
                <a:srgbClr val="B38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761487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Maya 直接操控 · 28 技能 · 调试诊断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008375"/>
            <a:ext cx="18288" cy="566928"/>
          </a:xfrm>
          <a:prstGeom prst="line">
            <a:avLst/>
          </a:prstGeom>
          <a:ln w="31750">
            <a:solidFill>
              <a:srgbClr val="FFC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3054095"/>
            <a:ext cx="18288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GLM-5.2</a:t>
            </a:r>
            <a:endParaRPr lang="en-US" sz="130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3328415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递归 L-system · Bridson 实现 · OpenMaya2 优化 · PPT v3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575303"/>
            <a:ext cx="18288" cy="566928"/>
          </a:xfrm>
          <a:prstGeom prst="line">
            <a:avLst/>
          </a:prstGeom>
          <a:ln w="31750">
            <a:solidFill>
              <a:srgbClr val="4CE0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3621023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4CE09B"/>
                </a:solidFill>
                <a:latin typeface="微软雅黑"/>
                <a:ea typeface="微软雅黑"/>
                <a:cs typeface="微软雅黑"/>
              </a:rPr>
              <a:t>ChatGPT</a:t>
            </a:r>
            <a:endParaRPr sz="1300" b="1">
              <a:solidFill>
                <a:srgbClr val="4CE0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3895343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算法选型 · 论文引用核实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99B8"/>
                </a:solidFill>
                <a:latin typeface="微软雅黑"/>
                <a:ea typeface="微软雅黑"/>
                <a:cs typeface="微软雅黑"/>
              </a:rPr>
              <a:t>声明：AI 是实现工具而非创作主体 — 设计决策由作者做出，代码经 Maya 实机验证</a:t>
            </a:r>
            <a:endParaRPr sz="1000" b="0">
              <a:solidFill>
                <a:srgbClr val="8A99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14173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CE09B"/>
                </a:solidFill>
                <a:latin typeface="微软雅黑"/>
                <a:ea typeface="微软雅黑"/>
                <a:cs typeface="微软雅黑"/>
              </a:rPr>
              <a:t>评估标准对照</a:t>
            </a:r>
            <a:endParaRPr sz="1400" b="1">
              <a:solidFill>
                <a:srgbClr val="4CE09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0" y="187451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流程控制与函数</a:t>
            </a:r>
            <a:endParaRPr sz="115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23960" y="1874519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7 模块 · 30+ 函数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2295143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数据结构</a:t>
            </a:r>
            <a:endParaRPr sz="115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23960" y="2295143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2D 高度图 · 种子字典 · 光锚点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0" y="2715767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GUI</a:t>
            </a:r>
            <a:endParaRPr sz="115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23960" y="2715767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4 标签页 · 16 控件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0" y="3136391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算法复杂度</a:t>
            </a:r>
            <a:endParaRPr sz="115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23960" y="3136391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4 个已发表算法 · 标注引用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0" y="3557015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视觉冲击</a:t>
            </a:r>
            <a:endParaRPr sz="115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23960" y="3557015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六边形 · 10 宝石 · 体积雾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00800" y="397763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C14D"/>
                </a:solidFill>
                <a:latin typeface="微软雅黑"/>
                <a:ea typeface="微软雅黑"/>
                <a:cs typeface="微软雅黑"/>
              </a:rPr>
              <a:t>Python 驱动 Maya</a:t>
            </a:r>
            <a:endParaRPr sz="1150" b="1">
              <a:solidFill>
                <a:srgbClr val="FFC1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23960" y="3977639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一键生成 + 动画 · 零手动</a:t>
            </a:r>
            <a:endParaRPr sz="105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3813048" y="3383280"/>
            <a:ext cx="4572000" cy="4572000"/>
          </a:xfrm>
          <a:prstGeom prst="ellipse">
            <a:avLst/>
          </a:prstGeom>
          <a:solidFill>
            <a:srgbClr val="00D4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0" y="525780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>
                <a:solidFill>
                  <a:srgbClr val="00D4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Thank You</a:t>
            </a:r>
            <a:endParaRPr sz="4400" b="1">
              <a:solidFill>
                <a:srgbClr val="00D4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0" y="603504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F0F4FF"/>
                </a:solidFill>
                <a:latin typeface="微软雅黑"/>
                <a:ea typeface="微软雅黑"/>
                <a:cs typeface="微软雅黑"/>
              </a:rPr>
              <a:t>Crystal Cavern  ·  未来创新设计  ·  浙江大学 2026  ·  Q&amp;A</a:t>
            </a:r>
            <a:endParaRPr sz="1300" b="0">
              <a:solidFill>
                <a:srgbClr val="F0F4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4164</Words>
  <Application>WPS 文字</Application>
  <PresentationFormat>On-screen Show (4:3)</PresentationFormat>
  <Paragraphs>445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2" baseType="lpstr">
      <vt:lpstr>Arial</vt:lpstr>
      <vt:lpstr>宋体</vt:lpstr>
      <vt:lpstr>Wingdings</vt:lpstr>
      <vt:lpstr>Arial</vt:lpstr>
      <vt:lpstr>微软雅黑</vt:lpstr>
      <vt:lpstr>汉仪旗黑</vt:lpstr>
      <vt:lpstr>Consolas</vt:lpstr>
      <vt:lpstr>Calibri</vt:lpstr>
      <vt:lpstr>Helvetica Neue</vt:lpstr>
      <vt:lpstr>微软雅黑</vt:lpstr>
      <vt:lpstr>宋体</vt:lpstr>
      <vt:lpstr>Arial Unicode MS</vt:lpstr>
      <vt:lpstr>汉仪书宋二KW</vt:lpstr>
      <vt:lpstr>Thonburi</vt:lpstr>
      <vt:lpstr>Consolas</vt:lpstr>
      <vt:lpstr>微软雅黑</vt:lpstr>
      <vt:lpstr>苹方-简</vt:lpstr>
      <vt:lpstr>Apple Color Emoji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贺想容</cp:lastModifiedBy>
  <cp:revision>2</cp:revision>
  <dcterms:created xsi:type="dcterms:W3CDTF">2026-07-22T11:06:14Z</dcterms:created>
  <dcterms:modified xsi:type="dcterms:W3CDTF">2026-07-22T11:06:14Z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DE0CC315FF3388F626A4606A757C7427_42</vt:lpwstr>
  </property>
</Properties>
</file>